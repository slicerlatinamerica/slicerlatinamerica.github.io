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1122480"/>
            <a:ext cx="7771320" cy="238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5400" b="1" u="none" strike="noStrike">
                <a:solidFill>
                  <a:srgbClr val="0070c0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Picture 6"/>
          <p:cNvPicPr/>
          <p:nvPr/>
        </p:nvPicPr>
        <p:blipFill>
          <a:blip r:embed="rId2"/>
          <a:srcRect l="0" t="0" r="-244" b="27027"/>
          <a:stretch/>
        </p:blipFill>
        <p:spPr>
          <a:xfrm>
            <a:off x="1080720" y="3602160"/>
            <a:ext cx="1268280" cy="9230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" name="Straight Connector 7"/>
          <p:cNvCxnSpPr/>
          <p:nvPr/>
        </p:nvCxnSpPr>
        <p:spPr>
          <a:xfrm>
            <a:off x="2162880" y="3716280"/>
            <a:ext cx="4091400" cy="1080"/>
          </a:xfrm>
          <a:prstGeom prst="straightConnector1">
            <a:avLst/>
          </a:prstGeom>
          <a:ln w="15875">
            <a:solidFill>
              <a:srgbClr val="0070c0"/>
            </a:solidFill>
            <a:round/>
          </a:ln>
        </p:spPr>
      </p:cxn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5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5800" cy="63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70c0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28560" y="1181160"/>
            <a:ext cx="7885800" cy="499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sldNum" idx="1"/>
          </p:nvPr>
        </p:nvSpPr>
        <p:spPr>
          <a:xfrm>
            <a:off x="6458040" y="6356520"/>
            <a:ext cx="20563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97BC1E9-FFC7-4739-A859-CB8D1666576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" name="Picture 6"/>
          <p:cNvPicPr/>
          <p:nvPr/>
        </p:nvPicPr>
        <p:blipFill>
          <a:blip r:embed="rId2"/>
          <a:srcRect l="0" t="0" r="-244" b="27027"/>
          <a:stretch/>
        </p:blipFill>
        <p:spPr>
          <a:xfrm>
            <a:off x="667800" y="6314760"/>
            <a:ext cx="694080" cy="5050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0" name="Straight Connector 7"/>
          <p:cNvCxnSpPr/>
          <p:nvPr/>
        </p:nvCxnSpPr>
        <p:spPr>
          <a:xfrm>
            <a:off x="1278000" y="6334200"/>
            <a:ext cx="4091400" cy="1080"/>
          </a:xfrm>
          <a:prstGeom prst="straightConnector1">
            <a:avLst/>
          </a:prstGeom>
          <a:ln w="15875">
            <a:solidFill>
              <a:srgbClr val="0070c0"/>
            </a:solidFill>
            <a:round/>
          </a:ln>
        </p:spPr>
      </p:cxnSp>
      <p:sp>
        <p:nvSpPr>
          <p:cNvPr id="11" name="TextBox 3"/>
          <p:cNvSpPr/>
          <p:nvPr/>
        </p:nvSpPr>
        <p:spPr>
          <a:xfrm>
            <a:off x="1333440" y="6381720"/>
            <a:ext cx="187956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SlicerIGT Tutorial Series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5800" cy="63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70c0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ldNum" idx="2"/>
          </p:nvPr>
        </p:nvSpPr>
        <p:spPr>
          <a:xfrm>
            <a:off x="6458040" y="6356520"/>
            <a:ext cx="20563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C4136B5-B99D-4FC7-8BBF-FE72A96B133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" name="Picture 5"/>
          <p:cNvPicPr/>
          <p:nvPr/>
        </p:nvPicPr>
        <p:blipFill>
          <a:blip r:embed="rId2"/>
          <a:srcRect l="0" t="0" r="-244" b="27027"/>
          <a:stretch/>
        </p:blipFill>
        <p:spPr>
          <a:xfrm>
            <a:off x="667800" y="6314760"/>
            <a:ext cx="694080" cy="5050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5" name="Straight Connector 6"/>
          <p:cNvCxnSpPr/>
          <p:nvPr/>
        </p:nvCxnSpPr>
        <p:spPr>
          <a:xfrm>
            <a:off x="1278000" y="6334200"/>
            <a:ext cx="4091400" cy="1080"/>
          </a:xfrm>
          <a:prstGeom prst="straightConnector1">
            <a:avLst/>
          </a:prstGeom>
          <a:ln w="15875">
            <a:solidFill>
              <a:srgbClr val="0070c0"/>
            </a:solidFill>
            <a:round/>
          </a:ln>
        </p:spPr>
      </p:cxnSp>
      <p:sp>
        <p:nvSpPr>
          <p:cNvPr id="16" name="TextBox 7"/>
          <p:cNvSpPr/>
          <p:nvPr/>
        </p:nvSpPr>
        <p:spPr>
          <a:xfrm>
            <a:off x="1333440" y="6381720"/>
            <a:ext cx="187956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SlicerIGT Tutorial Series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5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ldNum" idx="3"/>
          </p:nvPr>
        </p:nvSpPr>
        <p:spPr>
          <a:xfrm>
            <a:off x="6458040" y="6356520"/>
            <a:ext cx="20563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3C6C790-DE44-4033-AA89-193673074E9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9" name="Picture 4"/>
          <p:cNvPicPr/>
          <p:nvPr/>
        </p:nvPicPr>
        <p:blipFill>
          <a:blip r:embed="rId2"/>
          <a:srcRect l="0" t="0" r="-244" b="27027"/>
          <a:stretch/>
        </p:blipFill>
        <p:spPr>
          <a:xfrm>
            <a:off x="667800" y="6314760"/>
            <a:ext cx="694080" cy="5050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0" name="Straight Connector 5"/>
          <p:cNvCxnSpPr/>
          <p:nvPr/>
        </p:nvCxnSpPr>
        <p:spPr>
          <a:xfrm>
            <a:off x="1278000" y="6334200"/>
            <a:ext cx="4091400" cy="1080"/>
          </a:xfrm>
          <a:prstGeom prst="straightConnector1">
            <a:avLst/>
          </a:prstGeom>
          <a:ln w="15875">
            <a:solidFill>
              <a:srgbClr val="0070c0"/>
            </a:solidFill>
            <a:round/>
          </a:ln>
        </p:spPr>
      </p:cxnSp>
      <p:sp>
        <p:nvSpPr>
          <p:cNvPr id="21" name="TextBox 6"/>
          <p:cNvSpPr/>
          <p:nvPr/>
        </p:nvSpPr>
        <p:spPr>
          <a:xfrm>
            <a:off x="1333440" y="6381720"/>
            <a:ext cx="187956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SlicerIGT Tutorial Series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85800" y="1122480"/>
            <a:ext cx="7771320" cy="238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5400" b="1" u="none" strike="noStrike">
                <a:solidFill>
                  <a:srgbClr val="0070c0"/>
                </a:solidFill>
                <a:effectLst/>
                <a:uFillTx/>
                <a:latin typeface="Calibri Light"/>
              </a:rPr>
              <a:t>Registro de superfície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subTitle"/>
          </p:nvPr>
        </p:nvSpPr>
        <p:spPr>
          <a:xfrm>
            <a:off x="2350080" y="3831120"/>
            <a:ext cx="5649840" cy="142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SlicerIGT Série de tutoriais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5800" cy="63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CA" sz="4400" b="1" u="none" strike="noStrike">
                <a:solidFill>
                  <a:srgbClr val="0070c0"/>
                </a:solidFill>
                <a:effectLst/>
                <a:uFillTx/>
                <a:latin typeface="Calibri Light"/>
              </a:rPr>
              <a:t>Visão geral dos métodos de registro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628560" y="1181160"/>
            <a:ext cx="7885800" cy="499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Dimensão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3D</a:t>
            </a: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/2D para </a:t>
            </a:r>
            <a:r>
              <a:rPr lang="en-CA" sz="24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3D</a:t>
            </a: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/2D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Métrica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Baseado em distância de ponto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Baseado em distância de superfície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Baseado em similaridade de imagem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Transformação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alibri"/>
              </a:rPr>
              <a:t>Rígido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Semelhança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Deformável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Box 6"/>
          <p:cNvSpPr/>
          <p:nvPr/>
        </p:nvSpPr>
        <p:spPr>
          <a:xfrm>
            <a:off x="5722200" y="3408840"/>
            <a:ext cx="2079720" cy="52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CA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este exemplo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" name="Straight Arrow Connector 10"/>
          <p:cNvCxnSpPr/>
          <p:nvPr/>
        </p:nvCxnSpPr>
        <p:spPr>
          <a:xfrm>
            <a:off x="3514320" y="1861560"/>
            <a:ext cx="2062080" cy="1508760"/>
          </a:xfrm>
          <a:prstGeom prst="straightConnector1">
            <a:avLst/>
          </a:prstGeom>
          <a:ln w="25400">
            <a:solidFill>
              <a:srgbClr val="5b9bd5"/>
            </a:solidFill>
            <a:round/>
            <a:tailEnd len="lg" type="triangle" w="lg"/>
          </a:ln>
        </p:spPr>
      </p:cxnSp>
      <p:cxnSp>
        <p:nvCxnSpPr>
          <p:cNvPr id="28" name="Straight Arrow Connector 12"/>
          <p:cNvCxnSpPr/>
          <p:nvPr/>
        </p:nvCxnSpPr>
        <p:spPr>
          <a:xfrm>
            <a:off x="4345920" y="3213720"/>
            <a:ext cx="1230480" cy="466200"/>
          </a:xfrm>
          <a:prstGeom prst="straightConnector1">
            <a:avLst/>
          </a:prstGeom>
          <a:ln w="25400">
            <a:solidFill>
              <a:srgbClr val="5b9bd5"/>
            </a:solidFill>
            <a:round/>
            <a:tailEnd len="lg" type="triangle" w="lg"/>
          </a:ln>
        </p:spPr>
      </p:cxnSp>
      <p:cxnSp>
        <p:nvCxnSpPr>
          <p:cNvPr id="29" name="Straight Arrow Connector 15"/>
          <p:cNvCxnSpPr/>
          <p:nvPr/>
        </p:nvCxnSpPr>
        <p:spPr>
          <a:xfrm flipV="1">
            <a:off x="2257560" y="3931560"/>
            <a:ext cx="3318840" cy="491400"/>
          </a:xfrm>
          <a:prstGeom prst="straightConnector1">
            <a:avLst/>
          </a:prstGeom>
          <a:ln w="25400">
            <a:solidFill>
              <a:srgbClr val="5b9bd5"/>
            </a:solidFill>
            <a:round/>
            <a:tailEnd len="lg" type="triangle" w="lg"/>
          </a:ln>
        </p:spPr>
      </p:cxn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5F04FBF-E734-4109-94CE-DAF9B04172D7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5800" cy="63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CA" sz="4400" b="1" u="none" strike="noStrike">
                <a:solidFill>
                  <a:srgbClr val="0070c0"/>
                </a:solidFill>
                <a:effectLst/>
                <a:uFillTx/>
                <a:latin typeface="Calibri Light"/>
              </a:rPr>
              <a:t>Registro de superfície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628560" y="1181160"/>
            <a:ext cx="7885800" cy="280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Encontra a transformação que minimiza a distância cumulativa dos pontos de uma superfície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Computação iterativa, precisa de condição de parada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Requer registro inicial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Implementação: vtkIterativeClosestPointTransform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2" name="Group 4"/>
          <p:cNvGrpSpPr/>
          <p:nvPr/>
        </p:nvGrpSpPr>
        <p:grpSpPr>
          <a:xfrm>
            <a:off x="4113360" y="3925800"/>
            <a:ext cx="1724760" cy="1788840"/>
            <a:chOff x="4113360" y="3925800"/>
            <a:chExt cx="1724760" cy="1788840"/>
          </a:xfrm>
        </p:grpSpPr>
        <p:cxnSp>
          <p:nvCxnSpPr>
            <p:cNvPr id="33" name="Straight Arrow Connector 5"/>
            <p:cNvCxnSpPr/>
            <p:nvPr/>
          </p:nvCxnSpPr>
          <p:spPr>
            <a:xfrm flipV="1">
              <a:off x="4582440" y="4005360"/>
              <a:ext cx="1080" cy="1081080"/>
            </a:xfrm>
            <a:prstGeom prst="straightConnector1">
              <a:avLst/>
            </a:prstGeom>
            <a:ln w="25400">
              <a:solidFill>
                <a:srgbClr val="000000"/>
              </a:solidFill>
              <a:round/>
              <a:tailEnd len="med" type="arrow" w="med"/>
            </a:ln>
          </p:spPr>
        </p:cxnSp>
        <p:cxnSp>
          <p:nvCxnSpPr>
            <p:cNvPr id="34" name="Straight Arrow Connector 6"/>
            <p:cNvCxnSpPr/>
            <p:nvPr/>
          </p:nvCxnSpPr>
          <p:spPr>
            <a:xfrm>
              <a:off x="4582440" y="5085360"/>
              <a:ext cx="1171440" cy="1080"/>
            </a:xfrm>
            <a:prstGeom prst="straightConnector1">
              <a:avLst/>
            </a:prstGeom>
            <a:ln w="25400">
              <a:solidFill>
                <a:srgbClr val="000000"/>
              </a:solidFill>
              <a:round/>
              <a:tailEnd len="med" type="arrow" w="med"/>
            </a:ln>
          </p:spPr>
        </p:cxnSp>
        <p:cxnSp>
          <p:nvCxnSpPr>
            <p:cNvPr id="35" name="Straight Arrow Connector 7"/>
            <p:cNvCxnSpPr/>
            <p:nvPr/>
          </p:nvCxnSpPr>
          <p:spPr>
            <a:xfrm flipH="1">
              <a:off x="4113360" y="5085360"/>
              <a:ext cx="470160" cy="470520"/>
            </a:xfrm>
            <a:prstGeom prst="straightConnector1">
              <a:avLst/>
            </a:prstGeom>
            <a:ln w="25400">
              <a:solidFill>
                <a:srgbClr val="000000"/>
              </a:solidFill>
              <a:round/>
              <a:tailEnd len="med" type="arrow" w="med"/>
            </a:ln>
          </p:spPr>
        </p:cxnSp>
        <p:sp>
          <p:nvSpPr>
            <p:cNvPr id="36" name="TextBox 8"/>
            <p:cNvSpPr/>
            <p:nvPr/>
          </p:nvSpPr>
          <p:spPr>
            <a:xfrm>
              <a:off x="5527800" y="5121360"/>
              <a:ext cx="31032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CA" sz="1800" b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X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TextBox 9"/>
            <p:cNvSpPr/>
            <p:nvPr/>
          </p:nvSpPr>
          <p:spPr>
            <a:xfrm>
              <a:off x="4637880" y="3925800"/>
              <a:ext cx="30384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CA" sz="1800" b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TextBox 10"/>
            <p:cNvSpPr/>
            <p:nvPr/>
          </p:nvSpPr>
          <p:spPr>
            <a:xfrm>
              <a:off x="4245840" y="5346360"/>
              <a:ext cx="29412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CA" sz="1800" b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Z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9" name="Group 11"/>
          <p:cNvGrpSpPr/>
          <p:nvPr/>
        </p:nvGrpSpPr>
        <p:grpSpPr>
          <a:xfrm>
            <a:off x="4800600" y="4237200"/>
            <a:ext cx="1773000" cy="1747800"/>
            <a:chOff x="4800600" y="4237200"/>
            <a:chExt cx="1773000" cy="1747800"/>
          </a:xfrm>
        </p:grpSpPr>
        <p:cxnSp>
          <p:nvCxnSpPr>
            <p:cNvPr id="40" name="Straight Arrow Connector 12"/>
            <p:cNvCxnSpPr/>
            <p:nvPr/>
          </p:nvCxnSpPr>
          <p:spPr>
            <a:xfrm flipV="1">
              <a:off x="5342040" y="4307400"/>
              <a:ext cx="182160" cy="1065960"/>
            </a:xfrm>
            <a:prstGeom prst="straightConnector1">
              <a:avLst/>
            </a:prstGeom>
            <a:ln w="25400">
              <a:solidFill>
                <a:srgbClr val="000000"/>
              </a:solidFill>
              <a:round/>
              <a:tailEnd len="med" type="arrow" w="med"/>
            </a:ln>
          </p:spPr>
        </p:cxnSp>
        <p:cxnSp>
          <p:nvCxnSpPr>
            <p:cNvPr id="41" name="Straight Arrow Connector 13"/>
            <p:cNvCxnSpPr/>
            <p:nvPr/>
          </p:nvCxnSpPr>
          <p:spPr>
            <a:xfrm>
              <a:off x="5342040" y="5372280"/>
              <a:ext cx="1154520" cy="197280"/>
            </a:xfrm>
            <a:prstGeom prst="straightConnector1">
              <a:avLst/>
            </a:prstGeom>
            <a:ln w="25400">
              <a:solidFill>
                <a:srgbClr val="000000"/>
              </a:solidFill>
              <a:round/>
              <a:tailEnd len="med" type="arrow" w="med"/>
            </a:ln>
          </p:spPr>
        </p:cxnSp>
        <p:cxnSp>
          <p:nvCxnSpPr>
            <p:cNvPr id="42" name="Straight Arrow Connector 14"/>
            <p:cNvCxnSpPr/>
            <p:nvPr/>
          </p:nvCxnSpPr>
          <p:spPr>
            <a:xfrm flipH="1">
              <a:off x="4800600" y="5372280"/>
              <a:ext cx="542520" cy="385200"/>
            </a:xfrm>
            <a:prstGeom prst="straightConnector1">
              <a:avLst/>
            </a:prstGeom>
            <a:ln w="25400">
              <a:solidFill>
                <a:srgbClr val="000000"/>
              </a:solidFill>
              <a:round/>
              <a:tailEnd len="med" type="arrow" w="med"/>
            </a:ln>
          </p:spPr>
        </p:cxnSp>
        <p:sp>
          <p:nvSpPr>
            <p:cNvPr id="43" name="TextBox 15"/>
            <p:cNvSpPr/>
            <p:nvPr/>
          </p:nvSpPr>
          <p:spPr>
            <a:xfrm rot="579000">
              <a:off x="6234480" y="5589360"/>
              <a:ext cx="31032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CA" sz="1800" b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X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TextBox 16"/>
            <p:cNvSpPr/>
            <p:nvPr/>
          </p:nvSpPr>
          <p:spPr>
            <a:xfrm rot="579000">
              <a:off x="5557680" y="4259880"/>
              <a:ext cx="30384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CA" sz="1800" b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" name="TextBox 17"/>
            <p:cNvSpPr/>
            <p:nvPr/>
          </p:nvSpPr>
          <p:spPr>
            <a:xfrm rot="579000">
              <a:off x="4933080" y="5594760"/>
              <a:ext cx="29412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CA" sz="1800" b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Z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6" name="Oval 18"/>
          <p:cNvSpPr/>
          <p:nvPr/>
        </p:nvSpPr>
        <p:spPr>
          <a:xfrm>
            <a:off x="2520720" y="4446000"/>
            <a:ext cx="179640" cy="156960"/>
          </a:xfrm>
          <a:prstGeom prst="ellipse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C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" name="Oval 19"/>
          <p:cNvSpPr/>
          <p:nvPr/>
        </p:nvSpPr>
        <p:spPr>
          <a:xfrm>
            <a:off x="2950560" y="5339520"/>
            <a:ext cx="179640" cy="156960"/>
          </a:xfrm>
          <a:prstGeom prst="ellipse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C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" name="Oval 20"/>
          <p:cNvSpPr/>
          <p:nvPr/>
        </p:nvSpPr>
        <p:spPr>
          <a:xfrm>
            <a:off x="2656080" y="4874400"/>
            <a:ext cx="179640" cy="156960"/>
          </a:xfrm>
          <a:prstGeom prst="ellipse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C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" name="Arc 21"/>
          <p:cNvSpPr/>
          <p:nvPr/>
        </p:nvSpPr>
        <p:spPr>
          <a:xfrm>
            <a:off x="4557960" y="5311440"/>
            <a:ext cx="1074960" cy="618840"/>
          </a:xfrm>
          <a:prstGeom prst="arc">
            <a:avLst>
              <a:gd name="adj1" fmla="val 607892"/>
              <a:gd name="adj2" fmla="val 12230685"/>
            </a:avLst>
          </a:prstGeom>
          <a:noFill/>
          <a:ln w="25400">
            <a:solidFill>
              <a:srgbClr val="0070c0"/>
            </a:solidFill>
            <a:head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CA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TextBox 22"/>
          <p:cNvSpPr/>
          <p:nvPr/>
        </p:nvSpPr>
        <p:spPr>
          <a:xfrm>
            <a:off x="4520520" y="5081400"/>
            <a:ext cx="660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CA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Inicial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Box 23"/>
          <p:cNvSpPr/>
          <p:nvPr/>
        </p:nvSpPr>
        <p:spPr>
          <a:xfrm>
            <a:off x="5388840" y="5376600"/>
            <a:ext cx="5090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C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Box 24"/>
          <p:cNvSpPr/>
          <p:nvPr/>
        </p:nvSpPr>
        <p:spPr>
          <a:xfrm>
            <a:off x="5318280" y="5829480"/>
            <a:ext cx="12484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CA" sz="1800" b="0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InitialToRas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Oval 26"/>
          <p:cNvSpPr/>
          <p:nvPr/>
        </p:nvSpPr>
        <p:spPr>
          <a:xfrm>
            <a:off x="2647080" y="4125600"/>
            <a:ext cx="179640" cy="156960"/>
          </a:xfrm>
          <a:prstGeom prst="ellipse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C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" name="Freeform: Shape 27"/>
          <p:cNvSpPr/>
          <p:nvPr/>
        </p:nvSpPr>
        <p:spPr>
          <a:xfrm>
            <a:off x="3081960" y="4007520"/>
            <a:ext cx="676080" cy="1884240"/>
          </a:xfrm>
          <a:custGeom>
            <a:avLst/>
            <a:gdLst>
              <a:gd name="textAreaLeft" fmla="*/ 0 w 676080"/>
              <a:gd name="textAreaRight" fmla="*/ 677160 w 676080"/>
              <a:gd name="textAreaTop" fmla="*/ 0 h 1884240"/>
              <a:gd name="textAreaBottom" fmla="*/ 1885320 h 1884240"/>
              <a:gd name="GluePoint1X" fmla="*/ 214489 w 677333"/>
              <a:gd name="GluePoint1Y" fmla="*/ 135466 h 1885244"/>
              <a:gd name="GluePoint2X" fmla="*/ 22577 w 677333"/>
              <a:gd name="GluePoint2Y" fmla="*/ 462844 h 1885244"/>
              <a:gd name="GluePoint3X" fmla="*/ 0 w 677333"/>
              <a:gd name="GluePoint3Y" fmla="*/ 733777 h 1885244"/>
              <a:gd name="GluePoint4X" fmla="*/ 112889 w 677333"/>
              <a:gd name="GluePoint4Y" fmla="*/ 1106311 h 1885244"/>
              <a:gd name="GluePoint5X" fmla="*/ 203200 w 677333"/>
              <a:gd name="GluePoint5Y" fmla="*/ 1399822 h 1885244"/>
              <a:gd name="GluePoint6X" fmla="*/ 327377 w 677333"/>
              <a:gd name="GluePoint6Y" fmla="*/ 1614311 h 1885244"/>
              <a:gd name="GluePoint7X" fmla="*/ 620889 w 677333"/>
              <a:gd name="GluePoint7Y" fmla="*/ 1885244 h 1885244"/>
              <a:gd name="GluePoint8X" fmla="*/ 677333 w 677333"/>
              <a:gd name="GluePoint8Y" fmla="*/ 1603022 h 1885244"/>
              <a:gd name="GluePoint9X" fmla="*/ 474133 w 677333"/>
              <a:gd name="GluePoint9Y" fmla="*/ 1456266 h 1885244"/>
              <a:gd name="GluePoint10X" fmla="*/ 564444 w 677333"/>
              <a:gd name="GluePoint10Y" fmla="*/ 1332088 h 1885244"/>
              <a:gd name="GluePoint11X" fmla="*/ 474133 w 677333"/>
              <a:gd name="GluePoint11Y" fmla="*/ 1264355 h 1885244"/>
              <a:gd name="GluePoint12X" fmla="*/ 643466 w 677333"/>
              <a:gd name="GluePoint12Y" fmla="*/ 982133 h 1885244"/>
              <a:gd name="GluePoint13X" fmla="*/ 474133 w 677333"/>
              <a:gd name="GluePoint13Y" fmla="*/ 959555 h 1885244"/>
              <a:gd name="GluePoint14X" fmla="*/ 587022 w 677333"/>
              <a:gd name="GluePoint14Y" fmla="*/ 654755 h 1885244"/>
              <a:gd name="GluePoint15X" fmla="*/ 282222 w 677333"/>
              <a:gd name="GluePoint15Y" fmla="*/ 609600 h 1885244"/>
              <a:gd name="GluePoint16X" fmla="*/ 553155 w 677333"/>
              <a:gd name="GluePoint16Y" fmla="*/ 496711 h 1885244"/>
              <a:gd name="GluePoint17X" fmla="*/ 440266 w 677333"/>
              <a:gd name="GluePoint17Y" fmla="*/ 395111 h 1885244"/>
              <a:gd name="GluePoint18X" fmla="*/ 587022 w 677333"/>
              <a:gd name="GluePoint18Y" fmla="*/ 282222 h 1885244"/>
              <a:gd name="GluePoint19X" fmla="*/ 395111 w 677333"/>
              <a:gd name="GluePoint19Y" fmla="*/ 237066 h 1885244"/>
              <a:gd name="GluePoint20X" fmla="*/ 440266 w 677333"/>
              <a:gd name="GluePoint20Y" fmla="*/ 101600 h 1885244"/>
              <a:gd name="GluePoint21X" fmla="*/ 316089 w 677333"/>
              <a:gd name="GluePoint21Y" fmla="*/ 101600 h 1885244"/>
              <a:gd name="GluePoint22X" fmla="*/ 338666 w 677333"/>
              <a:gd name="GluePoint22Y" fmla="*/ 0 h 1885244"/>
              <a:gd name="GluePoint23X" fmla="*/ 214489 w 677333"/>
              <a:gd name="GluePoint23Y" fmla="*/ 135466 h 188524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</a:cxnLst>
            <a:rect l="textAreaLeft" t="textAreaTop" r="textAreaRight" b="textAreaBottom"/>
            <a:pathLst>
              <a:path w="677333" h="1885244">
                <a:moveTo>
                  <a:pt x="214489" y="135466"/>
                </a:moveTo>
                <a:lnTo>
                  <a:pt x="22577" y="462844"/>
                </a:lnTo>
                <a:lnTo>
                  <a:pt x="0" y="733777"/>
                </a:lnTo>
                <a:lnTo>
                  <a:pt x="112889" y="1106311"/>
                </a:lnTo>
                <a:lnTo>
                  <a:pt x="203200" y="1399822"/>
                </a:lnTo>
                <a:lnTo>
                  <a:pt x="327377" y="1614311"/>
                </a:lnTo>
                <a:lnTo>
                  <a:pt x="620889" y="1885244"/>
                </a:lnTo>
                <a:lnTo>
                  <a:pt x="677333" y="1603022"/>
                </a:lnTo>
                <a:lnTo>
                  <a:pt x="474133" y="1456266"/>
                </a:lnTo>
                <a:lnTo>
                  <a:pt x="564444" y="1332088"/>
                </a:lnTo>
                <a:lnTo>
                  <a:pt x="474133" y="1264355"/>
                </a:lnTo>
                <a:lnTo>
                  <a:pt x="643466" y="982133"/>
                </a:lnTo>
                <a:lnTo>
                  <a:pt x="474133" y="959555"/>
                </a:lnTo>
                <a:lnTo>
                  <a:pt x="587022" y="654755"/>
                </a:lnTo>
                <a:lnTo>
                  <a:pt x="282222" y="609600"/>
                </a:lnTo>
                <a:lnTo>
                  <a:pt x="553155" y="496711"/>
                </a:lnTo>
                <a:lnTo>
                  <a:pt x="440266" y="395111"/>
                </a:lnTo>
                <a:lnTo>
                  <a:pt x="587022" y="282222"/>
                </a:lnTo>
                <a:lnTo>
                  <a:pt x="395111" y="237066"/>
                </a:lnTo>
                <a:lnTo>
                  <a:pt x="440266" y="101600"/>
                </a:lnTo>
                <a:lnTo>
                  <a:pt x="316089" y="101600"/>
                </a:lnTo>
                <a:lnTo>
                  <a:pt x="338666" y="0"/>
                </a:lnTo>
                <a:lnTo>
                  <a:pt x="214489" y="135466"/>
                </a:lnTo>
                <a:close/>
              </a:path>
            </a:pathLst>
          </a:custGeom>
          <a:gradFill rotWithShape="0">
            <a:gsLst>
              <a:gs pos="0">
                <a:srgbClr val="f7fafd"/>
              </a:gs>
              <a:gs pos="47000">
                <a:srgbClr val="bfbfbf"/>
              </a:gs>
              <a:gs pos="83000">
                <a:srgbClr val="808080"/>
              </a:gs>
              <a:gs pos="100000">
                <a:srgbClr val="808080"/>
              </a:gs>
            </a:gsLst>
            <a:lin ang="10800000"/>
          </a:gra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C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51774CC-F6B9-4119-B5EC-AFA6EDA27ED8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5800" cy="63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CA" sz="4400" b="1" u="none" strike="noStrike">
                <a:solidFill>
                  <a:srgbClr val="0070c0"/>
                </a:solidFill>
                <a:effectLst/>
                <a:uFillTx/>
                <a:latin typeface="Calibri Light"/>
              </a:rPr>
              <a:t>Estratégia de registro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6" name="Group 4"/>
          <p:cNvGrpSpPr/>
          <p:nvPr/>
        </p:nvGrpSpPr>
        <p:grpSpPr>
          <a:xfrm>
            <a:off x="4762800" y="2268000"/>
            <a:ext cx="1725120" cy="1789200"/>
            <a:chOff x="4762800" y="2268000"/>
            <a:chExt cx="1725120" cy="1789200"/>
          </a:xfrm>
        </p:grpSpPr>
        <p:cxnSp>
          <p:nvCxnSpPr>
            <p:cNvPr id="57" name="Straight Arrow Connector 5"/>
            <p:cNvCxnSpPr/>
            <p:nvPr/>
          </p:nvCxnSpPr>
          <p:spPr>
            <a:xfrm flipV="1">
              <a:off x="5232240" y="2347920"/>
              <a:ext cx="1080" cy="1081080"/>
            </a:xfrm>
            <a:prstGeom prst="straightConnector1">
              <a:avLst/>
            </a:prstGeom>
            <a:ln w="25400">
              <a:solidFill>
                <a:srgbClr val="000000"/>
              </a:solidFill>
              <a:round/>
              <a:tailEnd len="med" type="arrow" w="med"/>
            </a:ln>
          </p:spPr>
        </p:cxnSp>
        <p:cxnSp>
          <p:nvCxnSpPr>
            <p:cNvPr id="58" name="Straight Arrow Connector 6"/>
            <p:cNvCxnSpPr/>
            <p:nvPr/>
          </p:nvCxnSpPr>
          <p:spPr>
            <a:xfrm>
              <a:off x="5232240" y="3427920"/>
              <a:ext cx="1171080" cy="1080"/>
            </a:xfrm>
            <a:prstGeom prst="straightConnector1">
              <a:avLst/>
            </a:prstGeom>
            <a:ln w="25400">
              <a:solidFill>
                <a:srgbClr val="000000"/>
              </a:solidFill>
              <a:round/>
              <a:tailEnd len="med" type="arrow" w="med"/>
            </a:ln>
          </p:spPr>
        </p:cxnSp>
        <p:cxnSp>
          <p:nvCxnSpPr>
            <p:cNvPr id="59" name="Straight Arrow Connector 7"/>
            <p:cNvCxnSpPr/>
            <p:nvPr/>
          </p:nvCxnSpPr>
          <p:spPr>
            <a:xfrm flipH="1">
              <a:off x="4762800" y="3427920"/>
              <a:ext cx="470520" cy="470520"/>
            </a:xfrm>
            <a:prstGeom prst="straightConnector1">
              <a:avLst/>
            </a:prstGeom>
            <a:ln w="25400">
              <a:solidFill>
                <a:srgbClr val="000000"/>
              </a:solidFill>
              <a:round/>
              <a:tailEnd len="med" type="arrow" w="med"/>
            </a:ln>
          </p:spPr>
        </p:cxnSp>
        <p:sp>
          <p:nvSpPr>
            <p:cNvPr id="60" name="TextBox 8"/>
            <p:cNvSpPr/>
            <p:nvPr/>
          </p:nvSpPr>
          <p:spPr>
            <a:xfrm>
              <a:off x="6177600" y="3463920"/>
              <a:ext cx="31032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CA" sz="1800" b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X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TextBox 9"/>
            <p:cNvSpPr/>
            <p:nvPr/>
          </p:nvSpPr>
          <p:spPr>
            <a:xfrm>
              <a:off x="5287320" y="2268000"/>
              <a:ext cx="30384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CA" sz="1800" b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TextBox 10"/>
            <p:cNvSpPr/>
            <p:nvPr/>
          </p:nvSpPr>
          <p:spPr>
            <a:xfrm>
              <a:off x="4895280" y="3688920"/>
              <a:ext cx="29412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CA" sz="1800" b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Z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3" name="Group 11"/>
          <p:cNvGrpSpPr/>
          <p:nvPr/>
        </p:nvGrpSpPr>
        <p:grpSpPr>
          <a:xfrm>
            <a:off x="5450040" y="2579760"/>
            <a:ext cx="1773000" cy="1747800"/>
            <a:chOff x="5450040" y="2579760"/>
            <a:chExt cx="1773000" cy="1747800"/>
          </a:xfrm>
        </p:grpSpPr>
        <p:cxnSp>
          <p:nvCxnSpPr>
            <p:cNvPr id="64" name="Straight Arrow Connector 12"/>
            <p:cNvCxnSpPr/>
            <p:nvPr/>
          </p:nvCxnSpPr>
          <p:spPr>
            <a:xfrm flipV="1">
              <a:off x="5991480" y="2649600"/>
              <a:ext cx="182160" cy="1065960"/>
            </a:xfrm>
            <a:prstGeom prst="straightConnector1">
              <a:avLst/>
            </a:prstGeom>
            <a:ln w="25400">
              <a:solidFill>
                <a:srgbClr val="000000"/>
              </a:solidFill>
              <a:round/>
              <a:tailEnd len="med" type="arrow" w="med"/>
            </a:ln>
          </p:spPr>
        </p:cxnSp>
        <p:cxnSp>
          <p:nvCxnSpPr>
            <p:cNvPr id="65" name="Straight Arrow Connector 13"/>
            <p:cNvCxnSpPr/>
            <p:nvPr/>
          </p:nvCxnSpPr>
          <p:spPr>
            <a:xfrm>
              <a:off x="5991480" y="3714480"/>
              <a:ext cx="1154880" cy="197280"/>
            </a:xfrm>
            <a:prstGeom prst="straightConnector1">
              <a:avLst/>
            </a:prstGeom>
            <a:ln w="25400">
              <a:solidFill>
                <a:srgbClr val="000000"/>
              </a:solidFill>
              <a:round/>
              <a:tailEnd len="med" type="arrow" w="med"/>
            </a:ln>
          </p:spPr>
        </p:cxnSp>
        <p:cxnSp>
          <p:nvCxnSpPr>
            <p:cNvPr id="66" name="Straight Arrow Connector 14"/>
            <p:cNvCxnSpPr/>
            <p:nvPr/>
          </p:nvCxnSpPr>
          <p:spPr>
            <a:xfrm flipH="1">
              <a:off x="5450040" y="3714480"/>
              <a:ext cx="542520" cy="385200"/>
            </a:xfrm>
            <a:prstGeom prst="straightConnector1">
              <a:avLst/>
            </a:prstGeom>
            <a:ln w="25400">
              <a:solidFill>
                <a:srgbClr val="000000"/>
              </a:solidFill>
              <a:round/>
              <a:tailEnd len="med" type="arrow" w="med"/>
            </a:ln>
          </p:spPr>
        </p:cxnSp>
        <p:sp>
          <p:nvSpPr>
            <p:cNvPr id="67" name="TextBox 15"/>
            <p:cNvSpPr/>
            <p:nvPr/>
          </p:nvSpPr>
          <p:spPr>
            <a:xfrm rot="579000">
              <a:off x="6883920" y="3931920"/>
              <a:ext cx="31032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CA" sz="1800" b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X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TextBox 16"/>
            <p:cNvSpPr/>
            <p:nvPr/>
          </p:nvSpPr>
          <p:spPr>
            <a:xfrm rot="579000">
              <a:off x="6207480" y="2602440"/>
              <a:ext cx="30384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CA" sz="1800" b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TextBox 17"/>
            <p:cNvSpPr/>
            <p:nvPr/>
          </p:nvSpPr>
          <p:spPr>
            <a:xfrm rot="579000">
              <a:off x="5582520" y="3937320"/>
              <a:ext cx="29412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CA" sz="1800" b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Z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0" name="Arc 18"/>
          <p:cNvSpPr/>
          <p:nvPr/>
        </p:nvSpPr>
        <p:spPr>
          <a:xfrm>
            <a:off x="5207400" y="3654000"/>
            <a:ext cx="1074960" cy="618840"/>
          </a:xfrm>
          <a:prstGeom prst="arc">
            <a:avLst>
              <a:gd name="adj1" fmla="val 607892"/>
              <a:gd name="adj2" fmla="val 12230685"/>
            </a:avLst>
          </a:prstGeom>
          <a:noFill/>
          <a:ln w="25400">
            <a:solidFill>
              <a:srgbClr val="0070c0"/>
            </a:solidFill>
            <a:head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CA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19"/>
          <p:cNvSpPr/>
          <p:nvPr/>
        </p:nvSpPr>
        <p:spPr>
          <a:xfrm>
            <a:off x="5216760" y="3439080"/>
            <a:ext cx="660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CA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Inicial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20"/>
          <p:cNvSpPr/>
          <p:nvPr/>
        </p:nvSpPr>
        <p:spPr>
          <a:xfrm>
            <a:off x="6038640" y="3718800"/>
            <a:ext cx="5090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C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21"/>
          <p:cNvSpPr/>
          <p:nvPr/>
        </p:nvSpPr>
        <p:spPr>
          <a:xfrm>
            <a:off x="5968080" y="4172040"/>
            <a:ext cx="12484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CA" sz="1800" b="0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InitialToRas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4" name="Group 22"/>
          <p:cNvGrpSpPr/>
          <p:nvPr/>
        </p:nvGrpSpPr>
        <p:grpSpPr>
          <a:xfrm>
            <a:off x="1653480" y="1766160"/>
            <a:ext cx="1701360" cy="1864080"/>
            <a:chOff x="1653480" y="1766160"/>
            <a:chExt cx="1701360" cy="1864080"/>
          </a:xfrm>
        </p:grpSpPr>
        <p:cxnSp>
          <p:nvCxnSpPr>
            <p:cNvPr id="75" name="Straight Arrow Connector 23"/>
            <p:cNvCxnSpPr/>
            <p:nvPr/>
          </p:nvCxnSpPr>
          <p:spPr>
            <a:xfrm flipH="1" flipV="1">
              <a:off x="1918440" y="1892520"/>
              <a:ext cx="140760" cy="1072080"/>
            </a:xfrm>
            <a:prstGeom prst="straightConnector1">
              <a:avLst/>
            </a:prstGeom>
            <a:ln w="25400">
              <a:solidFill>
                <a:srgbClr val="000000"/>
              </a:solidFill>
              <a:round/>
              <a:tailEnd len="med" type="arrow" w="med"/>
            </a:ln>
          </p:spPr>
        </p:cxnSp>
        <p:cxnSp>
          <p:nvCxnSpPr>
            <p:cNvPr id="76" name="Straight Arrow Connector 24"/>
            <p:cNvCxnSpPr/>
            <p:nvPr/>
          </p:nvCxnSpPr>
          <p:spPr>
            <a:xfrm flipV="1">
              <a:off x="2058120" y="2811960"/>
              <a:ext cx="1161360" cy="152640"/>
            </a:xfrm>
            <a:prstGeom prst="straightConnector1">
              <a:avLst/>
            </a:prstGeom>
            <a:ln w="25400">
              <a:solidFill>
                <a:srgbClr val="000000"/>
              </a:solidFill>
              <a:round/>
              <a:tailEnd len="med" type="arrow" w="med"/>
            </a:ln>
          </p:spPr>
        </p:cxnSp>
        <p:cxnSp>
          <p:nvCxnSpPr>
            <p:cNvPr id="77" name="Straight Arrow Connector 25"/>
            <p:cNvCxnSpPr/>
            <p:nvPr/>
          </p:nvCxnSpPr>
          <p:spPr>
            <a:xfrm flipH="1">
              <a:off x="1653480" y="2963520"/>
              <a:ext cx="405720" cy="527400"/>
            </a:xfrm>
            <a:prstGeom prst="straightConnector1">
              <a:avLst/>
            </a:prstGeom>
            <a:ln w="25400">
              <a:solidFill>
                <a:srgbClr val="000000"/>
              </a:solidFill>
              <a:round/>
              <a:tailEnd len="med" type="arrow" w="med"/>
            </a:ln>
          </p:spPr>
        </p:cxnSp>
        <p:sp>
          <p:nvSpPr>
            <p:cNvPr id="78" name="TextBox 26"/>
            <p:cNvSpPr/>
            <p:nvPr/>
          </p:nvSpPr>
          <p:spPr>
            <a:xfrm rot="21153600">
              <a:off x="3021840" y="2854080"/>
              <a:ext cx="31032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CA" sz="1800" b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X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" name="TextBox 27"/>
            <p:cNvSpPr/>
            <p:nvPr/>
          </p:nvSpPr>
          <p:spPr>
            <a:xfrm rot="21153600">
              <a:off x="1984320" y="1784160"/>
              <a:ext cx="30384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CA" sz="1800" b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Y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TextBox 28"/>
            <p:cNvSpPr/>
            <p:nvPr/>
          </p:nvSpPr>
          <p:spPr>
            <a:xfrm rot="21153600">
              <a:off x="1779480" y="3244320"/>
              <a:ext cx="29412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lang="en-CA" sz="1800" b="1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Z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1" name="TextBox 29"/>
          <p:cNvSpPr/>
          <p:nvPr/>
        </p:nvSpPr>
        <p:spPr>
          <a:xfrm>
            <a:off x="2060640" y="2988000"/>
            <a:ext cx="10483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CA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Referência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Arc 30"/>
          <p:cNvSpPr/>
          <p:nvPr/>
        </p:nvSpPr>
        <p:spPr>
          <a:xfrm rot="364800">
            <a:off x="2488680" y="3018240"/>
            <a:ext cx="3211560" cy="618840"/>
          </a:xfrm>
          <a:prstGeom prst="arc">
            <a:avLst>
              <a:gd name="adj1" fmla="val 607892"/>
              <a:gd name="adj2" fmla="val 10406350"/>
            </a:avLst>
          </a:prstGeom>
          <a:noFill/>
          <a:ln w="25400">
            <a:solidFill>
              <a:srgbClr val="0070c0"/>
            </a:solidFill>
            <a:headEnd len="med" type="arrow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CA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31"/>
          <p:cNvSpPr/>
          <p:nvPr/>
        </p:nvSpPr>
        <p:spPr>
          <a:xfrm>
            <a:off x="2769480" y="3688920"/>
            <a:ext cx="18651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CA" sz="1800" b="0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ReferenceToInitial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32"/>
          <p:cNvSpPr/>
          <p:nvPr/>
        </p:nvSpPr>
        <p:spPr>
          <a:xfrm>
            <a:off x="1088640" y="4295880"/>
            <a:ext cx="2550240" cy="11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c55a11"/>
              </a:buClr>
              <a:buFont typeface="Arial"/>
              <a:buChar char="•"/>
            </a:pPr>
            <a:r>
              <a:rPr lang="en-CA" sz="1800" b="1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Registro Fiduciário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C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 pontos em </a:t>
            </a:r>
            <a:r>
              <a:rPr lang="en-CA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Referência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C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 pontos em </a:t>
            </a:r>
            <a:r>
              <a:rPr lang="en-CA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Inicial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C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localizações aproximadas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33"/>
          <p:cNvSpPr/>
          <p:nvPr/>
        </p:nvSpPr>
        <p:spPr>
          <a:xfrm>
            <a:off x="4895280" y="4695480"/>
            <a:ext cx="3381480" cy="92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c55a11"/>
              </a:buClr>
              <a:buFont typeface="Arial"/>
              <a:buChar char="•"/>
            </a:pPr>
            <a:r>
              <a:rPr lang="en-CA" sz="1800" b="1" u="none" strike="noStrike">
                <a:solidFill>
                  <a:schemeClr val="accent2">
                    <a:lumMod val="75000"/>
                  </a:schemeClr>
                </a:solidFill>
                <a:effectLst/>
                <a:uFillTx/>
                <a:latin typeface="Calibri"/>
              </a:rPr>
              <a:t>Registro de Modelo Fiducial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C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~30-40 pontos em </a:t>
            </a:r>
            <a:r>
              <a:rPr lang="en-CA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Inicial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C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Modelo de superfície baseado em CT em </a:t>
            </a:r>
            <a:r>
              <a:rPr lang="en-CA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74A9878-10C0-4470-988E-46F2D708550D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5800" cy="63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2500" lnSpcReduction="9999"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70c0"/>
                </a:solidFill>
                <a:effectLst/>
                <a:uFillTx/>
                <a:latin typeface="Calibri Light"/>
              </a:rPr>
              <a:t>Carregar cena de exemplo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628560" y="1181160"/>
            <a:ext cx="7885800" cy="499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Carregue três dados em uma cena limpa do Slicer: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SlicerIGT-Data\Skull_Registrations.mrb contém posição da caneta e sequências de vídeo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SlicerIGT-Data\Skull_Phantom.vtk contém um modelo de superfície detalhado do crânio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SlicerIGT-Data\Skull_StylusTipToStylus.h5 contém calibração de pivô para a caneta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Você pode arrastar e soltar todos esses arquivos no Slicer e carregá-los com opções padrão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Crie um modelo de agulha usando 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IGT / Criar modelos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A675541-2733-49A8-B359-79A04B5278E8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5800" cy="63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CA" sz="4400" b="1" u="none" strike="noStrike">
                <a:solidFill>
                  <a:srgbClr val="0070c0"/>
                </a:solidFill>
                <a:effectLst/>
                <a:uFillTx/>
                <a:latin typeface="Calibri Light"/>
              </a:rPr>
              <a:t>Configurar hierarquia de transformação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628560" y="1181160"/>
            <a:ext cx="7885800" cy="499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Selecione o módulo Dados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com o botão direito em Cena e insira uma nova transformação, e clique duas vezes nela para renomear para </a:t>
            </a:r>
            <a:r>
              <a:rPr lang="en-CA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InitialToRas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com o botão direito em InitialToRas e insira a transformação e clique duas vezes para renomeá-la para </a:t>
            </a:r>
            <a:r>
              <a:rPr lang="en-CA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ReferenceToInitial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Arraste e </a:t>
            </a:r>
            <a:r>
              <a:rPr lang="en-CA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solte</a:t>
            </a: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nós para obter a seguinte hierarquia de transformação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" name=""/>
          <p:cNvPicPr/>
          <p:nvPr/>
        </p:nvPicPr>
        <p:blipFill>
          <a:blip r:embed="rId1"/>
          <a:stretch/>
        </p:blipFill>
        <p:spPr>
          <a:xfrm>
            <a:off x="2979720" y="4485600"/>
            <a:ext cx="3421080" cy="1686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BEEF7C4-F42D-4275-8884-AAABADB49842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5800" cy="63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CA" sz="4400" b="1" u="none" strike="noStrike">
                <a:solidFill>
                  <a:srgbClr val="0070c0"/>
                </a:solidFill>
                <a:effectLst/>
                <a:uFillTx/>
                <a:latin typeface="Calibri Light"/>
              </a:rPr>
              <a:t>Configurar o registro inicial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628560" y="1181160"/>
            <a:ext cx="7885800" cy="499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Selecione o módulo IGT / Assistente de registro fiducial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Crie os fiduciários De como Pontos de referência e os fiduciários Para como Pontos Iniciais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Em Colocar fiduciários usando transformações... selecione Skull_StylusTipToStylus para a lista De (superior)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Em Resultado do registro selecione ReferenceToInitial e defina Atualização manual em vez de Atualização automática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3" name=""/>
          <p:cNvPicPr/>
          <p:nvPr/>
        </p:nvPicPr>
        <p:blipFill>
          <a:blip r:embed="rId1"/>
          <a:stretch/>
        </p:blipFill>
        <p:spPr>
          <a:xfrm>
            <a:off x="2227320" y="4355280"/>
            <a:ext cx="4525920" cy="179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Arrow: Right 8"/>
          <p:cNvSpPr/>
          <p:nvPr/>
        </p:nvSpPr>
        <p:spPr>
          <a:xfrm>
            <a:off x="3700800" y="5872320"/>
            <a:ext cx="351360" cy="2854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C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Arrow: Right 6"/>
          <p:cNvSpPr/>
          <p:nvPr/>
        </p:nvSpPr>
        <p:spPr>
          <a:xfrm>
            <a:off x="1961640" y="4555800"/>
            <a:ext cx="351360" cy="2854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C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Arrow: Right 7"/>
          <p:cNvSpPr/>
          <p:nvPr/>
        </p:nvSpPr>
        <p:spPr>
          <a:xfrm>
            <a:off x="1961640" y="5244840"/>
            <a:ext cx="351360" cy="2854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C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34A22AE-61C3-4E54-A2E6-919534D1C51C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5800" cy="63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CA" sz="4400" b="1" u="none" strike="noStrike">
                <a:solidFill>
                  <a:srgbClr val="0070c0"/>
                </a:solidFill>
                <a:effectLst/>
                <a:uFillTx/>
                <a:latin typeface="Calibri Light"/>
              </a:rPr>
              <a:t>Registro inicial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628560" y="1181160"/>
            <a:ext cx="7885800" cy="499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Na barra de ferramentas Sequência, selecione </a:t>
            </a:r>
            <a:r>
              <a:rPr lang="en-CA" sz="2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Pontos de referência iniciais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Usando o controle deslizante de tempo da barra de ferramentas Sequência, revise o vídeo em busca de pontos de referência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Use o botão colocar pontos de referência para adicionar esses pontos (na mesma ordem!) na lista Pontos Iniciais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Use o botão 'Colocar De' para adicionar pontos à lista Pontos de referência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Faça isso três vezes, para ter três pontos em ambas as listas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Assista ao próximo slide para ilustração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9" name="Picture 4"/>
          <p:cNvPicPr/>
          <p:nvPr/>
        </p:nvPicPr>
        <p:blipFill>
          <a:blip r:embed="rId1"/>
          <a:stretch/>
        </p:blipFill>
        <p:spPr>
          <a:xfrm>
            <a:off x="3069000" y="1600200"/>
            <a:ext cx="359280" cy="329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53F734D-8666-4404-AB3C-8601AA7F9AEF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5800" cy="63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CA" sz="4400" b="1" u="none" strike="noStrike">
                <a:solidFill>
                  <a:srgbClr val="0070c0"/>
                </a:solidFill>
                <a:effectLst/>
                <a:uFillTx/>
                <a:latin typeface="Calibri Light"/>
              </a:rPr>
              <a:t>Registro inicial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1" name=""/>
          <p:cNvPicPr/>
          <p:nvPr/>
        </p:nvPicPr>
        <p:blipFill>
          <a:blip r:embed="rId1"/>
          <a:stretch/>
        </p:blipFill>
        <p:spPr>
          <a:xfrm>
            <a:off x="115920" y="1116360"/>
            <a:ext cx="8912160" cy="462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3F86D51-6B74-4248-B976-DC43FCB84008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video>
              <p:cMediaNode>
                <p:cTn repeatCount="indefinite">
                  <p:stCondLst>
                    <p:cond delay="indefinite"/>
                  </p:stCondLst>
                </p:cTn>
                <p:tgtEl>
                  <p:spTgt spid="-1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5800" cy="63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CA" sz="4400" b="1" u="none" strike="noStrike">
                <a:solidFill>
                  <a:srgbClr val="0070c0"/>
                </a:solidFill>
                <a:effectLst/>
                <a:uFillTx/>
                <a:latin typeface="Calibri Light"/>
              </a:rPr>
              <a:t>Calcular registro inicial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628560" y="1181160"/>
            <a:ext cx="7885800" cy="499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Em Resultado do registro pressione Atualizar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 você não vir "Status: Sucesso!" abaixo do botão Atualizar, verifique se você tem três pontos diferentes em ambas as listas.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erro RMS deve ser inferior a 10 mm, idealmente, mas não necessariamente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808080"/>
              </a:buClr>
              <a:buFont typeface="Arial"/>
              <a:buChar char="•"/>
            </a:pPr>
            <a:r>
              <a:rPr lang="en-CA" sz="2800" b="0" u="none" strike="noStrik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Observação: se você quiser reiniciar o registro inicial, vá para o módulo Transformações e pressione Identidade em ReferenceToInitial para redefini-la. Caso contrário, a Ponta da caneta não estará em Referência.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E293884-5E96-470F-9E92-6C53CC2A60E2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5800" cy="63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CA" sz="4400" b="1" u="none" strike="noStrike">
                <a:solidFill>
                  <a:srgbClr val="0070c0"/>
                </a:solidFill>
                <a:effectLst/>
                <a:uFillTx/>
                <a:latin typeface="Calibri Light"/>
              </a:rPr>
              <a:t>Colete pontos de superfície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628560" y="1181160"/>
            <a:ext cx="7885800" cy="499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Ainda no módulo Assistente de registro fiducial, crie uma nova lista em De fiduciários e nomeie-a Pontos de superfície iniciais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Na barra de ferramentas Sequência, selecione o nó Superfície Scan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Deixe a sequência rodar usando o botão play, talvez diminua a taxa de quadros para 5 fps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Continue clicando em Colocar 'De' até coletar cerca de 40 pontos uniformemente perto da superfície do crânio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Tela de vídeo no próximo slide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BF1377A-55E2-4F3A-8281-39B09507B1CF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5800" cy="63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CA" sz="4400" b="1" u="none" strike="noStrike">
                <a:solidFill>
                  <a:srgbClr val="0070c0"/>
                </a:solidFill>
                <a:effectLst/>
                <a:uFillTx/>
                <a:latin typeface="Calibri Light"/>
              </a:rPr>
              <a:t>Colete pontos de superfície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"/>
          <p:cNvPicPr/>
          <p:nvPr/>
        </p:nvPicPr>
        <p:blipFill>
          <a:blip r:embed="rId1"/>
          <a:stretch/>
        </p:blipFill>
        <p:spPr>
          <a:xfrm>
            <a:off x="209520" y="1176480"/>
            <a:ext cx="8725320" cy="450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94B5EE5-CADD-45E4-BCCD-E4F7D463EFB8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" dur="indefinite" restart="never" nodeType="tmRoot">
          <p:childTnLst>
            <p:video>
              <p:cMediaNode>
                <p:cTn repeatCount="indefinite">
                  <p:stCondLst>
                    <p:cond delay="indefinite"/>
                  </p:stCondLst>
                </p:cTn>
                <p:tgtEl>
                  <p:spTgt spid="-1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5800" cy="63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-CA" sz="4400" b="1" u="none" strike="noStrike">
                <a:solidFill>
                  <a:srgbClr val="0070c0"/>
                </a:solidFill>
                <a:effectLst/>
                <a:uFillTx/>
                <a:latin typeface="Calibri Light"/>
              </a:rPr>
              <a:t>Calcular registro de superfície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628560" y="1181160"/>
            <a:ext cx="7885800" cy="4994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Selecione o módulo IGT / Registro de Modelo Fiducial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Fiduciais de entrada: </a:t>
            </a:r>
            <a:r>
              <a:rPr lang="en-CA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Pontos de superfície iniciais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Modelo de entrada: Skull_Phantom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Transformação de saída: </a:t>
            </a:r>
            <a:r>
              <a:rPr lang="en-CA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InitialToRas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Pressione Aplicar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 distância média após o registro deve ser inferior a 1 mm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CA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Quando você reproduz a sequência Superfície Scan, a ponta da caneta deve deslizar na superfície do crânio no visualizador 3D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02E514F-0D8C-4915-954A-40E3B15F0F23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SlicerIGT-TutorialTemplate</Template>
  <TotalTime>200</TotalTime>
  <Application>LibreOffice/25.8.5.2$Windows_X86_64 LibreOffice_project/9c8b85f387cc00a89945a79c9e6239f32e450ac2</Application>
  <AppVersion>15.0000</AppVersion>
  <Words>567</Words>
  <Paragraphs>107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2014-04-04T16:52:35Z</dcterms:created>
  <dc:creator>Tamas Ungi</dc:creator>
  <dc:description/>
  <dc:language>en-US</dc:language>
  <cp:lastModifiedBy/>
  <dcterms:modified xsi:type="dcterms:W3CDTF">2026-04-26T12:28:00Z</dcterms:modified>
  <cp:revision>11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PresentationFormat">
    <vt:lpwstr>On-screen Show (4:3)</vt:lpwstr>
  </property>
  <property fmtid="{D5CDD505-2E9C-101B-9397-08002B2CF9AE}" pid="4" name="Slides">
    <vt:i4>13</vt:i4>
  </property>
</Properties>
</file>