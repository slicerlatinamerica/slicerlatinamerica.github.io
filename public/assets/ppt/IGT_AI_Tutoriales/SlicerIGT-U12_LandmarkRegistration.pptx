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66" r:id="rId3"/>
    <p:sldId id="267" r:id="rId4"/>
    <p:sldId id="26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20B5-36C0-4794-9E01-220C2D3A21D1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FC5FD-8DBC-4524-99EA-FCD3D8A86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3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49910" y="3831150"/>
            <a:ext cx="5651090" cy="1426649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SlicerIGT</a:t>
            </a:r>
            <a:r>
              <a:rPr lang="en-US" dirty="0"/>
              <a:t> Tutorial Series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1080626" y="3602038"/>
            <a:ext cx="1269284" cy="92406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2163096" y="3716594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2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0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81100"/>
            <a:ext cx="7886700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3501" y="6356351"/>
            <a:ext cx="4781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CA" dirty="0" err="1"/>
              <a:t>SlicerIGT</a:t>
            </a:r>
            <a:r>
              <a:rPr lang="en-CA" dirty="0"/>
              <a:t> Tutorial Series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Landmark registration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SlicerIGT </a:t>
            </a:r>
            <a:r>
              <a:rPr lang="en-US"/>
              <a:t>Tutorial Series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13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Landmark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1"/>
            <a:ext cx="7886700" cy="2634544"/>
          </a:xfrm>
        </p:spPr>
        <p:txBody>
          <a:bodyPr/>
          <a:lstStyle/>
          <a:p>
            <a:r>
              <a:rPr lang="en-CA" dirty="0"/>
              <a:t>Computes transformation between point pairs</a:t>
            </a:r>
          </a:p>
          <a:p>
            <a:r>
              <a:rPr lang="en-CA" dirty="0"/>
              <a:t>Points = landmarks = fiducials</a:t>
            </a:r>
          </a:p>
          <a:p>
            <a:r>
              <a:rPr lang="en-CA" dirty="0"/>
              <a:t>Computation is fast, non-iterative, optimal result</a:t>
            </a:r>
          </a:p>
          <a:p>
            <a:r>
              <a:rPr lang="en-CA" dirty="0"/>
              <a:t>Sensitive to outliers!</a:t>
            </a:r>
          </a:p>
          <a:p>
            <a:r>
              <a:rPr lang="en-CA" b="1" dirty="0" err="1"/>
              <a:t>vtkLandmarkTransform</a:t>
            </a:r>
            <a:r>
              <a:rPr lang="en-CA" dirty="0"/>
              <a:t> based on [Horn 1987]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059207" y="4426525"/>
            <a:ext cx="180623" cy="1580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/>
          <p:cNvSpPr/>
          <p:nvPr/>
        </p:nvSpPr>
        <p:spPr>
          <a:xfrm>
            <a:off x="3835081" y="4840596"/>
            <a:ext cx="180623" cy="1580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/>
          <p:cNvSpPr/>
          <p:nvPr/>
        </p:nvSpPr>
        <p:spPr>
          <a:xfrm>
            <a:off x="3522134" y="3841400"/>
            <a:ext cx="180623" cy="1580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8" name="Group 7"/>
          <p:cNvGrpSpPr/>
          <p:nvPr/>
        </p:nvGrpSpPr>
        <p:grpSpPr>
          <a:xfrm>
            <a:off x="1471775" y="3987798"/>
            <a:ext cx="1725804" cy="1790152"/>
            <a:chOff x="457200" y="2538948"/>
            <a:chExt cx="1725804" cy="1790152"/>
          </a:xfrm>
        </p:grpSpPr>
        <p:cxnSp>
          <p:nvCxnSpPr>
            <p:cNvPr id="9" name="Straight Arrow Connector 8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965837" y="3926917"/>
            <a:ext cx="1725804" cy="1790152"/>
            <a:chOff x="457200" y="2538948"/>
            <a:chExt cx="1725804" cy="1790152"/>
          </a:xfrm>
        </p:grpSpPr>
        <p:cxnSp>
          <p:nvCxnSpPr>
            <p:cNvPr id="16" name="Straight Arrow Connector 15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22" name="Arc 21"/>
          <p:cNvSpPr/>
          <p:nvPr/>
        </p:nvSpPr>
        <p:spPr>
          <a:xfrm>
            <a:off x="2025155" y="4268062"/>
            <a:ext cx="4761616" cy="1941899"/>
          </a:xfrm>
          <a:prstGeom prst="arc">
            <a:avLst>
              <a:gd name="adj1" fmla="val 213687"/>
              <a:gd name="adj2" fmla="val 10332374"/>
            </a:avLst>
          </a:prstGeom>
          <a:ln w="25400">
            <a:solidFill>
              <a:srgbClr val="0070C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1941170" y="4546939"/>
            <a:ext cx="1100757" cy="600941"/>
          </a:xfrm>
          <a:prstGeom prst="straightConnector1">
            <a:avLst/>
          </a:prstGeom>
          <a:ln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  <a:endCxn id="7" idx="3"/>
          </p:cNvCxnSpPr>
          <p:nvPr/>
        </p:nvCxnSpPr>
        <p:spPr>
          <a:xfrm flipV="1">
            <a:off x="1941168" y="3976299"/>
            <a:ext cx="1607418" cy="1171581"/>
          </a:xfrm>
          <a:prstGeom prst="straightConnector1">
            <a:avLst/>
          </a:prstGeom>
          <a:ln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  <a:endCxn id="6" idx="2"/>
          </p:cNvCxnSpPr>
          <p:nvPr/>
        </p:nvCxnSpPr>
        <p:spPr>
          <a:xfrm flipV="1">
            <a:off x="1970102" y="4919618"/>
            <a:ext cx="1864979" cy="235591"/>
          </a:xfrm>
          <a:prstGeom prst="straightConnector1">
            <a:avLst/>
          </a:prstGeom>
          <a:ln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  <a:endCxn id="6" idx="6"/>
          </p:cNvCxnSpPr>
          <p:nvPr/>
        </p:nvCxnSpPr>
        <p:spPr>
          <a:xfrm flipH="1" flipV="1">
            <a:off x="4015704" y="4919618"/>
            <a:ext cx="2419530" cy="16738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  <a:endCxn id="5" idx="6"/>
          </p:cNvCxnSpPr>
          <p:nvPr/>
        </p:nvCxnSpPr>
        <p:spPr>
          <a:xfrm flipH="1" flipV="1">
            <a:off x="3239830" y="4505547"/>
            <a:ext cx="3195402" cy="579449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  <a:endCxn id="7" idx="5"/>
          </p:cNvCxnSpPr>
          <p:nvPr/>
        </p:nvCxnSpPr>
        <p:spPr>
          <a:xfrm flipH="1" flipV="1">
            <a:off x="3676305" y="3976299"/>
            <a:ext cx="2758928" cy="1101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830421" y="5159380"/>
            <a:ext cx="1126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Reference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9867" y="5051062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Ras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90057" y="5717069"/>
            <a:ext cx="1665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>
                <a:solidFill>
                  <a:srgbClr val="0070C0"/>
                </a:solidFill>
              </a:rPr>
              <a:t>ReferenceToRas</a:t>
            </a:r>
            <a:endParaRPr lang="en-C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42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Result transform type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CA" dirty="0"/>
              <a:t>Rigid</a:t>
            </a:r>
          </a:p>
          <a:p>
            <a:pPr marL="742950" lvl="1" indent="-285750"/>
            <a:r>
              <a:rPr lang="en-CA" dirty="0"/>
              <a:t>Translation + Rotation</a:t>
            </a:r>
          </a:p>
          <a:p>
            <a:pPr marL="742950" lvl="1" indent="-285750"/>
            <a:r>
              <a:rPr lang="en-CA" dirty="0"/>
              <a:t>Commonly used, because objects don't change size</a:t>
            </a:r>
          </a:p>
          <a:p>
            <a:pPr marL="285750" indent="-285750"/>
            <a:r>
              <a:rPr lang="en-CA" dirty="0"/>
              <a:t>Similarity</a:t>
            </a:r>
          </a:p>
          <a:p>
            <a:pPr marL="742950" lvl="1" indent="-285750"/>
            <a:r>
              <a:rPr lang="en-CA" dirty="0"/>
              <a:t>Translation + Rotation + Scaling</a:t>
            </a:r>
          </a:p>
          <a:p>
            <a:pPr marL="742950" lvl="1" indent="-285750"/>
            <a:r>
              <a:rPr lang="en-CA" dirty="0"/>
              <a:t>Used when changing units, e.g. pixels to millimeters</a:t>
            </a:r>
          </a:p>
          <a:p>
            <a:pPr marL="285750" indent="-285750"/>
            <a:r>
              <a:rPr lang="en-CA" dirty="0"/>
              <a:t>Warping</a:t>
            </a:r>
          </a:p>
          <a:p>
            <a:pPr marL="742950" lvl="1" indent="-285750"/>
            <a:r>
              <a:rPr lang="en-CA" dirty="0"/>
              <a:t>Splines, etc.</a:t>
            </a:r>
          </a:p>
          <a:p>
            <a:pPr marL="742950" lvl="1" indent="-285750"/>
            <a:r>
              <a:rPr lang="en-CA" dirty="0"/>
              <a:t>Used to model soft tissue deformations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43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89967" y="5820061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RMSE = 4.8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1250" y="5820061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RMSE = 4.2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5986" y="5820061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RMSE = 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737" y="3085588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400" dirty="0"/>
              <a:t>Rigid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5145" y="3085588"/>
            <a:ext cx="1350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400" dirty="0"/>
              <a:t>Similarity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2203" y="3085588"/>
            <a:ext cx="1241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400" dirty="0"/>
              <a:t>Warping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155" y="540401"/>
            <a:ext cx="1962027" cy="18538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200" y="3501957"/>
            <a:ext cx="2436497" cy="23068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137" y="3501957"/>
            <a:ext cx="2456778" cy="23068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137" y="3501957"/>
            <a:ext cx="2461358" cy="23181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6318" y="540401"/>
            <a:ext cx="22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Fiducial displacement:</a:t>
            </a:r>
          </a:p>
        </p:txBody>
      </p:sp>
      <p:cxnSp>
        <p:nvCxnSpPr>
          <p:cNvPr id="13" name="Straight Arrow Connector 12"/>
          <p:cNvCxnSpPr>
            <a:cxnSpLocks/>
            <a:endCxn id="14" idx="0"/>
          </p:cNvCxnSpPr>
          <p:nvPr/>
        </p:nvCxnSpPr>
        <p:spPr>
          <a:xfrm flipH="1">
            <a:off x="1515046" y="2394285"/>
            <a:ext cx="1750796" cy="691303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endCxn id="15" idx="0"/>
          </p:cNvCxnSpPr>
          <p:nvPr/>
        </p:nvCxnSpPr>
        <p:spPr>
          <a:xfrm>
            <a:off x="4265232" y="2548647"/>
            <a:ext cx="14938" cy="536941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  <a:endCxn id="16" idx="0"/>
          </p:cNvCxnSpPr>
          <p:nvPr/>
        </p:nvCxnSpPr>
        <p:spPr>
          <a:xfrm>
            <a:off x="5395609" y="2394285"/>
            <a:ext cx="1587405" cy="691303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525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example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scene: </a:t>
            </a:r>
            <a:r>
              <a:rPr lang="en-US" b="1" dirty="0" err="1"/>
              <a:t>SlicerIGT</a:t>
            </a:r>
            <a:r>
              <a:rPr lang="en-US" b="1" dirty="0"/>
              <a:t>-Data/</a:t>
            </a:r>
            <a:r>
              <a:rPr lang="en-US" b="1" dirty="0" err="1"/>
              <a:t>Skull_GroundTruthLandmarks.mrb</a:t>
            </a:r>
            <a:r>
              <a:rPr lang="en-US" b="1" dirty="0"/>
              <a:t> </a:t>
            </a:r>
          </a:p>
          <a:p>
            <a:r>
              <a:rPr lang="en-US" dirty="0"/>
              <a:t>Load additional transform: </a:t>
            </a:r>
            <a:r>
              <a:rPr lang="en-US" b="1" dirty="0" err="1"/>
              <a:t>SlicerIGT</a:t>
            </a:r>
            <a:r>
              <a:rPr lang="en-US" b="1" dirty="0"/>
              <a:t>-Data/Skull_StylusTipToStylus.h5 </a:t>
            </a:r>
          </a:p>
          <a:p>
            <a:r>
              <a:rPr lang="en-US" dirty="0"/>
              <a:t>Create needle model</a:t>
            </a:r>
          </a:p>
          <a:p>
            <a:r>
              <a:rPr lang="en-US" dirty="0"/>
              <a:t>Set up stylus transform hierarchy in </a:t>
            </a:r>
            <a:r>
              <a:rPr lang="en-US" b="1" dirty="0"/>
              <a:t>Data </a:t>
            </a:r>
            <a:r>
              <a:rPr lang="en-US" dirty="0"/>
              <a:t>module: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432" y="4192873"/>
            <a:ext cx="3208525" cy="11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Create input and output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4108603" cy="4995863"/>
          </a:xfrm>
        </p:spPr>
        <p:txBody>
          <a:bodyPr/>
          <a:lstStyle/>
          <a:p>
            <a:r>
              <a:rPr lang="en-CA" dirty="0"/>
              <a:t>Select </a:t>
            </a:r>
            <a:r>
              <a:rPr lang="en-CA" b="1" dirty="0"/>
              <a:t>IGT / Fiducial Registration Wizard </a:t>
            </a:r>
            <a:r>
              <a:rPr lang="en-CA" dirty="0"/>
              <a:t>module</a:t>
            </a:r>
          </a:p>
          <a:p>
            <a:r>
              <a:rPr lang="en-CA" dirty="0"/>
              <a:t>Create </a:t>
            </a:r>
            <a:r>
              <a:rPr lang="en-CA" i="1" dirty="0"/>
              <a:t>From </a:t>
            </a:r>
            <a:r>
              <a:rPr lang="en-CA" dirty="0"/>
              <a:t>fiducials and name the list "</a:t>
            </a:r>
            <a:r>
              <a:rPr lang="en-CA" b="1" dirty="0" err="1"/>
              <a:t>ReferenceFiducials</a:t>
            </a:r>
            <a:r>
              <a:rPr lang="en-CA" dirty="0"/>
              <a:t>"</a:t>
            </a:r>
          </a:p>
          <a:p>
            <a:r>
              <a:rPr lang="en-CA" dirty="0"/>
              <a:t>Create </a:t>
            </a:r>
            <a:r>
              <a:rPr lang="en-CA" i="1" dirty="0"/>
              <a:t>To </a:t>
            </a:r>
            <a:r>
              <a:rPr lang="en-CA" dirty="0"/>
              <a:t>fiducials and name the list "</a:t>
            </a:r>
            <a:r>
              <a:rPr lang="en-CA" b="1" dirty="0" err="1"/>
              <a:t>RasFiducials</a:t>
            </a:r>
            <a:r>
              <a:rPr lang="en-CA" dirty="0"/>
              <a:t>"</a:t>
            </a:r>
          </a:p>
          <a:p>
            <a:r>
              <a:rPr lang="en-CA" dirty="0"/>
              <a:t>Create </a:t>
            </a:r>
            <a:r>
              <a:rPr lang="en-CA" i="1" dirty="0"/>
              <a:t>result transform </a:t>
            </a:r>
            <a:r>
              <a:rPr lang="en-CA" dirty="0"/>
              <a:t>as "</a:t>
            </a:r>
            <a:r>
              <a:rPr lang="en-CA" b="1" dirty="0" err="1"/>
              <a:t>ReferenceToRas</a:t>
            </a:r>
            <a:r>
              <a:rPr lang="en-CA" dirty="0"/>
              <a:t>"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98" y="1000125"/>
            <a:ext cx="4076190" cy="5171429"/>
          </a:xfrm>
          <a:prstGeom prst="rect">
            <a:avLst/>
          </a:prstGeom>
        </p:spPr>
      </p:pic>
      <p:sp>
        <p:nvSpPr>
          <p:cNvPr id="6" name="Arrow: Right 5"/>
          <p:cNvSpPr/>
          <p:nvPr/>
        </p:nvSpPr>
        <p:spPr>
          <a:xfrm>
            <a:off x="6457950" y="1000125"/>
            <a:ext cx="374574" cy="29986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Right 6"/>
          <p:cNvSpPr/>
          <p:nvPr/>
        </p:nvSpPr>
        <p:spPr>
          <a:xfrm rot="10800000">
            <a:off x="6199011" y="2845859"/>
            <a:ext cx="374574" cy="29986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Right 7"/>
          <p:cNvSpPr/>
          <p:nvPr/>
        </p:nvSpPr>
        <p:spPr>
          <a:xfrm rot="10800000">
            <a:off x="5893581" y="4208841"/>
            <a:ext cx="374574" cy="29986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Arrow: Right 8"/>
          <p:cNvSpPr/>
          <p:nvPr/>
        </p:nvSpPr>
        <p:spPr>
          <a:xfrm rot="10800000">
            <a:off x="6080237" y="5871689"/>
            <a:ext cx="374574" cy="29986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114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Set up stylus as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7886700" cy="1471789"/>
          </a:xfrm>
        </p:spPr>
        <p:txBody>
          <a:bodyPr/>
          <a:lstStyle/>
          <a:p>
            <a:r>
              <a:rPr lang="en-CA" dirty="0"/>
              <a:t>Expand </a:t>
            </a:r>
            <a:r>
              <a:rPr lang="en-CA" b="1" dirty="0"/>
              <a:t>Place fiducials using transforms</a:t>
            </a:r>
            <a:r>
              <a:rPr lang="en-CA" dirty="0"/>
              <a:t> group</a:t>
            </a:r>
          </a:p>
          <a:p>
            <a:r>
              <a:rPr lang="en-CA" dirty="0"/>
              <a:t>Select </a:t>
            </a:r>
            <a:r>
              <a:rPr lang="en-CA" b="1" dirty="0" err="1"/>
              <a:t>Skull_StylusTipToStylus</a:t>
            </a:r>
            <a:r>
              <a:rPr lang="en-CA" dirty="0"/>
              <a:t> to place </a:t>
            </a:r>
            <a:r>
              <a:rPr lang="en-CA" i="1" dirty="0"/>
              <a:t>From </a:t>
            </a:r>
            <a:r>
              <a:rPr lang="en-CA" dirty="0"/>
              <a:t>fiducials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8650" y="4071722"/>
            <a:ext cx="7886700" cy="21371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When pressing </a:t>
            </a:r>
            <a:r>
              <a:rPr lang="en-CA" b="1" dirty="0"/>
              <a:t>Place 'From'</a:t>
            </a:r>
            <a:r>
              <a:rPr lang="en-CA" dirty="0"/>
              <a:t> or </a:t>
            </a:r>
            <a:r>
              <a:rPr lang="en-CA" b="1" dirty="0"/>
              <a:t>Place 'To'</a:t>
            </a:r>
            <a:r>
              <a:rPr lang="en-CA" dirty="0"/>
              <a:t> buttons, fiducials are created at the </a:t>
            </a:r>
            <a:r>
              <a:rPr lang="en-CA" i="1" dirty="0"/>
              <a:t>origin</a:t>
            </a:r>
            <a:r>
              <a:rPr lang="en-CA" dirty="0"/>
              <a:t> (0,0,0) of the </a:t>
            </a:r>
            <a:r>
              <a:rPr lang="en-CA" i="1" dirty="0"/>
              <a:t>From</a:t>
            </a:r>
            <a:r>
              <a:rPr lang="en-CA" dirty="0"/>
              <a:t> (first) coordinate system of the selected transform, transformed by the transform hierarchy.</a:t>
            </a:r>
          </a:p>
          <a:p>
            <a:r>
              <a:rPr lang="en-CA" dirty="0"/>
              <a:t>See explanation on next slide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652889"/>
            <a:ext cx="6096000" cy="119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44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4999"/>
          </a:xfrm>
        </p:spPr>
        <p:txBody>
          <a:bodyPr/>
          <a:lstStyle/>
          <a:p>
            <a:r>
              <a:rPr lang="en-CA" dirty="0"/>
              <a:t>How </a:t>
            </a:r>
            <a:r>
              <a:rPr lang="en-CA" i="1" dirty="0"/>
              <a:t>Place fiducials...</a:t>
            </a:r>
            <a:r>
              <a:rPr lang="en-CA" dirty="0"/>
              <a:t>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8</a:t>
            </a:fld>
            <a:endParaRPr lang="en-US"/>
          </a:p>
        </p:txBody>
      </p:sp>
      <p:sp>
        <p:nvSpPr>
          <p:cNvPr id="5" name="Freeform 4"/>
          <p:cNvSpPr/>
          <p:nvPr/>
        </p:nvSpPr>
        <p:spPr bwMode="auto">
          <a:xfrm rot="20707099">
            <a:off x="1998623" y="2252434"/>
            <a:ext cx="2464073" cy="99901"/>
          </a:xfrm>
          <a:custGeom>
            <a:avLst/>
            <a:gdLst>
              <a:gd name="connsiteX0" fmla="*/ 217715 w 3526972"/>
              <a:gd name="connsiteY0" fmla="*/ 119743 h 119743"/>
              <a:gd name="connsiteX1" fmla="*/ 3526972 w 3526972"/>
              <a:gd name="connsiteY1" fmla="*/ 119743 h 119743"/>
              <a:gd name="connsiteX2" fmla="*/ 3526972 w 3526972"/>
              <a:gd name="connsiteY2" fmla="*/ 0 h 119743"/>
              <a:gd name="connsiteX3" fmla="*/ 0 w 3526972"/>
              <a:gd name="connsiteY3" fmla="*/ 0 h 119743"/>
              <a:gd name="connsiteX4" fmla="*/ 217715 w 3526972"/>
              <a:gd name="connsiteY4" fmla="*/ 119743 h 11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6972" h="119743">
                <a:moveTo>
                  <a:pt x="217715" y="119743"/>
                </a:moveTo>
                <a:lnTo>
                  <a:pt x="3526972" y="119743"/>
                </a:lnTo>
                <a:lnTo>
                  <a:pt x="3526972" y="0"/>
                </a:lnTo>
                <a:lnTo>
                  <a:pt x="0" y="0"/>
                </a:lnTo>
                <a:lnTo>
                  <a:pt x="217715" y="11974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00FFFF"/>
              </a:gs>
              <a:gs pos="83000">
                <a:srgbClr val="00ADC4"/>
              </a:gs>
              <a:gs pos="100000">
                <a:srgbClr val="D5FAFF"/>
              </a:gs>
            </a:gsLst>
            <a:lin ang="5400000" scaled="1"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grpSp>
        <p:nvGrpSpPr>
          <p:cNvPr id="6" name="Group 5"/>
          <p:cNvGrpSpPr/>
          <p:nvPr/>
        </p:nvGrpSpPr>
        <p:grpSpPr>
          <a:xfrm>
            <a:off x="3695693" y="960712"/>
            <a:ext cx="1725804" cy="1790152"/>
            <a:chOff x="457200" y="2538948"/>
            <a:chExt cx="1725804" cy="1790152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288177" y="1746543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Stylus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471895" y="1445773"/>
            <a:ext cx="1725804" cy="1790152"/>
            <a:chOff x="457200" y="2538948"/>
            <a:chExt cx="1725804" cy="179015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126152" y="2204366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/>
              <a:t>StylusTip</a:t>
            </a:r>
            <a:endParaRPr lang="en-CA" b="1" dirty="0"/>
          </a:p>
        </p:txBody>
      </p:sp>
      <p:sp>
        <p:nvSpPr>
          <p:cNvPr id="25" name="Arc 24"/>
          <p:cNvSpPr/>
          <p:nvPr/>
        </p:nvSpPr>
        <p:spPr>
          <a:xfrm>
            <a:off x="2198973" y="1120157"/>
            <a:ext cx="2361384" cy="1941899"/>
          </a:xfrm>
          <a:prstGeom prst="arc">
            <a:avLst>
              <a:gd name="adj1" fmla="val 163875"/>
              <a:gd name="adj2" fmla="val 8701781"/>
            </a:avLst>
          </a:prstGeom>
          <a:ln w="25400">
            <a:solidFill>
              <a:srgbClr val="0070C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TextBox 25"/>
          <p:cNvSpPr txBox="1"/>
          <p:nvPr/>
        </p:nvSpPr>
        <p:spPr>
          <a:xfrm>
            <a:off x="2649693" y="3066975"/>
            <a:ext cx="1833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rgbClr val="0070C0"/>
                </a:solidFill>
              </a:rPr>
              <a:t>StylusTipToStylus</a:t>
            </a:r>
            <a:endParaRPr lang="en-CA" b="1" dirty="0">
              <a:solidFill>
                <a:srgbClr val="0070C0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46" y="3785895"/>
            <a:ext cx="1430784" cy="538648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6583872" y="1977970"/>
            <a:ext cx="1725804" cy="1790152"/>
            <a:chOff x="457200" y="2538948"/>
            <a:chExt cx="1725804" cy="1790152"/>
          </a:xfrm>
        </p:grpSpPr>
        <p:cxnSp>
          <p:nvCxnSpPr>
            <p:cNvPr id="29" name="Straight Arrow Connector 28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083790" y="2750864"/>
            <a:ext cx="113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Reference</a:t>
            </a:r>
          </a:p>
        </p:txBody>
      </p:sp>
      <p:sp>
        <p:nvSpPr>
          <p:cNvPr id="36" name="Arc 35"/>
          <p:cNvSpPr/>
          <p:nvPr/>
        </p:nvSpPr>
        <p:spPr>
          <a:xfrm rot="16200000">
            <a:off x="5062850" y="664030"/>
            <a:ext cx="1848585" cy="3585964"/>
          </a:xfrm>
          <a:prstGeom prst="arc">
            <a:avLst>
              <a:gd name="adj1" fmla="val 18127325"/>
              <a:gd name="adj2" fmla="val 6174037"/>
            </a:avLst>
          </a:prstGeom>
          <a:ln w="25400">
            <a:solidFill>
              <a:srgbClr val="0070C0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TextBox 36"/>
          <p:cNvSpPr txBox="1"/>
          <p:nvPr/>
        </p:nvSpPr>
        <p:spPr>
          <a:xfrm>
            <a:off x="5218327" y="1614076"/>
            <a:ext cx="192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rgbClr val="0070C0"/>
                </a:solidFill>
              </a:rPr>
              <a:t>StylusToReference</a:t>
            </a:r>
            <a:endParaRPr lang="en-CA" b="1" dirty="0">
              <a:solidFill>
                <a:srgbClr val="0070C0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1837418" y="2512929"/>
            <a:ext cx="214489" cy="214489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TextBox 38"/>
          <p:cNvSpPr txBox="1"/>
          <p:nvPr/>
        </p:nvSpPr>
        <p:spPr>
          <a:xfrm>
            <a:off x="1969365" y="3817870"/>
            <a:ext cx="648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adds </a:t>
            </a:r>
            <a:r>
              <a:rPr lang="en-CA" sz="2400" b="1" dirty="0"/>
              <a:t>this</a:t>
            </a:r>
            <a:r>
              <a:rPr lang="en-CA" sz="2400" dirty="0"/>
              <a:t> point in </a:t>
            </a:r>
            <a:r>
              <a:rPr lang="en-CA" sz="2400" b="1" dirty="0"/>
              <a:t>this</a:t>
            </a:r>
            <a:r>
              <a:rPr lang="en-CA" sz="2400" dirty="0"/>
              <a:t> coordinate system to </a:t>
            </a:r>
            <a:r>
              <a:rPr lang="en-CA" sz="2400" b="1" dirty="0"/>
              <a:t>this</a:t>
            </a:r>
            <a:r>
              <a:rPr lang="en-CA" sz="2400" dirty="0"/>
              <a:t> list</a:t>
            </a:r>
          </a:p>
        </p:txBody>
      </p:sp>
      <p:cxnSp>
        <p:nvCxnSpPr>
          <p:cNvPr id="41" name="Straight Arrow Connector 40"/>
          <p:cNvCxnSpPr>
            <a:cxnSpLocks/>
            <a:endCxn id="38" idx="5"/>
          </p:cNvCxnSpPr>
          <p:nvPr/>
        </p:nvCxnSpPr>
        <p:spPr>
          <a:xfrm flipH="1" flipV="1">
            <a:off x="2020496" y="2696007"/>
            <a:ext cx="772536" cy="1170307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</p:cNvCxnSpPr>
          <p:nvPr/>
        </p:nvCxnSpPr>
        <p:spPr>
          <a:xfrm flipV="1">
            <a:off x="4683375" y="2974189"/>
            <a:ext cx="2252971" cy="843682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 46"/>
          <p:cNvSpPr/>
          <p:nvPr/>
        </p:nvSpPr>
        <p:spPr>
          <a:xfrm>
            <a:off x="1187606" y="3980508"/>
            <a:ext cx="6810766" cy="593178"/>
          </a:xfrm>
          <a:prstGeom prst="arc">
            <a:avLst>
              <a:gd name="adj1" fmla="val 21434729"/>
              <a:gd name="adj2" fmla="val 10917029"/>
            </a:avLst>
          </a:prstGeom>
          <a:ln w="25400">
            <a:solidFill>
              <a:srgbClr val="FFC000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962" y="5214869"/>
            <a:ext cx="2593078" cy="91185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59476" y="4626224"/>
            <a:ext cx="6853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because of this selection and this transform hierarchy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39" y="5383020"/>
            <a:ext cx="4549588" cy="379132"/>
          </a:xfrm>
          <a:prstGeom prst="rect">
            <a:avLst/>
          </a:prstGeom>
        </p:spPr>
      </p:pic>
      <p:cxnSp>
        <p:nvCxnSpPr>
          <p:cNvPr id="55" name="Straight Arrow Connector 54"/>
          <p:cNvCxnSpPr>
            <a:cxnSpLocks/>
          </p:cNvCxnSpPr>
          <p:nvPr/>
        </p:nvCxnSpPr>
        <p:spPr>
          <a:xfrm>
            <a:off x="2243062" y="5029844"/>
            <a:ext cx="321910" cy="495194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>
            <a:off x="4719999" y="5067018"/>
            <a:ext cx="1089861" cy="316002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657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Populate the </a:t>
            </a:r>
            <a:r>
              <a:rPr lang="en-CA" i="1" dirty="0"/>
              <a:t>'From'</a:t>
            </a:r>
            <a:r>
              <a:rPr lang="en-CA" dirty="0"/>
              <a:t> and </a:t>
            </a:r>
            <a:r>
              <a:rPr lang="en-CA" i="1" dirty="0"/>
              <a:t>'To'</a:t>
            </a:r>
            <a:r>
              <a:rPr lang="en-CA" dirty="0"/>
              <a:t> lists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Select </a:t>
            </a:r>
            <a:r>
              <a:rPr lang="en-CA" b="1" dirty="0" err="1"/>
              <a:t>SequenceBrowser</a:t>
            </a:r>
            <a:r>
              <a:rPr lang="en-CA" dirty="0"/>
              <a:t> node in the Sequence toolbar</a:t>
            </a:r>
          </a:p>
          <a:p>
            <a:r>
              <a:rPr lang="en-CA" dirty="0"/>
              <a:t>Drag the </a:t>
            </a:r>
            <a:r>
              <a:rPr lang="en-CA" b="1" dirty="0"/>
              <a:t>time</a:t>
            </a:r>
            <a:r>
              <a:rPr lang="en-CA" dirty="0"/>
              <a:t> slider to points where you see the stylus placed in skull landmarks in the video</a:t>
            </a:r>
          </a:p>
          <a:p>
            <a:r>
              <a:rPr lang="en-CA" dirty="0"/>
              <a:t>Rotate the 3D view so you see the same landmark point in the surface model</a:t>
            </a:r>
          </a:p>
          <a:p>
            <a:r>
              <a:rPr lang="en-CA" dirty="0"/>
              <a:t>Press the </a:t>
            </a:r>
            <a:r>
              <a:rPr lang="en-CA" b="1" dirty="0"/>
              <a:t>Place 'From'</a:t>
            </a:r>
            <a:r>
              <a:rPr lang="en-CA" dirty="0"/>
              <a:t> button to add a </a:t>
            </a:r>
            <a:r>
              <a:rPr lang="en-CA" i="1" dirty="0"/>
              <a:t>From</a:t>
            </a:r>
            <a:r>
              <a:rPr lang="en-CA" dirty="0"/>
              <a:t> fiducial</a:t>
            </a:r>
          </a:p>
          <a:p>
            <a:r>
              <a:rPr lang="en-CA" dirty="0"/>
              <a:t>Press the fiducial selector       button in the To list and click on surface model to place a </a:t>
            </a:r>
            <a:r>
              <a:rPr lang="en-CA" i="1" dirty="0"/>
              <a:t>To</a:t>
            </a:r>
            <a:r>
              <a:rPr lang="en-CA" dirty="0"/>
              <a:t> fiducial</a:t>
            </a:r>
          </a:p>
          <a:p>
            <a:r>
              <a:rPr lang="en-CA" dirty="0"/>
              <a:t>See next slide for illustration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56" y="4408230"/>
            <a:ext cx="437600" cy="38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87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Adding first point pair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0533"/>
            <a:ext cx="9144000" cy="49652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533180" y="1070533"/>
            <a:ext cx="46358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996768" y="898779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7273" y="5510050"/>
            <a:ext cx="717701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640554" y="5086524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15480" y="388195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15480" y="4329138"/>
            <a:ext cx="401854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720502" y="2397469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4.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20502" y="2844650"/>
            <a:ext cx="401854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31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3853"/>
            <a:ext cx="9144000" cy="49438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Adding second point pair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018602" y="1061933"/>
            <a:ext cx="46358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82190" y="890179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7273" y="5510050"/>
            <a:ext cx="717701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640554" y="5086524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15480" y="388195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15480" y="4329138"/>
            <a:ext cx="401854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720502" y="1833025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4.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20502" y="2280206"/>
            <a:ext cx="401854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5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And so on for many point pairs...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... but how many?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At least 3 point pairs are needed for registration</a:t>
            </a:r>
          </a:p>
          <a:p>
            <a:r>
              <a:rPr lang="en-CA" dirty="0"/>
              <a:t>More point will probably increase accuracy AND slightly increase the RMSE (root mean square error)</a:t>
            </a:r>
          </a:p>
          <a:p>
            <a:r>
              <a:rPr lang="en-CA" dirty="0"/>
              <a:t>Accuracy will increase because random errors cancel each other out</a:t>
            </a:r>
          </a:p>
          <a:p>
            <a:r>
              <a:rPr lang="en-CA" dirty="0"/>
              <a:t>RMSE will increase because of less overfitting</a:t>
            </a:r>
          </a:p>
          <a:p>
            <a:r>
              <a:rPr lang="en-CA" dirty="0"/>
              <a:t>RMSE is an </a:t>
            </a:r>
            <a:r>
              <a:rPr lang="en-CA" u="sng" dirty="0"/>
              <a:t>unknown</a:t>
            </a:r>
            <a:r>
              <a:rPr lang="en-CA" dirty="0"/>
              <a:t> mix of precision and accuracy!</a:t>
            </a:r>
          </a:p>
          <a:p>
            <a:endParaRPr lang="en-C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75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When all point pairs are added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1"/>
            <a:ext cx="7886700" cy="2566810"/>
          </a:xfrm>
        </p:spPr>
        <p:txBody>
          <a:bodyPr/>
          <a:lstStyle/>
          <a:p>
            <a:r>
              <a:rPr lang="en-CA" dirty="0"/>
              <a:t>It is a good idea to switch to </a:t>
            </a:r>
            <a:r>
              <a:rPr lang="en-CA" b="1" dirty="0"/>
              <a:t>Manual update </a:t>
            </a:r>
            <a:r>
              <a:rPr lang="en-CA" dirty="0"/>
              <a:t>from </a:t>
            </a:r>
            <a:r>
              <a:rPr lang="en-CA" b="1" dirty="0"/>
              <a:t>Auto-update</a:t>
            </a:r>
            <a:r>
              <a:rPr lang="en-CA" dirty="0"/>
              <a:t> to prevent errors when accidentally moving fiducials later in the scene</a:t>
            </a:r>
          </a:p>
          <a:p>
            <a:r>
              <a:rPr lang="en-CA" dirty="0"/>
              <a:t>Save the </a:t>
            </a:r>
            <a:r>
              <a:rPr lang="en-CA" b="1" dirty="0" err="1"/>
              <a:t>ReferenceToRas</a:t>
            </a:r>
            <a:r>
              <a:rPr lang="en-CA" dirty="0"/>
              <a:t> transform, or save the entire scene, in case you want to check the result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932" y="3951111"/>
            <a:ext cx="6392168" cy="199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5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5AEEC3C-57F5-458C-A259-BEA2AFF0D77B}" vid="{F032F1CB-9777-488E-B287-8CA49E564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1428</TotalTime>
  <Words>513</Words>
  <Application>Microsoft Office PowerPoint</Application>
  <PresentationFormat>On-screen Show (4:3)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Landmark registration</vt:lpstr>
      <vt:lpstr>Landmark registration</vt:lpstr>
      <vt:lpstr>Result transform type</vt:lpstr>
      <vt:lpstr>PowerPoint Presentation</vt:lpstr>
      <vt:lpstr>Load example data</vt:lpstr>
      <vt:lpstr>Create input and output nodes</vt:lpstr>
      <vt:lpstr>Set up stylus as input</vt:lpstr>
      <vt:lpstr>How Place fiducials... work</vt:lpstr>
      <vt:lpstr>Populate the 'From' and 'To' lists</vt:lpstr>
      <vt:lpstr>Adding first point pair</vt:lpstr>
      <vt:lpstr>Adding second point pair</vt:lpstr>
      <vt:lpstr>And so on for many point pairs...</vt:lpstr>
      <vt:lpstr>When all point pairs are added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Ungi</dc:creator>
  <cp:lastModifiedBy>Tamas Ungi</cp:lastModifiedBy>
  <cp:revision>8</cp:revision>
  <dcterms:created xsi:type="dcterms:W3CDTF">2014-04-04T16:52:35Z</dcterms:created>
  <dcterms:modified xsi:type="dcterms:W3CDTF">2017-01-23T07:16:25Z</dcterms:modified>
</cp:coreProperties>
</file>