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57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77" autoAdjust="0"/>
    <p:restoredTop sz="94660"/>
  </p:normalViewPr>
  <p:slideViewPr>
    <p:cSldViewPr snapToGrid="0">
      <p:cViewPr varScale="1">
        <p:scale>
          <a:sx n="85" d="100"/>
          <a:sy n="85" d="100"/>
        </p:scale>
        <p:origin x="9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820B5-36C0-4794-9E01-220C2D3A21D1}" type="datetimeFigureOut">
              <a:rPr lang="en-US" smtClean="0"/>
              <a:t>1/2/2017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EFC5FD-8DBC-4524-99EA-FCD3D8A86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132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349910" y="3831150"/>
            <a:ext cx="5651090" cy="1426649"/>
          </a:xfrm>
        </p:spPr>
        <p:txBody>
          <a:bodyPr/>
          <a:lstStyle>
            <a:lvl1pPr marL="0" indent="0" algn="l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SlicerIGT</a:t>
            </a:r>
            <a:r>
              <a:rPr lang="en-US" dirty="0"/>
              <a:t> Tutorial Series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1080626" y="3602038"/>
            <a:ext cx="1269284" cy="924063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2163096" y="3716594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820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667671" y="6314722"/>
            <a:ext cx="695325" cy="506210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1278192" y="6334386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 userDrawn="1"/>
        </p:nvSpPr>
        <p:spPr>
          <a:xfrm>
            <a:off x="1333500" y="6381750"/>
            <a:ext cx="1880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70C0"/>
                </a:solidFill>
              </a:rPr>
              <a:t>SlicerIGT</a:t>
            </a:r>
            <a:r>
              <a:rPr lang="en-US" sz="1400" i="1" baseline="0" dirty="0">
                <a:solidFill>
                  <a:srgbClr val="0070C0"/>
                </a:solidFill>
              </a:rPr>
              <a:t> Tutorial Series</a:t>
            </a:r>
            <a:endParaRPr lang="en-US" sz="14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746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667671" y="6314722"/>
            <a:ext cx="695325" cy="506210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1278192" y="6334386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1333500" y="6381750"/>
            <a:ext cx="1880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70C0"/>
                </a:solidFill>
              </a:rPr>
              <a:t>SlicerIGT</a:t>
            </a:r>
            <a:r>
              <a:rPr lang="en-US" sz="1400" i="1" baseline="0" dirty="0">
                <a:solidFill>
                  <a:srgbClr val="0070C0"/>
                </a:solidFill>
              </a:rPr>
              <a:t> Tutorial Series</a:t>
            </a:r>
            <a:endParaRPr lang="en-US" sz="14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702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45" b="27021"/>
          <a:stretch/>
        </p:blipFill>
        <p:spPr>
          <a:xfrm>
            <a:off x="667671" y="6314722"/>
            <a:ext cx="695325" cy="506210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>
            <a:off x="1278192" y="6334386"/>
            <a:ext cx="4090219" cy="0"/>
          </a:xfrm>
          <a:prstGeom prst="lin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1333500" y="6381750"/>
            <a:ext cx="18806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rgbClr val="0070C0"/>
                </a:solidFill>
              </a:rPr>
              <a:t>SlicerIGT</a:t>
            </a:r>
            <a:r>
              <a:rPr lang="en-US" sz="1400" i="1" baseline="0" dirty="0">
                <a:solidFill>
                  <a:srgbClr val="0070C0"/>
                </a:solidFill>
              </a:rPr>
              <a:t> Tutorial Series</a:t>
            </a:r>
            <a:endParaRPr lang="en-US" sz="14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664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3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181100"/>
            <a:ext cx="7886700" cy="4995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33501" y="6356351"/>
            <a:ext cx="4781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 i="1">
                <a:solidFill>
                  <a:srgbClr val="0070C0"/>
                </a:solidFill>
              </a:defRPr>
            </a:lvl1pPr>
          </a:lstStyle>
          <a:p>
            <a:pPr algn="l"/>
            <a:r>
              <a:rPr lang="en-CA" dirty="0" err="1"/>
              <a:t>SlicerIGT</a:t>
            </a:r>
            <a:r>
              <a:rPr lang="en-CA" dirty="0"/>
              <a:t> Tutorial Series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4E161-ED1F-470E-9199-7D8E989353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8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67" r:id="rId4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Surface registration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SlicerIGT </a:t>
            </a:r>
            <a:r>
              <a:rPr lang="en-US"/>
              <a:t>Tutorial Series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131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Registration methods overview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Dimension</a:t>
            </a:r>
          </a:p>
          <a:p>
            <a:pPr lvl="1"/>
            <a:r>
              <a:rPr lang="en-CA" dirty="0">
                <a:highlight>
                  <a:srgbClr val="FFFF00"/>
                </a:highlight>
              </a:rPr>
              <a:t>3D</a:t>
            </a:r>
            <a:r>
              <a:rPr lang="en-CA" dirty="0"/>
              <a:t>/2D to </a:t>
            </a:r>
            <a:r>
              <a:rPr lang="en-CA" dirty="0">
                <a:highlight>
                  <a:srgbClr val="FFFF00"/>
                </a:highlight>
              </a:rPr>
              <a:t>3D</a:t>
            </a:r>
            <a:r>
              <a:rPr lang="en-CA" dirty="0"/>
              <a:t>/2D</a:t>
            </a:r>
          </a:p>
          <a:p>
            <a:r>
              <a:rPr lang="en-CA" dirty="0"/>
              <a:t>Metric</a:t>
            </a:r>
          </a:p>
          <a:p>
            <a:pPr lvl="1"/>
            <a:r>
              <a:rPr lang="en-CA" dirty="0"/>
              <a:t>Point distance-based</a:t>
            </a:r>
          </a:p>
          <a:p>
            <a:pPr lvl="1"/>
            <a:r>
              <a:rPr lang="en-CA" dirty="0">
                <a:highlight>
                  <a:srgbClr val="FFFF00"/>
                </a:highlight>
              </a:rPr>
              <a:t>Surface distance-based</a:t>
            </a:r>
          </a:p>
          <a:p>
            <a:pPr lvl="1"/>
            <a:r>
              <a:rPr lang="en-CA" dirty="0"/>
              <a:t>Image similarity-based</a:t>
            </a:r>
          </a:p>
          <a:p>
            <a:r>
              <a:rPr lang="en-CA" dirty="0"/>
              <a:t>Transformation</a:t>
            </a:r>
          </a:p>
          <a:p>
            <a:pPr lvl="1"/>
            <a:r>
              <a:rPr lang="en-CA" dirty="0">
                <a:highlight>
                  <a:srgbClr val="FFFF00"/>
                </a:highlight>
              </a:rPr>
              <a:t>Rigid</a:t>
            </a:r>
          </a:p>
          <a:p>
            <a:pPr lvl="1"/>
            <a:r>
              <a:rPr lang="en-CA" dirty="0"/>
              <a:t>Similarity</a:t>
            </a:r>
          </a:p>
          <a:p>
            <a:pPr lvl="1"/>
            <a:r>
              <a:rPr lang="en-CA" dirty="0"/>
              <a:t>Deformable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722064" y="3408671"/>
            <a:ext cx="20809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/>
              <a:t>this example</a:t>
            </a:r>
          </a:p>
        </p:txBody>
      </p:sp>
      <p:cxnSp>
        <p:nvCxnSpPr>
          <p:cNvPr id="11" name="Straight Arrow Connector 10"/>
          <p:cNvCxnSpPr>
            <a:cxnSpLocks/>
          </p:cNvCxnSpPr>
          <p:nvPr/>
        </p:nvCxnSpPr>
        <p:spPr>
          <a:xfrm>
            <a:off x="3514381" y="1861851"/>
            <a:ext cx="2061276" cy="150744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cxnSpLocks/>
          </p:cNvCxnSpPr>
          <p:nvPr/>
        </p:nvCxnSpPr>
        <p:spPr>
          <a:xfrm>
            <a:off x="4346222" y="3213791"/>
            <a:ext cx="1229435" cy="465240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cxnSpLocks/>
          </p:cNvCxnSpPr>
          <p:nvPr/>
        </p:nvCxnSpPr>
        <p:spPr>
          <a:xfrm flipV="1">
            <a:off x="2257778" y="3931891"/>
            <a:ext cx="3317879" cy="490119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5836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Surface registration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81101"/>
            <a:ext cx="7886700" cy="2803878"/>
          </a:xfrm>
        </p:spPr>
        <p:txBody>
          <a:bodyPr/>
          <a:lstStyle/>
          <a:p>
            <a:r>
              <a:rPr lang="en-CA" dirty="0"/>
              <a:t>Finds transformation that minimizes points cumulative distance from a surface</a:t>
            </a:r>
          </a:p>
          <a:p>
            <a:r>
              <a:rPr lang="en-CA" dirty="0"/>
              <a:t>Computation iterative, needs stopping condition</a:t>
            </a:r>
          </a:p>
          <a:p>
            <a:r>
              <a:rPr lang="en-CA" dirty="0"/>
              <a:t>Requires initial registration</a:t>
            </a:r>
          </a:p>
          <a:p>
            <a:r>
              <a:rPr lang="en-CA" dirty="0"/>
              <a:t>Implementation: </a:t>
            </a:r>
            <a:r>
              <a:rPr lang="en-CA" dirty="0" err="1"/>
              <a:t>vtkIterativeClosestPointTransform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3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4113377" y="3925630"/>
            <a:ext cx="1725804" cy="1790152"/>
            <a:chOff x="457200" y="2538948"/>
            <a:chExt cx="1725804" cy="1790152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926595" y="2618910"/>
              <a:ext cx="0" cy="10801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>
              <a:off x="926595" y="3699030"/>
              <a:ext cx="11701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 flipH="1">
              <a:off x="457200" y="3699030"/>
              <a:ext cx="469395" cy="4693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1871700" y="3734743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X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81648" y="253894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Y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89522" y="3959768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Z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 rot="579048">
            <a:off x="4911583" y="4282025"/>
            <a:ext cx="1725804" cy="1790152"/>
            <a:chOff x="457200" y="2538948"/>
            <a:chExt cx="1725804" cy="1790152"/>
          </a:xfrm>
        </p:grpSpPr>
        <p:cxnSp>
          <p:nvCxnSpPr>
            <p:cNvPr id="13" name="Straight Arrow Connector 12"/>
            <p:cNvCxnSpPr/>
            <p:nvPr/>
          </p:nvCxnSpPr>
          <p:spPr>
            <a:xfrm flipV="1">
              <a:off x="926595" y="2618910"/>
              <a:ext cx="0" cy="10801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926595" y="3699030"/>
              <a:ext cx="11701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H="1">
              <a:off x="457200" y="3699030"/>
              <a:ext cx="469395" cy="4693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1871700" y="3734743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X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81648" y="253894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Y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89522" y="3959768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Z</a:t>
              </a:r>
            </a:p>
          </p:txBody>
        </p:sp>
      </p:grpSp>
      <p:sp>
        <p:nvSpPr>
          <p:cNvPr id="19" name="Oval 18"/>
          <p:cNvSpPr/>
          <p:nvPr/>
        </p:nvSpPr>
        <p:spPr>
          <a:xfrm>
            <a:off x="2520540" y="4445907"/>
            <a:ext cx="180623" cy="1580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Oval 19"/>
          <p:cNvSpPr/>
          <p:nvPr/>
        </p:nvSpPr>
        <p:spPr>
          <a:xfrm>
            <a:off x="2950508" y="5339521"/>
            <a:ext cx="180623" cy="1580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Oval 20"/>
          <p:cNvSpPr/>
          <p:nvPr/>
        </p:nvSpPr>
        <p:spPr>
          <a:xfrm>
            <a:off x="2656005" y="4874296"/>
            <a:ext cx="180623" cy="1580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Arc 21"/>
          <p:cNvSpPr/>
          <p:nvPr/>
        </p:nvSpPr>
        <p:spPr>
          <a:xfrm>
            <a:off x="4557976" y="5311613"/>
            <a:ext cx="1075976" cy="619843"/>
          </a:xfrm>
          <a:prstGeom prst="arc">
            <a:avLst>
              <a:gd name="adj1" fmla="val 607892"/>
              <a:gd name="adj2" fmla="val 12230685"/>
            </a:avLst>
          </a:prstGeom>
          <a:ln w="25400">
            <a:solidFill>
              <a:srgbClr val="0070C0"/>
            </a:solidFill>
            <a:prstDash val="solid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3" name="TextBox 22"/>
          <p:cNvSpPr txBox="1"/>
          <p:nvPr/>
        </p:nvSpPr>
        <p:spPr>
          <a:xfrm>
            <a:off x="4520643" y="5081447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Initial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88892" y="5376448"/>
            <a:ext cx="510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Ras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8450" y="5829519"/>
            <a:ext cx="124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err="1">
                <a:solidFill>
                  <a:srgbClr val="0070C0"/>
                </a:solidFill>
              </a:rPr>
              <a:t>InitialToRas</a:t>
            </a:r>
            <a:endParaRPr lang="en-CA" dirty="0">
              <a:solidFill>
                <a:srgbClr val="0070C0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2647084" y="4125743"/>
            <a:ext cx="180623" cy="1580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Freeform: Shape 27"/>
          <p:cNvSpPr/>
          <p:nvPr/>
        </p:nvSpPr>
        <p:spPr>
          <a:xfrm>
            <a:off x="3081867" y="4007556"/>
            <a:ext cx="677333" cy="1885244"/>
          </a:xfrm>
          <a:custGeom>
            <a:avLst/>
            <a:gdLst>
              <a:gd name="connsiteX0" fmla="*/ 214489 w 677333"/>
              <a:gd name="connsiteY0" fmla="*/ 135466 h 1885244"/>
              <a:gd name="connsiteX1" fmla="*/ 22577 w 677333"/>
              <a:gd name="connsiteY1" fmla="*/ 462844 h 1885244"/>
              <a:gd name="connsiteX2" fmla="*/ 0 w 677333"/>
              <a:gd name="connsiteY2" fmla="*/ 733777 h 1885244"/>
              <a:gd name="connsiteX3" fmla="*/ 112889 w 677333"/>
              <a:gd name="connsiteY3" fmla="*/ 1106311 h 1885244"/>
              <a:gd name="connsiteX4" fmla="*/ 203200 w 677333"/>
              <a:gd name="connsiteY4" fmla="*/ 1399822 h 1885244"/>
              <a:gd name="connsiteX5" fmla="*/ 327377 w 677333"/>
              <a:gd name="connsiteY5" fmla="*/ 1614311 h 1885244"/>
              <a:gd name="connsiteX6" fmla="*/ 620889 w 677333"/>
              <a:gd name="connsiteY6" fmla="*/ 1885244 h 1885244"/>
              <a:gd name="connsiteX7" fmla="*/ 677333 w 677333"/>
              <a:gd name="connsiteY7" fmla="*/ 1603022 h 1885244"/>
              <a:gd name="connsiteX8" fmla="*/ 474133 w 677333"/>
              <a:gd name="connsiteY8" fmla="*/ 1456266 h 1885244"/>
              <a:gd name="connsiteX9" fmla="*/ 564444 w 677333"/>
              <a:gd name="connsiteY9" fmla="*/ 1332088 h 1885244"/>
              <a:gd name="connsiteX10" fmla="*/ 474133 w 677333"/>
              <a:gd name="connsiteY10" fmla="*/ 1264355 h 1885244"/>
              <a:gd name="connsiteX11" fmla="*/ 643466 w 677333"/>
              <a:gd name="connsiteY11" fmla="*/ 982133 h 1885244"/>
              <a:gd name="connsiteX12" fmla="*/ 474133 w 677333"/>
              <a:gd name="connsiteY12" fmla="*/ 959555 h 1885244"/>
              <a:gd name="connsiteX13" fmla="*/ 587022 w 677333"/>
              <a:gd name="connsiteY13" fmla="*/ 654755 h 1885244"/>
              <a:gd name="connsiteX14" fmla="*/ 282222 w 677333"/>
              <a:gd name="connsiteY14" fmla="*/ 609600 h 1885244"/>
              <a:gd name="connsiteX15" fmla="*/ 553155 w 677333"/>
              <a:gd name="connsiteY15" fmla="*/ 496711 h 1885244"/>
              <a:gd name="connsiteX16" fmla="*/ 440266 w 677333"/>
              <a:gd name="connsiteY16" fmla="*/ 395111 h 1885244"/>
              <a:gd name="connsiteX17" fmla="*/ 587022 w 677333"/>
              <a:gd name="connsiteY17" fmla="*/ 282222 h 1885244"/>
              <a:gd name="connsiteX18" fmla="*/ 395111 w 677333"/>
              <a:gd name="connsiteY18" fmla="*/ 237066 h 1885244"/>
              <a:gd name="connsiteX19" fmla="*/ 440266 w 677333"/>
              <a:gd name="connsiteY19" fmla="*/ 101600 h 1885244"/>
              <a:gd name="connsiteX20" fmla="*/ 316089 w 677333"/>
              <a:gd name="connsiteY20" fmla="*/ 101600 h 1885244"/>
              <a:gd name="connsiteX21" fmla="*/ 338666 w 677333"/>
              <a:gd name="connsiteY21" fmla="*/ 0 h 1885244"/>
              <a:gd name="connsiteX22" fmla="*/ 214489 w 677333"/>
              <a:gd name="connsiteY22" fmla="*/ 135466 h 1885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677333" h="1885244">
                <a:moveTo>
                  <a:pt x="214489" y="135466"/>
                </a:moveTo>
                <a:lnTo>
                  <a:pt x="22577" y="462844"/>
                </a:lnTo>
                <a:lnTo>
                  <a:pt x="0" y="733777"/>
                </a:lnTo>
                <a:lnTo>
                  <a:pt x="112889" y="1106311"/>
                </a:lnTo>
                <a:lnTo>
                  <a:pt x="203200" y="1399822"/>
                </a:lnTo>
                <a:lnTo>
                  <a:pt x="327377" y="1614311"/>
                </a:lnTo>
                <a:lnTo>
                  <a:pt x="620889" y="1885244"/>
                </a:lnTo>
                <a:lnTo>
                  <a:pt x="677333" y="1603022"/>
                </a:lnTo>
                <a:lnTo>
                  <a:pt x="474133" y="1456266"/>
                </a:lnTo>
                <a:lnTo>
                  <a:pt x="564444" y="1332088"/>
                </a:lnTo>
                <a:lnTo>
                  <a:pt x="474133" y="1264355"/>
                </a:lnTo>
                <a:lnTo>
                  <a:pt x="643466" y="982133"/>
                </a:lnTo>
                <a:lnTo>
                  <a:pt x="474133" y="959555"/>
                </a:lnTo>
                <a:lnTo>
                  <a:pt x="587022" y="654755"/>
                </a:lnTo>
                <a:lnTo>
                  <a:pt x="282222" y="609600"/>
                </a:lnTo>
                <a:lnTo>
                  <a:pt x="553155" y="496711"/>
                </a:lnTo>
                <a:lnTo>
                  <a:pt x="440266" y="395111"/>
                </a:lnTo>
                <a:lnTo>
                  <a:pt x="587022" y="282222"/>
                </a:lnTo>
                <a:lnTo>
                  <a:pt x="395111" y="237066"/>
                </a:lnTo>
                <a:lnTo>
                  <a:pt x="440266" y="101600"/>
                </a:lnTo>
                <a:lnTo>
                  <a:pt x="316089" y="101600"/>
                </a:lnTo>
                <a:lnTo>
                  <a:pt x="338666" y="0"/>
                </a:lnTo>
                <a:lnTo>
                  <a:pt x="214489" y="135466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47000">
                <a:schemeClr val="bg1">
                  <a:lumMod val="75000"/>
                </a:schemeClr>
              </a:gs>
              <a:gs pos="83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108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1762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Registration strategy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4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4762976" y="2268032"/>
            <a:ext cx="1725804" cy="1790152"/>
            <a:chOff x="457200" y="2538948"/>
            <a:chExt cx="1725804" cy="1790152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926595" y="2618910"/>
              <a:ext cx="0" cy="10801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>
              <a:off x="926595" y="3699030"/>
              <a:ext cx="11701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 flipH="1">
              <a:off x="457200" y="3699030"/>
              <a:ext cx="469395" cy="4693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1871700" y="3734743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X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81648" y="253894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Y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89522" y="3959768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Z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 rot="579048">
            <a:off x="5561182" y="2624427"/>
            <a:ext cx="1725804" cy="1790152"/>
            <a:chOff x="457200" y="2538948"/>
            <a:chExt cx="1725804" cy="1790152"/>
          </a:xfrm>
        </p:grpSpPr>
        <p:cxnSp>
          <p:nvCxnSpPr>
            <p:cNvPr id="13" name="Straight Arrow Connector 12"/>
            <p:cNvCxnSpPr/>
            <p:nvPr/>
          </p:nvCxnSpPr>
          <p:spPr>
            <a:xfrm flipV="1">
              <a:off x="926595" y="2618910"/>
              <a:ext cx="0" cy="10801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926595" y="3699030"/>
              <a:ext cx="11701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H="1">
              <a:off x="457200" y="3699030"/>
              <a:ext cx="469395" cy="4693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1871700" y="3734743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X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81648" y="253894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Y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89522" y="3959768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Z</a:t>
              </a:r>
            </a:p>
          </p:txBody>
        </p:sp>
      </p:grpSp>
      <p:sp>
        <p:nvSpPr>
          <p:cNvPr id="19" name="Arc 18"/>
          <p:cNvSpPr/>
          <p:nvPr/>
        </p:nvSpPr>
        <p:spPr>
          <a:xfrm>
            <a:off x="5207575" y="3654015"/>
            <a:ext cx="1075976" cy="619843"/>
          </a:xfrm>
          <a:prstGeom prst="arc">
            <a:avLst>
              <a:gd name="adj1" fmla="val 607892"/>
              <a:gd name="adj2" fmla="val 12230685"/>
            </a:avLst>
          </a:prstGeom>
          <a:ln w="25400">
            <a:solidFill>
              <a:srgbClr val="0070C0"/>
            </a:solidFill>
            <a:prstDash val="solid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0" name="TextBox 19"/>
          <p:cNvSpPr txBox="1"/>
          <p:nvPr/>
        </p:nvSpPr>
        <p:spPr>
          <a:xfrm>
            <a:off x="5216874" y="3439062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Initial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8491" y="3718850"/>
            <a:ext cx="510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Ras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8049" y="4171921"/>
            <a:ext cx="124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err="1">
                <a:solidFill>
                  <a:srgbClr val="0070C0"/>
                </a:solidFill>
              </a:rPr>
              <a:t>InitialToRas</a:t>
            </a:r>
            <a:endParaRPr lang="en-CA" dirty="0">
              <a:solidFill>
                <a:srgbClr val="0070C0"/>
              </a:solidFill>
            </a:endParaRPr>
          </a:p>
        </p:txBody>
      </p:sp>
      <p:grpSp>
        <p:nvGrpSpPr>
          <p:cNvPr id="23" name="Group 22"/>
          <p:cNvGrpSpPr/>
          <p:nvPr/>
        </p:nvGrpSpPr>
        <p:grpSpPr>
          <a:xfrm rot="21153620">
            <a:off x="1551288" y="1754880"/>
            <a:ext cx="1725804" cy="1790152"/>
            <a:chOff x="457200" y="2538948"/>
            <a:chExt cx="1725804" cy="1790152"/>
          </a:xfrm>
        </p:grpSpPr>
        <p:cxnSp>
          <p:nvCxnSpPr>
            <p:cNvPr id="24" name="Straight Arrow Connector 23"/>
            <p:cNvCxnSpPr/>
            <p:nvPr/>
          </p:nvCxnSpPr>
          <p:spPr>
            <a:xfrm flipV="1">
              <a:off x="926595" y="2618910"/>
              <a:ext cx="0" cy="108012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926595" y="3699030"/>
              <a:ext cx="117013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H="1">
              <a:off x="457200" y="3699030"/>
              <a:ext cx="469395" cy="4693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1871700" y="3734743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X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81648" y="2538948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Y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89522" y="3959768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b="1" dirty="0"/>
                <a:t>Z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2060621" y="2987925"/>
            <a:ext cx="1126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Reference</a:t>
            </a:r>
          </a:p>
        </p:txBody>
      </p:sp>
      <p:sp>
        <p:nvSpPr>
          <p:cNvPr id="31" name="Arc 30"/>
          <p:cNvSpPr/>
          <p:nvPr/>
        </p:nvSpPr>
        <p:spPr>
          <a:xfrm rot="364530">
            <a:off x="2489544" y="3019277"/>
            <a:ext cx="3212626" cy="619843"/>
          </a:xfrm>
          <a:prstGeom prst="arc">
            <a:avLst>
              <a:gd name="adj1" fmla="val 607892"/>
              <a:gd name="adj2" fmla="val 10406350"/>
            </a:avLst>
          </a:prstGeom>
          <a:ln w="25400">
            <a:solidFill>
              <a:srgbClr val="0070C0"/>
            </a:solidFill>
            <a:prstDash val="solid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2" name="TextBox 31"/>
          <p:cNvSpPr txBox="1"/>
          <p:nvPr/>
        </p:nvSpPr>
        <p:spPr>
          <a:xfrm>
            <a:off x="2769492" y="3688852"/>
            <a:ext cx="1866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err="1">
                <a:solidFill>
                  <a:srgbClr val="0070C0"/>
                </a:solidFill>
              </a:rPr>
              <a:t>ReferenceToInitial</a:t>
            </a:r>
            <a:endParaRPr lang="en-CA" dirty="0">
              <a:solidFill>
                <a:srgbClr val="0070C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88784" y="4295864"/>
            <a:ext cx="25514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Fiducial Registration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3 points in </a:t>
            </a:r>
            <a:r>
              <a:rPr lang="en-CA" b="1" dirty="0"/>
              <a:t>Reference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3 points in </a:t>
            </a:r>
            <a:r>
              <a:rPr lang="en-CA" b="1" dirty="0"/>
              <a:t>Initial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approximate locations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5298" y="4695448"/>
            <a:ext cx="33825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Fiducial-Model Registration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~30-40 points in </a:t>
            </a:r>
            <a:r>
              <a:rPr lang="en-CA" b="1" dirty="0"/>
              <a:t>Initial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CT-based surface model in </a:t>
            </a:r>
            <a:r>
              <a:rPr lang="en-CA" b="1" dirty="0"/>
              <a:t>RAS</a:t>
            </a:r>
          </a:p>
        </p:txBody>
      </p:sp>
    </p:spTree>
    <p:extLst>
      <p:ext uri="{BB962C8B-B14F-4D97-AF65-F5344CB8AC3E}">
        <p14:creationId xmlns:p14="http://schemas.microsoft.com/office/powerpoint/2010/main" val="871197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Load example scene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Load three pieces of data in a clean Slicer scene:</a:t>
            </a:r>
          </a:p>
          <a:p>
            <a:pPr lvl="1"/>
            <a:r>
              <a:rPr lang="en-US" dirty="0" err="1"/>
              <a:t>SlicerIGT</a:t>
            </a:r>
            <a:r>
              <a:rPr lang="en-US" dirty="0"/>
              <a:t>-Data\</a:t>
            </a:r>
            <a:r>
              <a:rPr lang="en-US" dirty="0" err="1"/>
              <a:t>Skull_Registrations.mrb</a:t>
            </a:r>
            <a:r>
              <a:rPr lang="en-US" dirty="0"/>
              <a:t> contains stylus position and video sequences</a:t>
            </a:r>
          </a:p>
          <a:p>
            <a:pPr lvl="1"/>
            <a:r>
              <a:rPr lang="en-US" dirty="0" err="1"/>
              <a:t>SlicerIGT</a:t>
            </a:r>
            <a:r>
              <a:rPr lang="en-US" dirty="0"/>
              <a:t>-Data\</a:t>
            </a:r>
            <a:r>
              <a:rPr lang="en-US" dirty="0" err="1"/>
              <a:t>Skull_Phantom.vtk</a:t>
            </a:r>
            <a:r>
              <a:rPr lang="en-US" dirty="0"/>
              <a:t> contains a detailed surface model of the skull</a:t>
            </a:r>
          </a:p>
          <a:p>
            <a:pPr lvl="1"/>
            <a:r>
              <a:rPr lang="en-US" dirty="0" err="1"/>
              <a:t>SlicerIGT</a:t>
            </a:r>
            <a:r>
              <a:rPr lang="en-US" dirty="0"/>
              <a:t>-Data\Skull_StylusTipToStylus.h5 contains pivot calibration for the stylus</a:t>
            </a:r>
          </a:p>
          <a:p>
            <a:r>
              <a:rPr lang="en-US" dirty="0"/>
              <a:t>You can drag-and-drop all these files on Slicer and load them with default options</a:t>
            </a:r>
          </a:p>
          <a:p>
            <a:r>
              <a:rPr lang="en-US" dirty="0"/>
              <a:t>Create a needle model using </a:t>
            </a:r>
            <a:r>
              <a:rPr lang="en-US" b="1" dirty="0"/>
              <a:t>IGT / </a:t>
            </a:r>
            <a:r>
              <a:rPr lang="en-US" b="1" dirty="0" err="1"/>
              <a:t>CreateModels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5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Set up transform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Select </a:t>
            </a:r>
            <a:r>
              <a:rPr lang="en-CA" b="1" dirty="0"/>
              <a:t>Data</a:t>
            </a:r>
            <a:r>
              <a:rPr lang="en-CA" dirty="0"/>
              <a:t> module</a:t>
            </a:r>
          </a:p>
          <a:p>
            <a:r>
              <a:rPr lang="en-CA" dirty="0"/>
              <a:t>Right-click on Scene and insert new transform, and double-click on it to rename to </a:t>
            </a:r>
            <a:r>
              <a:rPr lang="en-CA" b="1" dirty="0" err="1"/>
              <a:t>InitialToRas</a:t>
            </a:r>
            <a:endParaRPr lang="en-CA" b="1" dirty="0"/>
          </a:p>
          <a:p>
            <a:r>
              <a:rPr lang="en-CA" dirty="0"/>
              <a:t>Right-click on </a:t>
            </a:r>
            <a:r>
              <a:rPr lang="en-CA" dirty="0" err="1"/>
              <a:t>InitialToRas</a:t>
            </a:r>
            <a:r>
              <a:rPr lang="en-CA" dirty="0"/>
              <a:t> and insert transform, and double-click to rename it to </a:t>
            </a:r>
            <a:r>
              <a:rPr lang="en-CA" b="1" dirty="0" err="1"/>
              <a:t>ReferenceToInitial</a:t>
            </a:r>
            <a:endParaRPr lang="en-CA" b="1" dirty="0"/>
          </a:p>
          <a:p>
            <a:r>
              <a:rPr lang="en-CA" dirty="0"/>
              <a:t>Drag and Drop nodes to get the following transform hierarchy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810" y="4598157"/>
            <a:ext cx="3747286" cy="157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529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Set up initial registration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Select </a:t>
            </a:r>
            <a:r>
              <a:rPr lang="en-CA" b="1" dirty="0"/>
              <a:t>IGT / Fiducial Registration Wizard </a:t>
            </a:r>
            <a:r>
              <a:rPr lang="en-CA" dirty="0"/>
              <a:t>module</a:t>
            </a:r>
          </a:p>
          <a:p>
            <a:r>
              <a:rPr lang="en-CA" dirty="0"/>
              <a:t>Create </a:t>
            </a:r>
            <a:r>
              <a:rPr lang="en-CA" i="1" dirty="0"/>
              <a:t>From</a:t>
            </a:r>
            <a:r>
              <a:rPr lang="en-CA" dirty="0"/>
              <a:t> fiducials as </a:t>
            </a:r>
            <a:r>
              <a:rPr lang="en-CA" b="1" dirty="0" err="1"/>
              <a:t>ReferencePoints</a:t>
            </a:r>
            <a:r>
              <a:rPr lang="en-CA" dirty="0"/>
              <a:t>, and </a:t>
            </a:r>
            <a:r>
              <a:rPr lang="en-CA" i="1" dirty="0"/>
              <a:t>To</a:t>
            </a:r>
            <a:r>
              <a:rPr lang="en-CA" dirty="0"/>
              <a:t> fiducials as </a:t>
            </a:r>
            <a:r>
              <a:rPr lang="en-CA" b="1" dirty="0" err="1"/>
              <a:t>InitialPoints</a:t>
            </a:r>
            <a:endParaRPr lang="en-CA" b="1" dirty="0"/>
          </a:p>
          <a:p>
            <a:r>
              <a:rPr lang="en-CA" dirty="0"/>
              <a:t>Under</a:t>
            </a:r>
            <a:r>
              <a:rPr lang="en-CA" b="1" dirty="0"/>
              <a:t> Place fiducials... </a:t>
            </a:r>
            <a:r>
              <a:rPr lang="en-CA" dirty="0"/>
              <a:t>group select </a:t>
            </a:r>
            <a:r>
              <a:rPr lang="en-CA" b="1" dirty="0" err="1"/>
              <a:t>Skull_StylusTipToStylus</a:t>
            </a:r>
            <a:r>
              <a:rPr lang="en-CA" b="1" dirty="0"/>
              <a:t> </a:t>
            </a:r>
            <a:r>
              <a:rPr lang="en-CA" dirty="0"/>
              <a:t>for the </a:t>
            </a:r>
            <a:r>
              <a:rPr lang="en-CA" b="1" dirty="0"/>
              <a:t>From </a:t>
            </a:r>
            <a:r>
              <a:rPr lang="en-CA" dirty="0"/>
              <a:t>(upper) list</a:t>
            </a:r>
          </a:p>
          <a:p>
            <a:r>
              <a:rPr lang="en-CA" dirty="0"/>
              <a:t>Under Registration result select </a:t>
            </a:r>
            <a:r>
              <a:rPr lang="en-CA" b="1" dirty="0" err="1"/>
              <a:t>ReferenceToInitial</a:t>
            </a:r>
            <a:r>
              <a:rPr lang="en-CA" dirty="0"/>
              <a:t>, and set</a:t>
            </a:r>
            <a:r>
              <a:rPr lang="en-CA" b="1" dirty="0"/>
              <a:t> Manual update </a:t>
            </a:r>
            <a:r>
              <a:rPr lang="en-CA" dirty="0"/>
              <a:t>instead of </a:t>
            </a:r>
            <a:r>
              <a:rPr lang="en-CA" b="1" dirty="0"/>
              <a:t>Auto-update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1563" y="4323800"/>
            <a:ext cx="4057143" cy="1942857"/>
          </a:xfrm>
          <a:prstGeom prst="rect">
            <a:avLst/>
          </a:prstGeom>
        </p:spPr>
      </p:pic>
      <p:sp>
        <p:nvSpPr>
          <p:cNvPr id="7" name="Arrow: Right 6"/>
          <p:cNvSpPr/>
          <p:nvPr/>
        </p:nvSpPr>
        <p:spPr>
          <a:xfrm>
            <a:off x="2357610" y="4483865"/>
            <a:ext cx="352539" cy="286439"/>
          </a:xfrm>
          <a:prstGeom prst="right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Arrow: Right 7"/>
          <p:cNvSpPr/>
          <p:nvPr/>
        </p:nvSpPr>
        <p:spPr>
          <a:xfrm>
            <a:off x="2357610" y="5352992"/>
            <a:ext cx="352539" cy="286439"/>
          </a:xfrm>
          <a:prstGeom prst="right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Arrow: Right 8"/>
          <p:cNvSpPr/>
          <p:nvPr/>
        </p:nvSpPr>
        <p:spPr>
          <a:xfrm>
            <a:off x="6076712" y="5980218"/>
            <a:ext cx="352539" cy="286439"/>
          </a:xfrm>
          <a:prstGeom prst="right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1285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Initial registration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 the Sequence toolbar, select </a:t>
            </a:r>
            <a:r>
              <a:rPr lang="en-CA" b="1" dirty="0" err="1"/>
              <a:t>InitialLandmarks</a:t>
            </a:r>
            <a:endParaRPr lang="en-CA" dirty="0"/>
          </a:p>
          <a:p>
            <a:r>
              <a:rPr lang="en-CA" dirty="0"/>
              <a:t>Using the Sequence toolbar time slider, review video for landmarks</a:t>
            </a:r>
          </a:p>
          <a:p>
            <a:r>
              <a:rPr lang="en-CA" dirty="0"/>
              <a:t>Use the place fiducials button        to add these points (in the same order!) in the </a:t>
            </a:r>
            <a:r>
              <a:rPr lang="en-CA" i="1" dirty="0" err="1"/>
              <a:t>InitialPoints</a:t>
            </a:r>
            <a:r>
              <a:rPr lang="en-CA" dirty="0"/>
              <a:t> list</a:t>
            </a:r>
          </a:p>
          <a:p>
            <a:r>
              <a:rPr lang="en-CA" dirty="0"/>
              <a:t>Use </a:t>
            </a:r>
            <a:r>
              <a:rPr lang="en-CA" b="1" dirty="0"/>
              <a:t>Place 'From' </a:t>
            </a:r>
            <a:r>
              <a:rPr lang="en-CA" dirty="0"/>
              <a:t>button to add points to the </a:t>
            </a:r>
            <a:r>
              <a:rPr lang="en-CA" i="1" dirty="0" err="1"/>
              <a:t>ReferencePoints</a:t>
            </a:r>
            <a:r>
              <a:rPr lang="en-CA" dirty="0"/>
              <a:t> list</a:t>
            </a:r>
          </a:p>
          <a:p>
            <a:r>
              <a:rPr lang="en-CA" dirty="0"/>
              <a:t>Do this three times, so you have three points in both lists</a:t>
            </a:r>
          </a:p>
          <a:p>
            <a:r>
              <a:rPr lang="en-CA" dirty="0"/>
              <a:t>Watch next slide for illustration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000" y="2505475"/>
            <a:ext cx="532673" cy="488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753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Initial registration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9</a:t>
            </a:fld>
            <a:endParaRPr lang="en-US"/>
          </a:p>
        </p:txBody>
      </p:sp>
      <p:pic>
        <p:nvPicPr>
          <p:cNvPr id="6" name="Skull-InitialRegistration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14489" y="1158524"/>
            <a:ext cx="8715022" cy="490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738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3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Compute initial registration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Under </a:t>
            </a:r>
            <a:r>
              <a:rPr lang="en-CA" b="1" dirty="0"/>
              <a:t>Registration result </a:t>
            </a:r>
            <a:r>
              <a:rPr lang="en-CA" dirty="0"/>
              <a:t>press </a:t>
            </a:r>
            <a:r>
              <a:rPr lang="en-CA" b="1" dirty="0"/>
              <a:t>Update</a:t>
            </a:r>
          </a:p>
          <a:p>
            <a:r>
              <a:rPr lang="en-CA" dirty="0"/>
              <a:t>If you don't see "Status: Success!" under the </a:t>
            </a:r>
            <a:r>
              <a:rPr lang="en-CA" b="1" dirty="0"/>
              <a:t>Update</a:t>
            </a:r>
            <a:r>
              <a:rPr lang="en-CA" dirty="0"/>
              <a:t> button, check if you have three different points in both lists.</a:t>
            </a:r>
          </a:p>
          <a:p>
            <a:r>
              <a:rPr lang="en-CA" dirty="0"/>
              <a:t>RMS Error should be under 10 mm ideally, but not necessarily</a:t>
            </a:r>
          </a:p>
          <a:p>
            <a:r>
              <a:rPr lang="en-CA" dirty="0">
                <a:solidFill>
                  <a:schemeClr val="bg1">
                    <a:lumMod val="50000"/>
                  </a:schemeClr>
                </a:solidFill>
              </a:rPr>
              <a:t>Note: that if you want to restart initial registration, you need to go to </a:t>
            </a:r>
            <a:r>
              <a:rPr lang="en-CA" b="1" dirty="0">
                <a:solidFill>
                  <a:schemeClr val="bg1">
                    <a:lumMod val="50000"/>
                  </a:schemeClr>
                </a:solidFill>
              </a:rPr>
              <a:t>Transforms</a:t>
            </a:r>
            <a:r>
              <a:rPr lang="en-CA" dirty="0">
                <a:solidFill>
                  <a:schemeClr val="bg1">
                    <a:lumMod val="50000"/>
                  </a:schemeClr>
                </a:solidFill>
              </a:rPr>
              <a:t> module and press Identity on </a:t>
            </a:r>
            <a:r>
              <a:rPr lang="en-CA" b="1" dirty="0" err="1">
                <a:solidFill>
                  <a:schemeClr val="bg1">
                    <a:lumMod val="50000"/>
                  </a:schemeClr>
                </a:solidFill>
              </a:rPr>
              <a:t>ReferenceToInitial</a:t>
            </a:r>
            <a:r>
              <a:rPr lang="en-CA" dirty="0">
                <a:solidFill>
                  <a:schemeClr val="bg1">
                    <a:lumMod val="50000"/>
                  </a:schemeClr>
                </a:solidFill>
              </a:rPr>
              <a:t> transform to reset it. Otherwise, </a:t>
            </a:r>
            <a:r>
              <a:rPr lang="en-CA" b="1" dirty="0" err="1">
                <a:solidFill>
                  <a:schemeClr val="bg1">
                    <a:lumMod val="50000"/>
                  </a:schemeClr>
                </a:solidFill>
              </a:rPr>
              <a:t>StylusTip</a:t>
            </a:r>
            <a:r>
              <a:rPr lang="en-CA" dirty="0">
                <a:solidFill>
                  <a:schemeClr val="bg1">
                    <a:lumMod val="50000"/>
                  </a:schemeClr>
                </a:solidFill>
              </a:rPr>
              <a:t> will not be in </a:t>
            </a:r>
            <a:r>
              <a:rPr lang="en-CA" b="1" dirty="0">
                <a:solidFill>
                  <a:schemeClr val="bg1">
                    <a:lumMod val="50000"/>
                  </a:schemeClr>
                </a:solidFill>
              </a:rPr>
              <a:t>Reference</a:t>
            </a:r>
            <a:r>
              <a:rPr lang="en-CA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071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Collect surface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Still in the </a:t>
            </a:r>
            <a:r>
              <a:rPr lang="en-CA" b="1" dirty="0"/>
              <a:t>Fiducial Registration Wizard</a:t>
            </a:r>
            <a:r>
              <a:rPr lang="en-CA" dirty="0"/>
              <a:t> module, create a new list under </a:t>
            </a:r>
            <a:r>
              <a:rPr lang="en-CA" b="1" dirty="0"/>
              <a:t>From fiducials </a:t>
            </a:r>
            <a:r>
              <a:rPr lang="en-CA" dirty="0"/>
              <a:t>and name it </a:t>
            </a:r>
            <a:r>
              <a:rPr lang="en-CA" b="1" dirty="0" err="1"/>
              <a:t>InitialSurfacePoints</a:t>
            </a:r>
            <a:endParaRPr lang="en-CA" b="1" dirty="0"/>
          </a:p>
          <a:p>
            <a:r>
              <a:rPr lang="en-CA" dirty="0"/>
              <a:t>On Sequence toolbar, select the </a:t>
            </a:r>
            <a:r>
              <a:rPr lang="en-CA" b="1" dirty="0" err="1"/>
              <a:t>SurfaceScan</a:t>
            </a:r>
            <a:r>
              <a:rPr lang="en-CA" dirty="0"/>
              <a:t> node</a:t>
            </a:r>
          </a:p>
          <a:p>
            <a:r>
              <a:rPr lang="en-CA" dirty="0"/>
              <a:t>Let the sequence run using the play button, maybe lower frame rate to 5 fps</a:t>
            </a:r>
          </a:p>
          <a:p>
            <a:r>
              <a:rPr lang="en-CA" dirty="0"/>
              <a:t>Keep clicking Place 'From' until you collect about 40 points evenly near the skull surface</a:t>
            </a:r>
          </a:p>
          <a:p>
            <a:r>
              <a:rPr lang="en-CA" dirty="0"/>
              <a:t>Screen video on next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30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Collect surface points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12</a:t>
            </a:fld>
            <a:endParaRPr lang="en-US"/>
          </a:p>
        </p:txBody>
      </p:sp>
      <p:pic>
        <p:nvPicPr>
          <p:cNvPr id="5" name="Skull-SurfacePoints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5778" y="1142294"/>
            <a:ext cx="8692444" cy="488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56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9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Compute surface registration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Select </a:t>
            </a:r>
            <a:r>
              <a:rPr lang="en-CA" b="1" dirty="0"/>
              <a:t>IGT / Fiducial-Model Registration </a:t>
            </a:r>
            <a:r>
              <a:rPr lang="en-CA" dirty="0"/>
              <a:t>module</a:t>
            </a:r>
          </a:p>
          <a:p>
            <a:r>
              <a:rPr lang="en-CA" dirty="0"/>
              <a:t>Input fiducials: </a:t>
            </a:r>
            <a:r>
              <a:rPr lang="en-CA" b="1" dirty="0" err="1"/>
              <a:t>InitialSurfacePoints</a:t>
            </a:r>
            <a:endParaRPr lang="en-CA" b="1" dirty="0"/>
          </a:p>
          <a:p>
            <a:r>
              <a:rPr lang="en-CA" dirty="0"/>
              <a:t>Input model: </a:t>
            </a:r>
            <a:r>
              <a:rPr lang="en-CA" b="1" dirty="0" err="1"/>
              <a:t>Skull_Phantom</a:t>
            </a:r>
            <a:endParaRPr lang="en-CA" b="1" dirty="0"/>
          </a:p>
          <a:p>
            <a:r>
              <a:rPr lang="en-CA" dirty="0"/>
              <a:t>Output transform: </a:t>
            </a:r>
            <a:r>
              <a:rPr lang="en-CA" b="1" dirty="0" err="1"/>
              <a:t>InitialToRas</a:t>
            </a:r>
            <a:endParaRPr lang="en-CA" b="1" dirty="0"/>
          </a:p>
          <a:p>
            <a:r>
              <a:rPr lang="en-CA" dirty="0"/>
              <a:t>Press </a:t>
            </a:r>
            <a:r>
              <a:rPr lang="en-CA" b="1" dirty="0"/>
              <a:t>Apply</a:t>
            </a:r>
          </a:p>
          <a:p>
            <a:r>
              <a:rPr lang="en-CA" b="1" dirty="0"/>
              <a:t>Mean distance after registration </a:t>
            </a:r>
            <a:r>
              <a:rPr lang="en-CA" dirty="0"/>
              <a:t>should be under 1 mm</a:t>
            </a:r>
          </a:p>
          <a:p>
            <a:r>
              <a:rPr lang="en-CA" dirty="0"/>
              <a:t>When you play the </a:t>
            </a:r>
            <a:r>
              <a:rPr lang="en-CA" b="1" dirty="0" err="1"/>
              <a:t>SurfaceScan</a:t>
            </a:r>
            <a:r>
              <a:rPr lang="en-CA" dirty="0"/>
              <a:t> sequence, the stylus tip should be sliding on the skull surface in the 3D viewer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B4E161-ED1F-470E-9199-7D8E989353A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808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B5AEEC3C-57F5-458C-A259-BEA2AFF0D77B}" vid="{F032F1CB-9777-488E-B287-8CA49E564C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SlicerIGT-TutorialTemplate</Template>
  <TotalTime>190</TotalTime>
  <Words>567</Words>
  <Application>Microsoft Office PowerPoint</Application>
  <PresentationFormat>On-screen Show (4:3)</PresentationFormat>
  <Paragraphs>107</Paragraphs>
  <Slides>13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Surface registration</vt:lpstr>
      <vt:lpstr>Registration methods overview</vt:lpstr>
      <vt:lpstr>Surface registration</vt:lpstr>
      <vt:lpstr>Registration strategy</vt:lpstr>
      <vt:lpstr>Load example scene</vt:lpstr>
      <vt:lpstr>Set up transform hierarchy</vt:lpstr>
      <vt:lpstr>Set up initial registration</vt:lpstr>
      <vt:lpstr>Initial registration</vt:lpstr>
      <vt:lpstr>Initial registration</vt:lpstr>
      <vt:lpstr>Compute initial registration</vt:lpstr>
      <vt:lpstr>Collect surface points</vt:lpstr>
      <vt:lpstr>Collect surface points</vt:lpstr>
      <vt:lpstr>Compute surface registration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Tamas Ungi</dc:creator>
  <cp:lastModifiedBy>Tamas Ungi</cp:lastModifiedBy>
  <cp:revision>8</cp:revision>
  <dcterms:created xsi:type="dcterms:W3CDTF">2014-04-04T16:52:35Z</dcterms:created>
  <dcterms:modified xsi:type="dcterms:W3CDTF">2017-01-03T02:48:10Z</dcterms:modified>
</cp:coreProperties>
</file>