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9"/>
  </p:notesMasterIdLst>
  <p:sldIdLst>
    <p:sldId id="256" r:id="rId2"/>
    <p:sldId id="257" r:id="rId3"/>
    <p:sldId id="258" r:id="rId4"/>
    <p:sldId id="264" r:id="rId5"/>
    <p:sldId id="268" r:id="rId6"/>
    <p:sldId id="269" r:id="rId7"/>
    <p:sldId id="270" r:id="rId8"/>
    <p:sldId id="272" r:id="rId9"/>
    <p:sldId id="271" r:id="rId10"/>
    <p:sldId id="267" r:id="rId11"/>
    <p:sldId id="259" r:id="rId12"/>
    <p:sldId id="260" r:id="rId13"/>
    <p:sldId id="261" r:id="rId14"/>
    <p:sldId id="262" r:id="rId15"/>
    <p:sldId id="265" r:id="rId16"/>
    <p:sldId id="263" r:id="rId17"/>
    <p:sldId id="266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5FAFF"/>
    <a:srgbClr val="00FFFF"/>
    <a:srgbClr val="00AD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77" autoAdjust="0"/>
    <p:restoredTop sz="94660"/>
  </p:normalViewPr>
  <p:slideViewPr>
    <p:cSldViewPr snapToGrid="0">
      <p:cViewPr varScale="1">
        <p:scale>
          <a:sx n="132" d="100"/>
          <a:sy n="132" d="100"/>
        </p:scale>
        <p:origin x="54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2820B5-36C0-4794-9E01-220C2D3A21D1}" type="datetimeFigureOut">
              <a:rPr lang="en-US" smtClean="0"/>
              <a:t>1/1/2017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EFC5FD-8DBC-4524-99EA-FCD3D8A86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132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349910" y="3831150"/>
            <a:ext cx="5651090" cy="1426649"/>
          </a:xfrm>
        </p:spPr>
        <p:txBody>
          <a:bodyPr/>
          <a:lstStyle>
            <a:lvl1pPr marL="0" indent="0" algn="l">
              <a:buNone/>
              <a:defRPr sz="24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SlicerIGT</a:t>
            </a:r>
            <a:r>
              <a:rPr lang="en-US" dirty="0"/>
              <a:t> Tutorial Series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45" b="27021"/>
          <a:stretch/>
        </p:blipFill>
        <p:spPr>
          <a:xfrm>
            <a:off x="1080626" y="3602038"/>
            <a:ext cx="1269284" cy="924063"/>
          </a:xfrm>
          <a:prstGeom prst="rect">
            <a:avLst/>
          </a:prstGeom>
        </p:spPr>
      </p:pic>
      <p:cxnSp>
        <p:nvCxnSpPr>
          <p:cNvPr id="8" name="Straight Connector 7"/>
          <p:cNvCxnSpPr/>
          <p:nvPr userDrawn="1"/>
        </p:nvCxnSpPr>
        <p:spPr>
          <a:xfrm>
            <a:off x="2163096" y="3716594"/>
            <a:ext cx="4090219" cy="0"/>
          </a:xfrm>
          <a:prstGeom prst="line">
            <a:avLst/>
          </a:prstGeom>
          <a:ln w="158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6820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45" b="27021"/>
          <a:stretch/>
        </p:blipFill>
        <p:spPr>
          <a:xfrm>
            <a:off x="667671" y="6314722"/>
            <a:ext cx="695325" cy="506210"/>
          </a:xfrm>
          <a:prstGeom prst="rect">
            <a:avLst/>
          </a:prstGeom>
        </p:spPr>
      </p:pic>
      <p:cxnSp>
        <p:nvCxnSpPr>
          <p:cNvPr id="8" name="Straight Connector 7"/>
          <p:cNvCxnSpPr/>
          <p:nvPr userDrawn="1"/>
        </p:nvCxnSpPr>
        <p:spPr>
          <a:xfrm>
            <a:off x="1278192" y="6334386"/>
            <a:ext cx="4090219" cy="0"/>
          </a:xfrm>
          <a:prstGeom prst="line">
            <a:avLst/>
          </a:prstGeom>
          <a:ln w="158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 userDrawn="1"/>
        </p:nvSpPr>
        <p:spPr>
          <a:xfrm>
            <a:off x="1333500" y="6381750"/>
            <a:ext cx="18806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srgbClr val="0070C0"/>
                </a:solidFill>
              </a:rPr>
              <a:t>SlicerIGT</a:t>
            </a:r>
            <a:r>
              <a:rPr lang="en-US" sz="1400" i="1" baseline="0" dirty="0">
                <a:solidFill>
                  <a:srgbClr val="0070C0"/>
                </a:solidFill>
              </a:rPr>
              <a:t> Tutorial Series</a:t>
            </a:r>
            <a:endParaRPr lang="en-US" sz="1400" i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6746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45" b="27021"/>
          <a:stretch/>
        </p:blipFill>
        <p:spPr>
          <a:xfrm>
            <a:off x="667671" y="6314722"/>
            <a:ext cx="695325" cy="506210"/>
          </a:xfrm>
          <a:prstGeom prst="rect">
            <a:avLst/>
          </a:prstGeom>
        </p:spPr>
      </p:pic>
      <p:cxnSp>
        <p:nvCxnSpPr>
          <p:cNvPr id="7" name="Straight Connector 6"/>
          <p:cNvCxnSpPr/>
          <p:nvPr userDrawn="1"/>
        </p:nvCxnSpPr>
        <p:spPr>
          <a:xfrm>
            <a:off x="1278192" y="6334386"/>
            <a:ext cx="4090219" cy="0"/>
          </a:xfrm>
          <a:prstGeom prst="line">
            <a:avLst/>
          </a:prstGeom>
          <a:ln w="158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 userDrawn="1"/>
        </p:nvSpPr>
        <p:spPr>
          <a:xfrm>
            <a:off x="1333500" y="6381750"/>
            <a:ext cx="18806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srgbClr val="0070C0"/>
                </a:solidFill>
              </a:rPr>
              <a:t>SlicerIGT</a:t>
            </a:r>
            <a:r>
              <a:rPr lang="en-US" sz="1400" i="1" baseline="0" dirty="0">
                <a:solidFill>
                  <a:srgbClr val="0070C0"/>
                </a:solidFill>
              </a:rPr>
              <a:t> Tutorial Series</a:t>
            </a:r>
            <a:endParaRPr lang="en-US" sz="1400" i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7702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45" b="27021"/>
          <a:stretch/>
        </p:blipFill>
        <p:spPr>
          <a:xfrm>
            <a:off x="667671" y="6314722"/>
            <a:ext cx="695325" cy="506210"/>
          </a:xfrm>
          <a:prstGeom prst="rect">
            <a:avLst/>
          </a:prstGeom>
        </p:spPr>
      </p:pic>
      <p:cxnSp>
        <p:nvCxnSpPr>
          <p:cNvPr id="6" name="Straight Connector 5"/>
          <p:cNvCxnSpPr/>
          <p:nvPr userDrawn="1"/>
        </p:nvCxnSpPr>
        <p:spPr>
          <a:xfrm>
            <a:off x="1278192" y="6334386"/>
            <a:ext cx="4090219" cy="0"/>
          </a:xfrm>
          <a:prstGeom prst="line">
            <a:avLst/>
          </a:prstGeom>
          <a:ln w="158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 userDrawn="1"/>
        </p:nvSpPr>
        <p:spPr>
          <a:xfrm>
            <a:off x="1333500" y="6381750"/>
            <a:ext cx="18806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srgbClr val="0070C0"/>
                </a:solidFill>
              </a:rPr>
              <a:t>SlicerIGT</a:t>
            </a:r>
            <a:r>
              <a:rPr lang="en-US" sz="1400" i="1" baseline="0" dirty="0">
                <a:solidFill>
                  <a:srgbClr val="0070C0"/>
                </a:solidFill>
              </a:rPr>
              <a:t> Tutorial Series</a:t>
            </a:r>
            <a:endParaRPr lang="en-US" sz="1400" i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5664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2934154"/>
            <a:ext cx="7886700" cy="634999"/>
          </a:xfrm>
        </p:spPr>
        <p:txBody>
          <a:bodyPr>
            <a:no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155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6349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181100"/>
            <a:ext cx="7886700" cy="49958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33501" y="6356351"/>
            <a:ext cx="47815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0" i="1">
                <a:solidFill>
                  <a:srgbClr val="0070C0"/>
                </a:solidFill>
              </a:defRPr>
            </a:lvl1pPr>
          </a:lstStyle>
          <a:p>
            <a:pPr algn="l"/>
            <a:r>
              <a:rPr lang="en-CA" dirty="0" err="1"/>
              <a:t>SlicerIGT</a:t>
            </a:r>
            <a:r>
              <a:rPr lang="en-CA" dirty="0"/>
              <a:t> Tutorial Series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B4E161-ED1F-470E-9199-7D8E989353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58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6" r:id="rId3"/>
    <p:sldLayoutId id="2147483667" r:id="rId4"/>
    <p:sldLayoutId id="2147483668" r:id="rId5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70C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Pivot calibration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SlicerIGT Tutorial Series</a:t>
            </a:r>
          </a:p>
        </p:txBody>
      </p:sp>
    </p:spTree>
    <p:extLst>
      <p:ext uri="{BB962C8B-B14F-4D97-AF65-F5344CB8AC3E}">
        <p14:creationId xmlns:p14="http://schemas.microsoft.com/office/powerpoint/2010/main" val="25661310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A </a:t>
            </a:r>
            <a:r>
              <a:rPr lang="en-CA" b="1" i="1" dirty="0"/>
              <a:t>pointer tool </a:t>
            </a:r>
            <a:r>
              <a:rPr lang="en-CA" dirty="0"/>
              <a:t>is used in almost every medical navigation systems. It can be a tracked stylus, needle, or any tracked object that has a pointy part.</a:t>
            </a:r>
          </a:p>
          <a:p>
            <a:r>
              <a:rPr lang="en-CA" dirty="0"/>
              <a:t>A position marker (e.g. electromagnetic sensor, or optical marker) is used to track the position of the pointer tool.</a:t>
            </a:r>
          </a:p>
          <a:p>
            <a:r>
              <a:rPr lang="en-CA" dirty="0"/>
              <a:t>But the marker cannot be at the very tip of the pointer. Therefore, we need to determine where is the </a:t>
            </a:r>
            <a:r>
              <a:rPr lang="en-CA" b="1" i="1" dirty="0"/>
              <a:t>pointer tip </a:t>
            </a:r>
            <a:r>
              <a:rPr lang="en-CA" dirty="0"/>
              <a:t>relative to the pointer marker.</a:t>
            </a:r>
          </a:p>
          <a:p>
            <a:r>
              <a:rPr lang="en-CA" dirty="0"/>
              <a:t>The names </a:t>
            </a:r>
            <a:r>
              <a:rPr lang="en-CA" b="1" i="1" dirty="0"/>
              <a:t>Pointer</a:t>
            </a:r>
            <a:r>
              <a:rPr lang="en-CA" dirty="0"/>
              <a:t>, </a:t>
            </a:r>
            <a:r>
              <a:rPr lang="en-CA" b="1" i="1" dirty="0"/>
              <a:t>Stylus</a:t>
            </a:r>
            <a:r>
              <a:rPr lang="en-CA" dirty="0"/>
              <a:t>, and </a:t>
            </a:r>
            <a:r>
              <a:rPr lang="en-CA" b="1" i="1" dirty="0"/>
              <a:t>Needle</a:t>
            </a:r>
            <a:r>
              <a:rPr lang="en-CA" dirty="0"/>
              <a:t>. Are used interchangeably in this tutorial.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158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Stylus coordinate systems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3</a:t>
            </a:fld>
            <a:endParaRPr lang="en-US"/>
          </a:p>
        </p:txBody>
      </p:sp>
      <p:sp>
        <p:nvSpPr>
          <p:cNvPr id="5" name="Freeform 4"/>
          <p:cNvSpPr/>
          <p:nvPr/>
        </p:nvSpPr>
        <p:spPr bwMode="auto">
          <a:xfrm rot="18398606">
            <a:off x="5574534" y="3008188"/>
            <a:ext cx="2464073" cy="99901"/>
          </a:xfrm>
          <a:custGeom>
            <a:avLst/>
            <a:gdLst>
              <a:gd name="connsiteX0" fmla="*/ 217715 w 3526972"/>
              <a:gd name="connsiteY0" fmla="*/ 119743 h 119743"/>
              <a:gd name="connsiteX1" fmla="*/ 3526972 w 3526972"/>
              <a:gd name="connsiteY1" fmla="*/ 119743 h 119743"/>
              <a:gd name="connsiteX2" fmla="*/ 3526972 w 3526972"/>
              <a:gd name="connsiteY2" fmla="*/ 0 h 119743"/>
              <a:gd name="connsiteX3" fmla="*/ 0 w 3526972"/>
              <a:gd name="connsiteY3" fmla="*/ 0 h 119743"/>
              <a:gd name="connsiteX4" fmla="*/ 217715 w 3526972"/>
              <a:gd name="connsiteY4" fmla="*/ 119743 h 11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26972" h="119743">
                <a:moveTo>
                  <a:pt x="217715" y="119743"/>
                </a:moveTo>
                <a:lnTo>
                  <a:pt x="3526972" y="119743"/>
                </a:lnTo>
                <a:lnTo>
                  <a:pt x="3526972" y="0"/>
                </a:lnTo>
                <a:lnTo>
                  <a:pt x="0" y="0"/>
                </a:lnTo>
                <a:lnTo>
                  <a:pt x="217715" y="119743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rgbClr val="00FFFF"/>
              </a:gs>
              <a:gs pos="83000">
                <a:srgbClr val="00ADC4"/>
              </a:gs>
              <a:gs pos="100000">
                <a:srgbClr val="D5FAFF"/>
              </a:gs>
            </a:gsLst>
            <a:lin ang="5400000" scaled="1"/>
          </a:gra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CA"/>
          </a:p>
        </p:txBody>
      </p:sp>
      <p:grpSp>
        <p:nvGrpSpPr>
          <p:cNvPr id="6" name="Group 5"/>
          <p:cNvGrpSpPr/>
          <p:nvPr/>
        </p:nvGrpSpPr>
        <p:grpSpPr>
          <a:xfrm>
            <a:off x="6483770" y="1650685"/>
            <a:ext cx="1725804" cy="1790152"/>
            <a:chOff x="457200" y="2538948"/>
            <a:chExt cx="1725804" cy="1790152"/>
          </a:xfrm>
        </p:grpSpPr>
        <p:cxnSp>
          <p:nvCxnSpPr>
            <p:cNvPr id="7" name="Straight Arrow Connector 6"/>
            <p:cNvCxnSpPr/>
            <p:nvPr/>
          </p:nvCxnSpPr>
          <p:spPr>
            <a:xfrm flipV="1">
              <a:off x="926595" y="2618910"/>
              <a:ext cx="0" cy="108012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/>
            <p:cNvCxnSpPr/>
            <p:nvPr/>
          </p:nvCxnSpPr>
          <p:spPr>
            <a:xfrm>
              <a:off x="926595" y="3699030"/>
              <a:ext cx="117013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/>
            <p:nvPr/>
          </p:nvCxnSpPr>
          <p:spPr>
            <a:xfrm flipH="1">
              <a:off x="457200" y="3699030"/>
              <a:ext cx="469395" cy="46939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>
              <a:off x="1871700" y="3734743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b="1" dirty="0"/>
                <a:t>X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981648" y="2538948"/>
              <a:ext cx="3048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b="1" dirty="0"/>
                <a:t>Y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89522" y="3959768"/>
              <a:ext cx="2952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b="1" dirty="0"/>
                <a:t>Z</a:t>
              </a:r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7277434" y="2425250"/>
            <a:ext cx="7537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Stylus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5547068" y="2862111"/>
            <a:ext cx="1725804" cy="1790152"/>
            <a:chOff x="457200" y="2538948"/>
            <a:chExt cx="1725804" cy="1790152"/>
          </a:xfrm>
        </p:grpSpPr>
        <p:cxnSp>
          <p:nvCxnSpPr>
            <p:cNvPr id="15" name="Straight Arrow Connector 14"/>
            <p:cNvCxnSpPr/>
            <p:nvPr/>
          </p:nvCxnSpPr>
          <p:spPr>
            <a:xfrm flipV="1">
              <a:off x="926595" y="2618910"/>
              <a:ext cx="0" cy="108012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/>
            <p:nvPr/>
          </p:nvCxnSpPr>
          <p:spPr>
            <a:xfrm>
              <a:off x="926595" y="3699030"/>
              <a:ext cx="117013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/>
            <p:nvPr/>
          </p:nvCxnSpPr>
          <p:spPr>
            <a:xfrm flipH="1">
              <a:off x="457200" y="3699030"/>
              <a:ext cx="469395" cy="46939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/>
            <p:cNvSpPr txBox="1"/>
            <p:nvPr/>
          </p:nvSpPr>
          <p:spPr>
            <a:xfrm>
              <a:off x="1871700" y="3734743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b="1" dirty="0"/>
                <a:t>X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981648" y="2538948"/>
              <a:ext cx="3048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b="1" dirty="0"/>
                <a:t>Y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89522" y="3959768"/>
              <a:ext cx="2952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b="1" dirty="0"/>
                <a:t>Z</a:t>
              </a:r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5997777" y="4072224"/>
            <a:ext cx="1047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 err="1"/>
              <a:t>StylusTip</a:t>
            </a:r>
            <a:endParaRPr lang="en-CA" b="1" dirty="0"/>
          </a:p>
        </p:txBody>
      </p:sp>
      <p:grpSp>
        <p:nvGrpSpPr>
          <p:cNvPr id="22" name="Group 21"/>
          <p:cNvGrpSpPr/>
          <p:nvPr/>
        </p:nvGrpSpPr>
        <p:grpSpPr>
          <a:xfrm rot="2420825">
            <a:off x="6836243" y="2628826"/>
            <a:ext cx="294890" cy="313247"/>
            <a:chOff x="8024675" y="1747909"/>
            <a:chExt cx="294890" cy="313247"/>
          </a:xfrm>
        </p:grpSpPr>
        <p:sp>
          <p:nvSpPr>
            <p:cNvPr id="23" name="Rectangle 22"/>
            <p:cNvSpPr/>
            <p:nvPr/>
          </p:nvSpPr>
          <p:spPr>
            <a:xfrm>
              <a:off x="8024675" y="1747909"/>
              <a:ext cx="294890" cy="31324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4" name="Freeform 23"/>
            <p:cNvSpPr/>
            <p:nvPr/>
          </p:nvSpPr>
          <p:spPr>
            <a:xfrm>
              <a:off x="8074915" y="1778053"/>
              <a:ext cx="204880" cy="228172"/>
            </a:xfrm>
            <a:custGeom>
              <a:avLst/>
              <a:gdLst>
                <a:gd name="connsiteX0" fmla="*/ 508052 w 562926"/>
                <a:gd name="connsiteY0" fmla="*/ 72518 h 585550"/>
                <a:gd name="connsiteX1" fmla="*/ 286988 w 562926"/>
                <a:gd name="connsiteY1" fmla="*/ 2180 h 585550"/>
                <a:gd name="connsiteX2" fmla="*/ 45828 w 562926"/>
                <a:gd name="connsiteY2" fmla="*/ 32325 h 585550"/>
                <a:gd name="connsiteX3" fmla="*/ 15683 w 562926"/>
                <a:gd name="connsiteY3" fmla="*/ 173002 h 585550"/>
                <a:gd name="connsiteX4" fmla="*/ 226698 w 562926"/>
                <a:gd name="connsiteY4" fmla="*/ 263437 h 585550"/>
                <a:gd name="connsiteX5" fmla="*/ 457810 w 562926"/>
                <a:gd name="connsiteY5" fmla="*/ 283534 h 585550"/>
                <a:gd name="connsiteX6" fmla="*/ 498004 w 562926"/>
                <a:gd name="connsiteY6" fmla="*/ 203147 h 585550"/>
                <a:gd name="connsiteX7" fmla="*/ 347278 w 562926"/>
                <a:gd name="connsiteY7" fmla="*/ 142857 h 585550"/>
                <a:gd name="connsiteX8" fmla="*/ 186505 w 562926"/>
                <a:gd name="connsiteY8" fmla="*/ 162954 h 585550"/>
                <a:gd name="connsiteX9" fmla="*/ 75973 w 562926"/>
                <a:gd name="connsiteY9" fmla="*/ 233292 h 585550"/>
                <a:gd name="connsiteX10" fmla="*/ 5634 w 562926"/>
                <a:gd name="connsiteY10" fmla="*/ 353872 h 585550"/>
                <a:gd name="connsiteX11" fmla="*/ 35780 w 562926"/>
                <a:gd name="connsiteY11" fmla="*/ 474452 h 585550"/>
                <a:gd name="connsiteX12" fmla="*/ 146311 w 562926"/>
                <a:gd name="connsiteY12" fmla="*/ 534743 h 585550"/>
                <a:gd name="connsiteX13" fmla="*/ 367375 w 562926"/>
                <a:gd name="connsiteY13" fmla="*/ 574936 h 585550"/>
                <a:gd name="connsiteX14" fmla="*/ 487955 w 562926"/>
                <a:gd name="connsiteY14" fmla="*/ 574936 h 585550"/>
                <a:gd name="connsiteX15" fmla="*/ 558294 w 562926"/>
                <a:gd name="connsiteY15" fmla="*/ 454356 h 585550"/>
                <a:gd name="connsiteX16" fmla="*/ 357327 w 562926"/>
                <a:gd name="connsiteY16" fmla="*/ 414162 h 585550"/>
                <a:gd name="connsiteX17" fmla="*/ 276940 w 562926"/>
                <a:gd name="connsiteY17" fmla="*/ 414162 h 585550"/>
                <a:gd name="connsiteX18" fmla="*/ 106118 w 562926"/>
                <a:gd name="connsiteY18" fmla="*/ 454356 h 585550"/>
                <a:gd name="connsiteX19" fmla="*/ 35780 w 562926"/>
                <a:gd name="connsiteY19" fmla="*/ 554839 h 585550"/>
                <a:gd name="connsiteX20" fmla="*/ 15683 w 562926"/>
                <a:gd name="connsiteY20" fmla="*/ 584984 h 585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62926" h="585550">
                  <a:moveTo>
                    <a:pt x="508052" y="72518"/>
                  </a:moveTo>
                  <a:cubicBezTo>
                    <a:pt x="436038" y="40698"/>
                    <a:pt x="364025" y="8879"/>
                    <a:pt x="286988" y="2180"/>
                  </a:cubicBezTo>
                  <a:cubicBezTo>
                    <a:pt x="209951" y="-4519"/>
                    <a:pt x="91045" y="3855"/>
                    <a:pt x="45828" y="32325"/>
                  </a:cubicBezTo>
                  <a:cubicBezTo>
                    <a:pt x="611" y="60795"/>
                    <a:pt x="-14462" y="134483"/>
                    <a:pt x="15683" y="173002"/>
                  </a:cubicBezTo>
                  <a:cubicBezTo>
                    <a:pt x="45828" y="211521"/>
                    <a:pt x="153010" y="245015"/>
                    <a:pt x="226698" y="263437"/>
                  </a:cubicBezTo>
                  <a:cubicBezTo>
                    <a:pt x="300386" y="281859"/>
                    <a:pt x="412592" y="293582"/>
                    <a:pt x="457810" y="283534"/>
                  </a:cubicBezTo>
                  <a:cubicBezTo>
                    <a:pt x="503028" y="273486"/>
                    <a:pt x="516426" y="226593"/>
                    <a:pt x="498004" y="203147"/>
                  </a:cubicBezTo>
                  <a:cubicBezTo>
                    <a:pt x="479582" y="179701"/>
                    <a:pt x="399194" y="149556"/>
                    <a:pt x="347278" y="142857"/>
                  </a:cubicBezTo>
                  <a:cubicBezTo>
                    <a:pt x="295362" y="136158"/>
                    <a:pt x="231722" y="147882"/>
                    <a:pt x="186505" y="162954"/>
                  </a:cubicBezTo>
                  <a:cubicBezTo>
                    <a:pt x="141288" y="178026"/>
                    <a:pt x="106118" y="201472"/>
                    <a:pt x="75973" y="233292"/>
                  </a:cubicBezTo>
                  <a:cubicBezTo>
                    <a:pt x="45828" y="265112"/>
                    <a:pt x="12333" y="313679"/>
                    <a:pt x="5634" y="353872"/>
                  </a:cubicBezTo>
                  <a:cubicBezTo>
                    <a:pt x="-1065" y="394065"/>
                    <a:pt x="12334" y="444307"/>
                    <a:pt x="35780" y="474452"/>
                  </a:cubicBezTo>
                  <a:cubicBezTo>
                    <a:pt x="59226" y="504597"/>
                    <a:pt x="91045" y="517996"/>
                    <a:pt x="146311" y="534743"/>
                  </a:cubicBezTo>
                  <a:cubicBezTo>
                    <a:pt x="201577" y="551490"/>
                    <a:pt x="310434" y="568237"/>
                    <a:pt x="367375" y="574936"/>
                  </a:cubicBezTo>
                  <a:cubicBezTo>
                    <a:pt x="424316" y="581635"/>
                    <a:pt x="456135" y="595033"/>
                    <a:pt x="487955" y="574936"/>
                  </a:cubicBezTo>
                  <a:cubicBezTo>
                    <a:pt x="519775" y="554839"/>
                    <a:pt x="580065" y="481152"/>
                    <a:pt x="558294" y="454356"/>
                  </a:cubicBezTo>
                  <a:cubicBezTo>
                    <a:pt x="536523" y="427560"/>
                    <a:pt x="404219" y="420861"/>
                    <a:pt x="357327" y="414162"/>
                  </a:cubicBezTo>
                  <a:cubicBezTo>
                    <a:pt x="310435" y="407463"/>
                    <a:pt x="318808" y="407463"/>
                    <a:pt x="276940" y="414162"/>
                  </a:cubicBezTo>
                  <a:cubicBezTo>
                    <a:pt x="235072" y="420861"/>
                    <a:pt x="146311" y="430910"/>
                    <a:pt x="106118" y="454356"/>
                  </a:cubicBezTo>
                  <a:cubicBezTo>
                    <a:pt x="65925" y="477802"/>
                    <a:pt x="50853" y="533068"/>
                    <a:pt x="35780" y="554839"/>
                  </a:cubicBezTo>
                  <a:cubicBezTo>
                    <a:pt x="20707" y="576610"/>
                    <a:pt x="15683" y="584984"/>
                    <a:pt x="15683" y="584984"/>
                  </a:cubicBezTo>
                </a:path>
              </a:pathLst>
            </a:cu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sp>
        <p:nvSpPr>
          <p:cNvPr id="26" name="Arc 25"/>
          <p:cNvSpPr/>
          <p:nvPr/>
        </p:nvSpPr>
        <p:spPr>
          <a:xfrm>
            <a:off x="5314805" y="1729550"/>
            <a:ext cx="1848585" cy="2244833"/>
          </a:xfrm>
          <a:prstGeom prst="arc">
            <a:avLst>
              <a:gd name="adj1" fmla="val 163875"/>
              <a:gd name="adj2" fmla="val 5012997"/>
            </a:avLst>
          </a:prstGeom>
          <a:ln w="25400">
            <a:solidFill>
              <a:srgbClr val="FF0000"/>
            </a:solidFill>
            <a:prstDash val="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pSp>
        <p:nvGrpSpPr>
          <p:cNvPr id="27" name="Group 26"/>
          <p:cNvGrpSpPr/>
          <p:nvPr/>
        </p:nvGrpSpPr>
        <p:grpSpPr>
          <a:xfrm>
            <a:off x="6344538" y="5200530"/>
            <a:ext cx="294890" cy="313247"/>
            <a:chOff x="8024675" y="1747909"/>
            <a:chExt cx="294890" cy="313247"/>
          </a:xfrm>
        </p:grpSpPr>
        <p:sp>
          <p:nvSpPr>
            <p:cNvPr id="28" name="Rectangle 27"/>
            <p:cNvSpPr/>
            <p:nvPr/>
          </p:nvSpPr>
          <p:spPr>
            <a:xfrm>
              <a:off x="8024675" y="1747909"/>
              <a:ext cx="294890" cy="31324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9" name="Freeform 28"/>
            <p:cNvSpPr/>
            <p:nvPr/>
          </p:nvSpPr>
          <p:spPr>
            <a:xfrm>
              <a:off x="8074915" y="1778053"/>
              <a:ext cx="204880" cy="228172"/>
            </a:xfrm>
            <a:custGeom>
              <a:avLst/>
              <a:gdLst>
                <a:gd name="connsiteX0" fmla="*/ 508052 w 562926"/>
                <a:gd name="connsiteY0" fmla="*/ 72518 h 585550"/>
                <a:gd name="connsiteX1" fmla="*/ 286988 w 562926"/>
                <a:gd name="connsiteY1" fmla="*/ 2180 h 585550"/>
                <a:gd name="connsiteX2" fmla="*/ 45828 w 562926"/>
                <a:gd name="connsiteY2" fmla="*/ 32325 h 585550"/>
                <a:gd name="connsiteX3" fmla="*/ 15683 w 562926"/>
                <a:gd name="connsiteY3" fmla="*/ 173002 h 585550"/>
                <a:gd name="connsiteX4" fmla="*/ 226698 w 562926"/>
                <a:gd name="connsiteY4" fmla="*/ 263437 h 585550"/>
                <a:gd name="connsiteX5" fmla="*/ 457810 w 562926"/>
                <a:gd name="connsiteY5" fmla="*/ 283534 h 585550"/>
                <a:gd name="connsiteX6" fmla="*/ 498004 w 562926"/>
                <a:gd name="connsiteY6" fmla="*/ 203147 h 585550"/>
                <a:gd name="connsiteX7" fmla="*/ 347278 w 562926"/>
                <a:gd name="connsiteY7" fmla="*/ 142857 h 585550"/>
                <a:gd name="connsiteX8" fmla="*/ 186505 w 562926"/>
                <a:gd name="connsiteY8" fmla="*/ 162954 h 585550"/>
                <a:gd name="connsiteX9" fmla="*/ 75973 w 562926"/>
                <a:gd name="connsiteY9" fmla="*/ 233292 h 585550"/>
                <a:gd name="connsiteX10" fmla="*/ 5634 w 562926"/>
                <a:gd name="connsiteY10" fmla="*/ 353872 h 585550"/>
                <a:gd name="connsiteX11" fmla="*/ 35780 w 562926"/>
                <a:gd name="connsiteY11" fmla="*/ 474452 h 585550"/>
                <a:gd name="connsiteX12" fmla="*/ 146311 w 562926"/>
                <a:gd name="connsiteY12" fmla="*/ 534743 h 585550"/>
                <a:gd name="connsiteX13" fmla="*/ 367375 w 562926"/>
                <a:gd name="connsiteY13" fmla="*/ 574936 h 585550"/>
                <a:gd name="connsiteX14" fmla="*/ 487955 w 562926"/>
                <a:gd name="connsiteY14" fmla="*/ 574936 h 585550"/>
                <a:gd name="connsiteX15" fmla="*/ 558294 w 562926"/>
                <a:gd name="connsiteY15" fmla="*/ 454356 h 585550"/>
                <a:gd name="connsiteX16" fmla="*/ 357327 w 562926"/>
                <a:gd name="connsiteY16" fmla="*/ 414162 h 585550"/>
                <a:gd name="connsiteX17" fmla="*/ 276940 w 562926"/>
                <a:gd name="connsiteY17" fmla="*/ 414162 h 585550"/>
                <a:gd name="connsiteX18" fmla="*/ 106118 w 562926"/>
                <a:gd name="connsiteY18" fmla="*/ 454356 h 585550"/>
                <a:gd name="connsiteX19" fmla="*/ 35780 w 562926"/>
                <a:gd name="connsiteY19" fmla="*/ 554839 h 585550"/>
                <a:gd name="connsiteX20" fmla="*/ 15683 w 562926"/>
                <a:gd name="connsiteY20" fmla="*/ 584984 h 585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62926" h="585550">
                  <a:moveTo>
                    <a:pt x="508052" y="72518"/>
                  </a:moveTo>
                  <a:cubicBezTo>
                    <a:pt x="436038" y="40698"/>
                    <a:pt x="364025" y="8879"/>
                    <a:pt x="286988" y="2180"/>
                  </a:cubicBezTo>
                  <a:cubicBezTo>
                    <a:pt x="209951" y="-4519"/>
                    <a:pt x="91045" y="3855"/>
                    <a:pt x="45828" y="32325"/>
                  </a:cubicBezTo>
                  <a:cubicBezTo>
                    <a:pt x="611" y="60795"/>
                    <a:pt x="-14462" y="134483"/>
                    <a:pt x="15683" y="173002"/>
                  </a:cubicBezTo>
                  <a:cubicBezTo>
                    <a:pt x="45828" y="211521"/>
                    <a:pt x="153010" y="245015"/>
                    <a:pt x="226698" y="263437"/>
                  </a:cubicBezTo>
                  <a:cubicBezTo>
                    <a:pt x="300386" y="281859"/>
                    <a:pt x="412592" y="293582"/>
                    <a:pt x="457810" y="283534"/>
                  </a:cubicBezTo>
                  <a:cubicBezTo>
                    <a:pt x="503028" y="273486"/>
                    <a:pt x="516426" y="226593"/>
                    <a:pt x="498004" y="203147"/>
                  </a:cubicBezTo>
                  <a:cubicBezTo>
                    <a:pt x="479582" y="179701"/>
                    <a:pt x="399194" y="149556"/>
                    <a:pt x="347278" y="142857"/>
                  </a:cubicBezTo>
                  <a:cubicBezTo>
                    <a:pt x="295362" y="136158"/>
                    <a:pt x="231722" y="147882"/>
                    <a:pt x="186505" y="162954"/>
                  </a:cubicBezTo>
                  <a:cubicBezTo>
                    <a:pt x="141288" y="178026"/>
                    <a:pt x="106118" y="201472"/>
                    <a:pt x="75973" y="233292"/>
                  </a:cubicBezTo>
                  <a:cubicBezTo>
                    <a:pt x="45828" y="265112"/>
                    <a:pt x="12333" y="313679"/>
                    <a:pt x="5634" y="353872"/>
                  </a:cubicBezTo>
                  <a:cubicBezTo>
                    <a:pt x="-1065" y="394065"/>
                    <a:pt x="12334" y="444307"/>
                    <a:pt x="35780" y="474452"/>
                  </a:cubicBezTo>
                  <a:cubicBezTo>
                    <a:pt x="59226" y="504597"/>
                    <a:pt x="91045" y="517996"/>
                    <a:pt x="146311" y="534743"/>
                  </a:cubicBezTo>
                  <a:cubicBezTo>
                    <a:pt x="201577" y="551490"/>
                    <a:pt x="310434" y="568237"/>
                    <a:pt x="367375" y="574936"/>
                  </a:cubicBezTo>
                  <a:cubicBezTo>
                    <a:pt x="424316" y="581635"/>
                    <a:pt x="456135" y="595033"/>
                    <a:pt x="487955" y="574936"/>
                  </a:cubicBezTo>
                  <a:cubicBezTo>
                    <a:pt x="519775" y="554839"/>
                    <a:pt x="580065" y="481152"/>
                    <a:pt x="558294" y="454356"/>
                  </a:cubicBezTo>
                  <a:cubicBezTo>
                    <a:pt x="536523" y="427560"/>
                    <a:pt x="404219" y="420861"/>
                    <a:pt x="357327" y="414162"/>
                  </a:cubicBezTo>
                  <a:cubicBezTo>
                    <a:pt x="310435" y="407463"/>
                    <a:pt x="318808" y="407463"/>
                    <a:pt x="276940" y="414162"/>
                  </a:cubicBezTo>
                  <a:cubicBezTo>
                    <a:pt x="235072" y="420861"/>
                    <a:pt x="146311" y="430910"/>
                    <a:pt x="106118" y="454356"/>
                  </a:cubicBezTo>
                  <a:cubicBezTo>
                    <a:pt x="65925" y="477802"/>
                    <a:pt x="50853" y="533068"/>
                    <a:pt x="35780" y="554839"/>
                  </a:cubicBezTo>
                  <a:cubicBezTo>
                    <a:pt x="20707" y="576610"/>
                    <a:pt x="15683" y="584984"/>
                    <a:pt x="15683" y="584984"/>
                  </a:cubicBezTo>
                </a:path>
              </a:pathLst>
            </a:cu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sp>
        <p:nvSpPr>
          <p:cNvPr id="30" name="Rectangle 29"/>
          <p:cNvSpPr/>
          <p:nvPr/>
        </p:nvSpPr>
        <p:spPr>
          <a:xfrm>
            <a:off x="6204739" y="5089678"/>
            <a:ext cx="2269993" cy="504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6591164" y="5160094"/>
            <a:ext cx="17802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: position marker</a:t>
            </a:r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6945337" y="3564504"/>
            <a:ext cx="1833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 err="1">
                <a:solidFill>
                  <a:srgbClr val="FF0000"/>
                </a:solidFill>
              </a:rPr>
              <a:t>StylusTipToStylus</a:t>
            </a:r>
            <a:endParaRPr lang="en-CA" b="1" dirty="0">
              <a:solidFill>
                <a:srgbClr val="FF0000"/>
              </a:solidFill>
            </a:endParaRPr>
          </a:p>
        </p:txBody>
      </p:sp>
      <p:sp>
        <p:nvSpPr>
          <p:cNvPr id="33" name="Content Placeholder 2"/>
          <p:cNvSpPr>
            <a:spLocks noGrp="1"/>
          </p:cNvSpPr>
          <p:nvPr>
            <p:ph idx="1"/>
          </p:nvPr>
        </p:nvSpPr>
        <p:spPr>
          <a:xfrm>
            <a:off x="628650" y="1181100"/>
            <a:ext cx="4686154" cy="4995863"/>
          </a:xfrm>
        </p:spPr>
        <p:txBody>
          <a:bodyPr>
            <a:normAutofit/>
          </a:bodyPr>
          <a:lstStyle/>
          <a:p>
            <a:r>
              <a:rPr lang="en-CA" dirty="0"/>
              <a:t>There are two coordinate systems associated with a stylus tool:</a:t>
            </a:r>
          </a:p>
          <a:p>
            <a:pPr lvl="1"/>
            <a:r>
              <a:rPr lang="en-CA" dirty="0"/>
              <a:t>Stylus</a:t>
            </a:r>
          </a:p>
          <a:p>
            <a:pPr lvl="2"/>
            <a:r>
              <a:rPr lang="en-CA" dirty="0"/>
              <a:t>Origin: center of the position marker</a:t>
            </a:r>
          </a:p>
          <a:p>
            <a:pPr lvl="1"/>
            <a:r>
              <a:rPr lang="en-CA" dirty="0" err="1"/>
              <a:t>StylusTip</a:t>
            </a:r>
            <a:endParaRPr lang="en-CA" dirty="0"/>
          </a:p>
          <a:p>
            <a:pPr lvl="2"/>
            <a:r>
              <a:rPr lang="en-CA" dirty="0"/>
              <a:t>Origin: tip of the stylus.</a:t>
            </a:r>
          </a:p>
          <a:p>
            <a:r>
              <a:rPr lang="en-CA" dirty="0"/>
              <a:t>The </a:t>
            </a:r>
            <a:r>
              <a:rPr lang="en-CA" dirty="0" err="1"/>
              <a:t>StylusTipToStylus</a:t>
            </a:r>
            <a:r>
              <a:rPr lang="en-CA" dirty="0"/>
              <a:t> transformation is computed using the </a:t>
            </a:r>
            <a:r>
              <a:rPr lang="en-CA" b="1" i="1" dirty="0"/>
              <a:t>Pivot Calibration </a:t>
            </a:r>
            <a:r>
              <a:rPr lang="en-CA" dirty="0"/>
              <a:t>algorithm.</a:t>
            </a:r>
          </a:p>
        </p:txBody>
      </p:sp>
    </p:spTree>
    <p:extLst>
      <p:ext uri="{BB962C8B-B14F-4D97-AF65-F5344CB8AC3E}">
        <p14:creationId xmlns:p14="http://schemas.microsoft.com/office/powerpoint/2010/main" val="327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677" y="250522"/>
            <a:ext cx="8430016" cy="749604"/>
          </a:xfrm>
        </p:spPr>
        <p:txBody>
          <a:bodyPr>
            <a:normAutofit fontScale="90000"/>
          </a:bodyPr>
          <a:lstStyle/>
          <a:p>
            <a:r>
              <a:rPr lang="en-CA" dirty="0"/>
              <a:t>Pivot Calibration in a Real </a:t>
            </a:r>
            <a:r>
              <a:rPr lang="en-CA"/>
              <a:t>Hardware Setup   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4</a:t>
            </a:fld>
            <a:endParaRPr lang="en-US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28650" y="1181100"/>
            <a:ext cx="3951442" cy="49958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3741" y="1181099"/>
            <a:ext cx="3701609" cy="4995863"/>
          </a:xfrm>
          <a:prstGeom prst="rect">
            <a:avLst/>
          </a:prstGeom>
        </p:spPr>
      </p:pic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628650" y="1181100"/>
            <a:ext cx="3951442" cy="4995863"/>
          </a:xfrm>
        </p:spPr>
        <p:txBody>
          <a:bodyPr/>
          <a:lstStyle/>
          <a:p>
            <a:r>
              <a:rPr lang="en-CA" dirty="0"/>
              <a:t>When performing a pivot calibration with a tracked needle</a:t>
            </a:r>
          </a:p>
          <a:p>
            <a:pPr lvl="1"/>
            <a:r>
              <a:rPr lang="en-CA" dirty="0"/>
              <a:t>Find a secure position to pivot in the Reference </a:t>
            </a:r>
            <a:r>
              <a:rPr lang="en-CA"/>
              <a:t>coordinate system</a:t>
            </a:r>
            <a:endParaRPr lang="en-CA" dirty="0"/>
          </a:p>
          <a:p>
            <a:pPr lvl="1"/>
            <a:r>
              <a:rPr lang="en-CA" dirty="0"/>
              <a:t>You must not shift the tip of the needle, only the shaft of the needle may move relative to the tip while you pivot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85065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Example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1881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Load example data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Load </a:t>
            </a:r>
            <a:r>
              <a:rPr lang="en-US" b="1" dirty="0" err="1"/>
              <a:t>SlicerIGT</a:t>
            </a:r>
            <a:r>
              <a:rPr lang="en-US" b="1" dirty="0"/>
              <a:t>-Data/</a:t>
            </a:r>
            <a:r>
              <a:rPr lang="en-US" b="1" dirty="0" err="1"/>
              <a:t>Skull_StylusCalibration.mrb</a:t>
            </a:r>
            <a:r>
              <a:rPr lang="en-US" b="1" dirty="0"/>
              <a:t> </a:t>
            </a:r>
          </a:p>
          <a:p>
            <a:r>
              <a:rPr lang="en-US" dirty="0"/>
              <a:t>In </a:t>
            </a:r>
            <a:r>
              <a:rPr lang="en-US" b="1" dirty="0"/>
              <a:t>Data</a:t>
            </a:r>
            <a:r>
              <a:rPr lang="en-US" dirty="0"/>
              <a:t> module, right click on </a:t>
            </a:r>
            <a:r>
              <a:rPr lang="en-US" b="1" dirty="0" err="1"/>
              <a:t>StylusToReference</a:t>
            </a:r>
            <a:r>
              <a:rPr lang="en-US" dirty="0"/>
              <a:t>, </a:t>
            </a:r>
            <a:r>
              <a:rPr lang="en-US" i="1" dirty="0"/>
              <a:t>Insert transform</a:t>
            </a:r>
          </a:p>
          <a:p>
            <a:r>
              <a:rPr lang="en-US" dirty="0"/>
              <a:t>Rename new transform to </a:t>
            </a:r>
            <a:r>
              <a:rPr lang="en-US" b="1" dirty="0" err="1"/>
              <a:t>StylusTipToStylus</a:t>
            </a:r>
            <a:endParaRPr lang="en-US" b="1" dirty="0"/>
          </a:p>
          <a:p>
            <a:r>
              <a:rPr lang="en-CA" dirty="0"/>
              <a:t>Create a needle model</a:t>
            </a:r>
          </a:p>
          <a:p>
            <a:r>
              <a:rPr lang="en-CA" dirty="0"/>
              <a:t>In </a:t>
            </a:r>
            <a:r>
              <a:rPr lang="en-CA" b="1" dirty="0"/>
              <a:t>Data</a:t>
            </a:r>
            <a:r>
              <a:rPr lang="en-CA" dirty="0"/>
              <a:t> module Drag-and-drop needle model on </a:t>
            </a:r>
            <a:r>
              <a:rPr lang="en-CA" b="1" dirty="0" err="1"/>
              <a:t>StylusTipToStylus</a:t>
            </a:r>
            <a:endParaRPr lang="en-CA" b="1" dirty="0"/>
          </a:p>
          <a:p>
            <a:r>
              <a:rPr lang="en-CA" dirty="0"/>
              <a:t>Make sure the </a:t>
            </a:r>
            <a:r>
              <a:rPr lang="en-CA" b="1" dirty="0"/>
              <a:t>Sequences </a:t>
            </a:r>
            <a:r>
              <a:rPr lang="en-CA" dirty="0"/>
              <a:t>toolbar is visible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6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05" y="5122743"/>
            <a:ext cx="2064032" cy="100908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2952" y="5122744"/>
            <a:ext cx="2534866" cy="1054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9993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Pivot calibration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181101"/>
            <a:ext cx="7886700" cy="1870572"/>
          </a:xfrm>
        </p:spPr>
        <p:txBody>
          <a:bodyPr/>
          <a:lstStyle/>
          <a:p>
            <a:r>
              <a:rPr lang="en-CA" dirty="0"/>
              <a:t>In </a:t>
            </a:r>
            <a:r>
              <a:rPr lang="en-CA" b="1" dirty="0"/>
              <a:t>IGT / Pivot Calibration</a:t>
            </a:r>
            <a:r>
              <a:rPr lang="en-CA" dirty="0"/>
              <a:t> module select </a:t>
            </a:r>
            <a:r>
              <a:rPr lang="en-CA" i="1" dirty="0"/>
              <a:t>Input</a:t>
            </a:r>
            <a:r>
              <a:rPr lang="en-CA" dirty="0"/>
              <a:t>: </a:t>
            </a:r>
            <a:r>
              <a:rPr lang="en-CA" b="1" dirty="0" err="1"/>
              <a:t>StylusToReference</a:t>
            </a:r>
            <a:r>
              <a:rPr lang="en-CA" dirty="0"/>
              <a:t>, </a:t>
            </a:r>
            <a:r>
              <a:rPr lang="en-CA" i="1" dirty="0"/>
              <a:t>Output</a:t>
            </a:r>
            <a:r>
              <a:rPr lang="en-CA" dirty="0"/>
              <a:t>: </a:t>
            </a:r>
            <a:r>
              <a:rPr lang="en-CA" b="1" dirty="0" err="1"/>
              <a:t>StylusTipToStylus</a:t>
            </a:r>
            <a:endParaRPr lang="en-CA" b="1" dirty="0"/>
          </a:p>
          <a:p>
            <a:r>
              <a:rPr lang="en-CA" dirty="0"/>
              <a:t>In the Sequences toolbar, select </a:t>
            </a:r>
            <a:r>
              <a:rPr lang="en-CA" dirty="0" err="1"/>
              <a:t>PivotCalibration</a:t>
            </a:r>
            <a:r>
              <a:rPr lang="en-CA" dirty="0"/>
              <a:t> and start playback with the play button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7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86" y="3219476"/>
            <a:ext cx="8171428" cy="41904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369815" y="3254683"/>
            <a:ext cx="1415600" cy="34020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7785415" y="3163174"/>
            <a:ext cx="4635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1.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304781" y="3254683"/>
            <a:ext cx="463588" cy="34020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768369" y="2975470"/>
            <a:ext cx="4635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2.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628650" y="4035173"/>
            <a:ext cx="7886700" cy="18705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dirty="0"/>
              <a:t>Press </a:t>
            </a:r>
            <a:r>
              <a:rPr lang="en-CA" b="1" dirty="0"/>
              <a:t>Start Pivot Calibration </a:t>
            </a:r>
            <a:r>
              <a:rPr lang="en-CA" dirty="0"/>
              <a:t>and wait until message at the </a:t>
            </a:r>
            <a:r>
              <a:rPr lang="en-CA" dirty="0" err="1"/>
              <a:t>botton</a:t>
            </a:r>
            <a:r>
              <a:rPr lang="en-CA" dirty="0"/>
              <a:t> of module widget displays </a:t>
            </a:r>
            <a:r>
              <a:rPr lang="en-CA" b="1" i="1" dirty="0"/>
              <a:t>Root-mean-square error </a:t>
            </a:r>
            <a:r>
              <a:rPr lang="en-CA" dirty="0"/>
              <a:t>value.</a:t>
            </a:r>
          </a:p>
          <a:p>
            <a:r>
              <a:rPr lang="en-CA" dirty="0"/>
              <a:t>This value should be under 1 mm</a:t>
            </a:r>
          </a:p>
        </p:txBody>
      </p:sp>
    </p:spTree>
    <p:extLst>
      <p:ext uri="{BB962C8B-B14F-4D97-AF65-F5344CB8AC3E}">
        <p14:creationId xmlns:p14="http://schemas.microsoft.com/office/powerpoint/2010/main" val="37375253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Pivot calibration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8</a:t>
            </a:fld>
            <a:endParaRPr lang="en-US"/>
          </a:p>
        </p:txBody>
      </p:sp>
      <p:pic>
        <p:nvPicPr>
          <p:cNvPr id="5" name="PivotCalibration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04825" y="1743075"/>
            <a:ext cx="8134350" cy="337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232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63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Spin calibration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Press </a:t>
            </a:r>
            <a:r>
              <a:rPr lang="en-CA" b="1" dirty="0"/>
              <a:t>Start Spin Calibration</a:t>
            </a:r>
          </a:p>
          <a:p>
            <a:r>
              <a:rPr lang="en-CA" dirty="0"/>
              <a:t>Wait until </a:t>
            </a:r>
            <a:r>
              <a:rPr lang="en-CA" b="1" dirty="0"/>
              <a:t>Root-mean-square error </a:t>
            </a:r>
            <a:r>
              <a:rPr lang="en-CA" dirty="0"/>
              <a:t>value updated</a:t>
            </a:r>
          </a:p>
          <a:p>
            <a:r>
              <a:rPr lang="en-CA" dirty="0"/>
              <a:t>With this particular stylus design, </a:t>
            </a:r>
            <a:r>
              <a:rPr lang="en-CA" b="1" dirty="0" err="1"/>
              <a:t>StylusTipToStylus</a:t>
            </a:r>
            <a:r>
              <a:rPr lang="en-CA" dirty="0"/>
              <a:t> transform does not change significantly</a:t>
            </a:r>
          </a:p>
          <a:p>
            <a:r>
              <a:rPr lang="en-CA" dirty="0"/>
              <a:t>Save </a:t>
            </a:r>
            <a:r>
              <a:rPr lang="en-CA" dirty="0" err="1"/>
              <a:t>StylusTipToStylus</a:t>
            </a:r>
            <a:r>
              <a:rPr lang="en-CA" dirty="0"/>
              <a:t> transform into a </a:t>
            </a:r>
            <a:r>
              <a:rPr lang="en-CA" b="1" i="1" dirty="0"/>
              <a:t>.h5 </a:t>
            </a:r>
            <a:r>
              <a:rPr lang="en-CA" dirty="0"/>
              <a:t>file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9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1719" y="3811079"/>
            <a:ext cx="6154358" cy="24555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580202" y="3811079"/>
            <a:ext cx="463588" cy="34020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070856" y="3719570"/>
            <a:ext cx="4635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1.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162131" y="4994021"/>
            <a:ext cx="463588" cy="34020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652785" y="4902512"/>
            <a:ext cx="4635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2.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953510" y="5901826"/>
            <a:ext cx="2433738" cy="34020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2444164" y="5810317"/>
            <a:ext cx="4635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3.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081612" y="5901826"/>
            <a:ext cx="814947" cy="34020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5572266" y="5810317"/>
            <a:ext cx="4635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4.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79383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704850" y="1945821"/>
            <a:ext cx="7886700" cy="2611666"/>
          </a:xfrm>
        </p:spPr>
        <p:txBody>
          <a:bodyPr/>
          <a:lstStyle/>
          <a:p>
            <a:r>
              <a:rPr lang="en-CA" dirty="0"/>
              <a:t>Example 2.</a:t>
            </a:r>
            <a:br>
              <a:rPr lang="en-CA" dirty="0"/>
            </a:br>
            <a:r>
              <a:rPr lang="en-CA" sz="2800" dirty="0"/>
              <a:t>(PLUS required. This is method is getting obsolete.)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7061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Pivot calibration in Slicer</a:t>
            </a:r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There is a data sequence in </a:t>
            </a:r>
            <a:r>
              <a:rPr lang="en-CA" dirty="0" err="1"/>
              <a:t>SlicerIGT</a:t>
            </a:r>
            <a:r>
              <a:rPr lang="en-CA" dirty="0"/>
              <a:t>-Data which was recorded using a pivoting stylus: </a:t>
            </a:r>
            <a:r>
              <a:rPr lang="en-CA" b="1" dirty="0" err="1"/>
              <a:t>PivotCalibration.mha</a:t>
            </a:r>
            <a:endParaRPr lang="en-CA" b="1" dirty="0"/>
          </a:p>
          <a:p>
            <a:r>
              <a:rPr lang="en-CA" dirty="0"/>
              <a:t>The stylus tip was pivoting relative to a tracked </a:t>
            </a:r>
            <a:r>
              <a:rPr lang="en-CA" b="1" dirty="0"/>
              <a:t>Reference</a:t>
            </a:r>
            <a:r>
              <a:rPr lang="en-CA" dirty="0"/>
              <a:t> object. Therefore we need </a:t>
            </a:r>
            <a:r>
              <a:rPr lang="en-CA" b="1" dirty="0" err="1"/>
              <a:t>StylusToReference</a:t>
            </a:r>
            <a:r>
              <a:rPr lang="en-CA" dirty="0"/>
              <a:t> transformation to find the </a:t>
            </a:r>
            <a:r>
              <a:rPr lang="en-CA" b="1" dirty="0" err="1"/>
              <a:t>StylusTip</a:t>
            </a:r>
            <a:r>
              <a:rPr lang="en-CA" dirty="0"/>
              <a:t> (as the pivot point).</a:t>
            </a:r>
          </a:p>
          <a:p>
            <a:r>
              <a:rPr lang="en-CA" dirty="0"/>
              <a:t>Run </a:t>
            </a:r>
            <a:r>
              <a:rPr lang="en-CA" b="1" dirty="0"/>
              <a:t>PivotCalibrationExtend.bat</a:t>
            </a:r>
            <a:r>
              <a:rPr lang="en-CA" dirty="0"/>
              <a:t> to get </a:t>
            </a:r>
            <a:r>
              <a:rPr lang="en-CA" b="1" dirty="0" err="1"/>
              <a:t>PivotCalibration-Extended.mha</a:t>
            </a:r>
            <a:r>
              <a:rPr lang="en-CA" dirty="0"/>
              <a:t> the /</a:t>
            </a:r>
            <a:r>
              <a:rPr lang="en-CA" b="1" dirty="0"/>
              <a:t>data</a:t>
            </a:r>
            <a:r>
              <a:rPr lang="en-CA" dirty="0"/>
              <a:t> folder of your PLUS installation. E.g. in c:\users\you\PlusApp-2.1.2.3392-Win64\data\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5113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Load pivot calibration sequence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12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096" y="1147031"/>
            <a:ext cx="6833808" cy="506241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457950" y="3163645"/>
            <a:ext cx="1415600" cy="34020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5994362" y="3072136"/>
            <a:ext cx="4635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2.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238958" y="5761549"/>
            <a:ext cx="878239" cy="34020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5775370" y="5686224"/>
            <a:ext cx="4635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3.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75129" y="1364266"/>
            <a:ext cx="5421664" cy="529271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dirty="0">
                <a:solidFill>
                  <a:schemeClr val="tx1"/>
                </a:solidFill>
              </a:rPr>
              <a:t>Drag and drop </a:t>
            </a:r>
            <a:r>
              <a:rPr lang="en-CA" dirty="0" err="1">
                <a:solidFill>
                  <a:schemeClr val="tx1"/>
                </a:solidFill>
              </a:rPr>
              <a:t>PivotCalibration-Extended.mha</a:t>
            </a:r>
            <a:r>
              <a:rPr lang="en-CA" dirty="0">
                <a:solidFill>
                  <a:schemeClr val="tx1"/>
                </a:solidFill>
              </a:rPr>
              <a:t> on Slicer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96856" y="916236"/>
            <a:ext cx="4635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1.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78641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3880" y="1645976"/>
            <a:ext cx="3952381" cy="312380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Example: Pivot calibration in Slicer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50436"/>
            <a:ext cx="3943350" cy="3674121"/>
          </a:xfrm>
        </p:spPr>
        <p:txBody>
          <a:bodyPr/>
          <a:lstStyle/>
          <a:p>
            <a:r>
              <a:rPr lang="en-CA" dirty="0"/>
              <a:t>Create a needle model using </a:t>
            </a:r>
            <a:r>
              <a:rPr lang="en-CA" b="1" dirty="0"/>
              <a:t>IGT/Create Models</a:t>
            </a:r>
            <a:r>
              <a:rPr lang="en-CA" dirty="0"/>
              <a:t> to represent the stylus tool.</a:t>
            </a:r>
          </a:p>
          <a:p>
            <a:r>
              <a:rPr lang="en-CA" dirty="0"/>
              <a:t>A needle model should appear in the scene that looks like this: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13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040071" y="1650435"/>
            <a:ext cx="1560686" cy="34020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8051762" y="1205809"/>
            <a:ext cx="4635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1.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890183" y="4316898"/>
            <a:ext cx="1126078" cy="34735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089534" y="4640533"/>
            <a:ext cx="4635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2.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944" y="4843604"/>
            <a:ext cx="3104762" cy="96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6513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Example: Pivot calibration in Slicer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75646"/>
            <a:ext cx="3943350" cy="4669104"/>
          </a:xfrm>
        </p:spPr>
        <p:txBody>
          <a:bodyPr>
            <a:normAutofit/>
          </a:bodyPr>
          <a:lstStyle/>
          <a:p>
            <a:r>
              <a:rPr lang="en-CA" dirty="0"/>
              <a:t>Create the transform hierarchy for the scene:</a:t>
            </a:r>
          </a:p>
          <a:p>
            <a:r>
              <a:rPr lang="en-CA" dirty="0"/>
              <a:t>Select the </a:t>
            </a:r>
            <a:r>
              <a:rPr lang="en-CA" b="1" i="1" dirty="0"/>
              <a:t>Transforms </a:t>
            </a:r>
            <a:r>
              <a:rPr lang="en-CA" dirty="0"/>
              <a:t>module and create a new transform, named </a:t>
            </a:r>
            <a:r>
              <a:rPr lang="en-CA" b="1" dirty="0" err="1"/>
              <a:t>StylusTipToStylus</a:t>
            </a:r>
            <a:r>
              <a:rPr lang="en-CA" dirty="0"/>
              <a:t>.</a:t>
            </a:r>
          </a:p>
          <a:p>
            <a:r>
              <a:rPr lang="en-CA" dirty="0"/>
              <a:t>Set up the transform hierarchy in the Data module as seen in the figure.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14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2064" y="1054274"/>
            <a:ext cx="4142857" cy="499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6932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Play the recorded sequence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71931" y="1745760"/>
            <a:ext cx="4800137" cy="3129203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15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4280687" y="1723263"/>
            <a:ext cx="1560686" cy="34020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5292378" y="1278637"/>
            <a:ext cx="4635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1.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835625" y="4462555"/>
            <a:ext cx="568176" cy="43490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048893" y="4863678"/>
            <a:ext cx="4635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2.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17628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Example: Pivot calibration in Slicer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181100"/>
            <a:ext cx="3951442" cy="4995863"/>
          </a:xfrm>
        </p:spPr>
        <p:txBody>
          <a:bodyPr/>
          <a:lstStyle/>
          <a:p>
            <a:r>
              <a:rPr lang="en-CA" dirty="0"/>
              <a:t>Initially, you should see the tip of the stylus swinging.</a:t>
            </a:r>
          </a:p>
          <a:p>
            <a:r>
              <a:rPr lang="en-CA" dirty="0"/>
              <a:t>Follow the steps shown in red.</a:t>
            </a:r>
          </a:p>
          <a:p>
            <a:r>
              <a:rPr lang="en-CA" dirty="0"/>
              <a:t>After pivot calibration, the tip of the stylus should be relatively stable</a:t>
            </a:r>
            <a:br>
              <a:rPr lang="en-CA" dirty="0"/>
            </a:br>
            <a:r>
              <a:rPr lang="en-CA" dirty="0"/>
              <a:t>(within about 0.5 mm)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16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2548" y="1246085"/>
            <a:ext cx="4009524" cy="465714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703093" y="1245835"/>
            <a:ext cx="1716755" cy="34020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7925225" y="1515941"/>
            <a:ext cx="5099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1.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030106" y="3177868"/>
            <a:ext cx="1716755" cy="54446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7704343" y="3155811"/>
            <a:ext cx="4635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2.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031979" y="3968295"/>
            <a:ext cx="347957" cy="35328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7379936" y="3911651"/>
            <a:ext cx="4796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3.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792549" y="4329541"/>
            <a:ext cx="3472434" cy="35328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8264982" y="4272897"/>
            <a:ext cx="4796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4.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708930" y="5029341"/>
            <a:ext cx="33420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5. Wait until sampling complete</a:t>
            </a:r>
            <a:endParaRPr lang="en-US" sz="1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45351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Saving the result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Save the Slicer scene to save your </a:t>
            </a:r>
            <a:r>
              <a:rPr lang="en-CA" b="1" dirty="0" err="1"/>
              <a:t>StylusTipToStylus</a:t>
            </a:r>
            <a:r>
              <a:rPr lang="en-CA" dirty="0"/>
              <a:t> calibration transformation.</a:t>
            </a:r>
          </a:p>
          <a:p>
            <a:r>
              <a:rPr lang="en-CA" dirty="0"/>
              <a:t>The </a:t>
            </a:r>
            <a:r>
              <a:rPr lang="en-CA" b="1" dirty="0"/>
              <a:t>.</a:t>
            </a:r>
            <a:r>
              <a:rPr lang="en-CA" b="1" dirty="0" err="1"/>
              <a:t>mrml</a:t>
            </a:r>
            <a:r>
              <a:rPr lang="en-CA" b="1" dirty="0"/>
              <a:t> </a:t>
            </a:r>
            <a:r>
              <a:rPr lang="en-CA" dirty="0"/>
              <a:t>file in the scene folder contains a human-readable format of the transformation matrix.</a:t>
            </a:r>
          </a:p>
          <a:p>
            <a:r>
              <a:rPr lang="en-CA" dirty="0"/>
              <a:t>The </a:t>
            </a:r>
            <a:r>
              <a:rPr lang="en-CA" b="1" dirty="0"/>
              <a:t>StylusTipToStylus.h5</a:t>
            </a:r>
            <a:r>
              <a:rPr lang="en-CA" dirty="0"/>
              <a:t> file in the scene folder contains encrypted numbers, but if you drag and drop it on Slicer, it will recover your calibration transformation.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8560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B5AEEC3C-57F5-458C-A259-BEA2AFF0D77B}" vid="{F032F1CB-9777-488E-B287-8CA49E564C5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SlicerIGT-TutorialTemplate</Template>
  <TotalTime>174</TotalTime>
  <Words>685</Words>
  <Application>Microsoft Office PowerPoint</Application>
  <PresentationFormat>On-screen Show (4:3)</PresentationFormat>
  <Paragraphs>104</Paragraphs>
  <Slides>17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Pivot calibration</vt:lpstr>
      <vt:lpstr>Introduction</vt:lpstr>
      <vt:lpstr>Stylus coordinate systems</vt:lpstr>
      <vt:lpstr>Pivot Calibration in a Real Hardware Setup   </vt:lpstr>
      <vt:lpstr>Example 1.</vt:lpstr>
      <vt:lpstr>Load example data</vt:lpstr>
      <vt:lpstr>Pivot calibration</vt:lpstr>
      <vt:lpstr>Pivot calibration</vt:lpstr>
      <vt:lpstr>Spin calibration</vt:lpstr>
      <vt:lpstr>Example 2. (PLUS required. This is method is getting obsolete.)</vt:lpstr>
      <vt:lpstr>Pivot calibration in Slicer</vt:lpstr>
      <vt:lpstr>Load pivot calibration sequence</vt:lpstr>
      <vt:lpstr>Example: Pivot calibration in Slicer</vt:lpstr>
      <vt:lpstr>Example: Pivot calibration in Slicer</vt:lpstr>
      <vt:lpstr>Play the recorded sequence</vt:lpstr>
      <vt:lpstr>Example: Pivot calibration in Slicer</vt:lpstr>
      <vt:lpstr>Saving the result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Tamas Ungi</dc:creator>
  <cp:lastModifiedBy>Tamas Ungi</cp:lastModifiedBy>
  <cp:revision>29</cp:revision>
  <dcterms:created xsi:type="dcterms:W3CDTF">2014-04-04T16:52:35Z</dcterms:created>
  <dcterms:modified xsi:type="dcterms:W3CDTF">2017-01-01T19:52:00Z</dcterms:modified>
</cp:coreProperties>
</file>