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1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slicer.org/wiki/Modules:Models-Document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255" y="1749369"/>
            <a:ext cx="7772400" cy="2387600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herramientas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Serie de </a:t>
            </a:r>
            <a:r>
              <a:rPr lang="en-US" dirty="0" err="1"/>
              <a:t>tutoriales</a:t>
            </a:r>
            <a:r>
              <a:rPr lang="en-US" dirty="0"/>
              <a:t> de </a:t>
            </a:r>
            <a:r>
              <a:rPr lang="en-US" dirty="0" err="1"/>
              <a:t>SlicerIGT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simples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60780"/>
            <a:ext cx="4749417" cy="4995863"/>
          </a:xfrm>
        </p:spPr>
        <p:txBody>
          <a:bodyPr>
            <a:normAutofit/>
          </a:bodyPr>
          <a:lstStyle/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Seleccionar módulo IGT / Crear modelos 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Utilice el widget del módulo de la izquierda para crear modelos sencillos con parámetros de tamaño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 En el modelo del sistema de coordenadas, X está marcado con una punta de flecha, Y y Z se definen si se asume la orientación a la derecha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10" y="3437261"/>
            <a:ext cx="2103011" cy="2050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7950" y="531013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3314" y="4318177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462" y="339461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Z</a:t>
            </a:r>
          </a:p>
        </p:txBody>
      </p:sp>
      <p:pic>
        <p:nvPicPr>
          <p:cNvPr id="10" name="Imagen 9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30554E05-39B0-E26D-6E75-D48399B44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" t="7634" r="9203" b="-1600"/>
          <a:stretch>
            <a:fillRect/>
          </a:stretch>
        </p:blipFill>
        <p:spPr>
          <a:xfrm>
            <a:off x="4669453" y="1007281"/>
            <a:ext cx="4339470" cy="11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 dirty="0"/>
            </a:br>
            <a:r>
              <a:rPr lang="en-CA" dirty="0" err="1"/>
              <a:t>Modelos</a:t>
            </a:r>
            <a:r>
              <a:rPr lang="en-CA" dirty="0"/>
              <a:t> de </a:t>
            </a:r>
            <a:r>
              <a:rPr lang="en-CA" dirty="0" err="1"/>
              <a:t>aguja</a:t>
            </a:r>
            <a:r>
              <a:rPr lang="en-CA" dirty="0"/>
              <a:t>/ </a:t>
            </a:r>
            <a:r>
              <a:rPr lang="en-CA" dirty="0" err="1"/>
              <a:t>lápices</a:t>
            </a:r>
            <a:r>
              <a:rPr lang="en-CA" dirty="0"/>
              <a:t> </a:t>
            </a:r>
            <a:r>
              <a:rPr lang="en-CA" dirty="0" err="1"/>
              <a:t>ópticos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717745" cy="4995863"/>
          </a:xfrm>
        </p:spPr>
        <p:txBody>
          <a:bodyPr>
            <a:normAutofit/>
          </a:bodyPr>
          <a:lstStyle/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Se pueden crear marcadores de profundidad opcionales para el modelo de aguja. Las marcas están separadas 10 mm entre sí, como en la mayoría de las agujas médicas.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Los modelos de agujas y los modelos de lápices ópticos apuntan convencionalmente hacia el eje Z.</a:t>
            </a:r>
          </a:p>
          <a:p>
            <a:pPr marL="0" indent="0" algn="l">
              <a:buNone/>
            </a:pPr>
            <a:endParaRPr lang="es-MX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395" y="1181100"/>
            <a:ext cx="3695238" cy="1152381"/>
          </a:xfrm>
          <a:prstGeom prst="rect">
            <a:avLst/>
          </a:prstGeom>
        </p:spPr>
      </p:pic>
      <p:pic>
        <p:nvPicPr>
          <p:cNvPr id="1026" name="Picture 2" descr="C:\Users\ungi\AppData\Local\Temp\SNAGHTMLb587c8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16" y="3254018"/>
            <a:ext cx="2789258" cy="176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10640" y="373200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041" y="479452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0543" y="5195670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0070C0"/>
                </a:solidFill>
              </a:rPr>
              <a:t>Z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5655733" y="4836405"/>
            <a:ext cx="446030" cy="367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H="1" flipV="1">
            <a:off x="6087944" y="4047067"/>
            <a:ext cx="22696" cy="789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6128859" y="4827662"/>
            <a:ext cx="557494" cy="9143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406151B-8BDC-A79A-0778-08A7E58D5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268" y="1179195"/>
            <a:ext cx="3522345" cy="13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2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 dirty="0"/>
            </a:br>
            <a:r>
              <a:rPr lang="en-CA" dirty="0" err="1"/>
              <a:t>Cargar</a:t>
            </a:r>
            <a:r>
              <a:rPr lang="en-CA" dirty="0"/>
              <a:t> </a:t>
            </a:r>
            <a:r>
              <a:rPr lang="en-CA" dirty="0" err="1"/>
              <a:t>modelos</a:t>
            </a:r>
            <a:r>
              <a:rPr lang="en-CA" dirty="0"/>
              <a:t> del </a:t>
            </a:r>
            <a:r>
              <a:rPr lang="en-CA" dirty="0" err="1"/>
              <a:t>catálogo</a:t>
            </a:r>
            <a:r>
              <a:rPr lang="en-CA" dirty="0"/>
              <a:t> PLUS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Seleccione el módulo del navegador del catálogo de modelos </a:t>
            </a:r>
            <a:r>
              <a:rPr lang="es-MX" sz="2400" b="0" i="1" u="none" strike="noStrike" dirty="0">
                <a:solidFill>
                  <a:srgbClr val="000000"/>
                </a:solidFill>
                <a:effectLst/>
              </a:rPr>
              <a:t>IGT / Plus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Haga clic en </a:t>
            </a:r>
            <a:r>
              <a:rPr lang="es-MX" sz="2400" b="0" i="1" u="none" strike="noStrike" dirty="0">
                <a:solidFill>
                  <a:srgbClr val="000000"/>
                </a:solidFill>
                <a:effectLst/>
              </a:rPr>
              <a:t>Mostrar/ocultar catálogo 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para abrir el sitio web del catálogo de modelos PLUS.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Haga clic en los archivos </a:t>
            </a:r>
            <a:r>
              <a:rPr lang="es-MX" sz="2400" b="0" i="1" u="none" strike="noStrike" dirty="0">
                <a:solidFill>
                  <a:srgbClr val="000000"/>
                </a:solidFill>
                <a:effectLst/>
              </a:rPr>
              <a:t>.stl 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para descargar un modelo.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También hay disponibles archivos adicionales, por ejemplo, un volumen TC del modelo de columna vertebral.</a:t>
            </a:r>
          </a:p>
          <a:p>
            <a:pPr marL="0" indent="0" algn="l">
              <a:buNone/>
            </a:pPr>
            <a:endParaRPr lang="es-MX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302880"/>
            <a:ext cx="3123809" cy="780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211" y="4196503"/>
            <a:ext cx="4404139" cy="1980460"/>
          </a:xfrm>
          <a:prstGeom prst="rect">
            <a:avLst/>
          </a:prstGeom>
        </p:spPr>
      </p:pic>
      <p:sp>
        <p:nvSpPr>
          <p:cNvPr id="7" name="Arrow: Down 6"/>
          <p:cNvSpPr/>
          <p:nvPr/>
        </p:nvSpPr>
        <p:spPr>
          <a:xfrm>
            <a:off x="2280356" y="4018844"/>
            <a:ext cx="237066" cy="38382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Down 7"/>
          <p:cNvSpPr/>
          <p:nvPr/>
        </p:nvSpPr>
        <p:spPr>
          <a:xfrm>
            <a:off x="2643506" y="4196503"/>
            <a:ext cx="237066" cy="383823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78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Crear</a:t>
            </a:r>
            <a:r>
              <a:rPr lang="en-CA" dirty="0"/>
              <a:t> </a:t>
            </a:r>
            <a:r>
              <a:rPr lang="en-CA" dirty="0" err="1"/>
              <a:t>modelos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software 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FreeCAD, SolidWorks, Blender, etc. 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Guardar en formato STL, las unidades deben ser milímetros. 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Cuando exporte el modelo en STL, elija y documente un sistema de coordenadas intuitivo.</a:t>
            </a:r>
          </a:p>
          <a:p>
            <a:pPr algn="l"/>
            <a:endParaRPr lang="es-MX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84" y="3295221"/>
            <a:ext cx="5078032" cy="27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0364"/>
            <a:ext cx="7886700" cy="634999"/>
          </a:xfrm>
        </p:spPr>
        <p:txBody>
          <a:bodyPr>
            <a:normAutofit fontScale="90000"/>
          </a:bodyPr>
          <a:lstStyle/>
          <a:p>
            <a:pPr algn="l"/>
            <a:br>
              <a:rPr lang="en-CA" dirty="0"/>
            </a:br>
            <a:r>
              <a:rPr lang="en-CA" dirty="0" err="1"/>
              <a:t>Modelos</a:t>
            </a:r>
            <a:r>
              <a:rPr lang="en-CA" dirty="0"/>
              <a:t> </a:t>
            </a:r>
            <a:r>
              <a:rPr lang="en-CA" dirty="0" err="1"/>
              <a:t>por</a:t>
            </a:r>
            <a:r>
              <a:rPr lang="en-CA" dirty="0"/>
              <a:t> </a:t>
            </a:r>
            <a:r>
              <a:rPr lang="en-CA" dirty="0" err="1"/>
              <a:t>segmentación</a:t>
            </a:r>
            <a:r>
              <a:rPr lang="en-CA" dirty="0"/>
              <a:t> de </a:t>
            </a:r>
            <a:r>
              <a:rPr lang="en-CA" dirty="0" err="1"/>
              <a:t>imágenes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0488"/>
            <a:ext cx="7886700" cy="49958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Cargue </a:t>
            </a:r>
            <a:r>
              <a:rPr lang="es-MX" b="1" i="0" u="none" strike="noStrike" dirty="0">
                <a:solidFill>
                  <a:srgbClr val="000000"/>
                </a:solidFill>
                <a:effectLst/>
              </a:rPr>
              <a:t>SkullPhantom1mm.nrrd 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desde la carpeta de datos del tutorial.</a:t>
            </a:r>
          </a:p>
          <a:p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Seleccione el módulo </a:t>
            </a:r>
            <a:r>
              <a:rPr lang="es-MX" b="0" i="1" u="none" strike="noStrike" dirty="0">
                <a:solidFill>
                  <a:srgbClr val="000000"/>
                </a:solidFill>
                <a:effectLst/>
              </a:rPr>
              <a:t>Editor de segmentos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Haga clic en </a:t>
            </a:r>
            <a:r>
              <a:rPr lang="es-MX" i="1" dirty="0">
                <a:solidFill>
                  <a:srgbClr val="000000"/>
                </a:solidFill>
              </a:rPr>
              <a:t>Añadir segmento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s-MX" b="0" i="0" u="none" strike="noStrike" dirty="0">
              <a:solidFill>
                <a:srgbClr val="000000"/>
              </a:solidFill>
              <a:effectLst/>
              <a:ea typeface="Calibri"/>
              <a:cs typeface="Calibri"/>
            </a:endParaRP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Utilice las herramientas de segmentación </a:t>
            </a:r>
            <a:r>
              <a:rPr lang="es-MX" b="1" i="0" u="none" strike="noStrike" dirty="0">
                <a:solidFill>
                  <a:srgbClr val="000000"/>
                </a:solidFill>
                <a:effectLst/>
              </a:rPr>
              <a:t>(“Efectos”)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 para segmentar.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Sugerencia: los objetos escaneados por TC en el aire se pueden segmentar rápidamente utilizando el umbral seguido de las tijeras.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Seleccione el módulo </a:t>
            </a:r>
            <a:r>
              <a:rPr lang="es-MX" b="1" i="0" u="none" strike="noStrike" dirty="0">
                <a:solidFill>
                  <a:srgbClr val="000000"/>
                </a:solidFill>
                <a:effectLst/>
              </a:rPr>
              <a:t>Segmentaciones</a:t>
            </a:r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s-MX" b="0" i="0" u="none" strike="noStrike" dirty="0">
                <a:solidFill>
                  <a:srgbClr val="000000"/>
                </a:solidFill>
                <a:effectLst/>
              </a:rPr>
              <a:t>Exporte un nuevo modelo en el panel </a:t>
            </a:r>
            <a:r>
              <a:rPr lang="es-MX" b="1" i="0" u="none" strike="noStrike" dirty="0">
                <a:solidFill>
                  <a:srgbClr val="000000"/>
                </a:solidFill>
                <a:effectLst/>
              </a:rPr>
              <a:t>Exportar/importar segmentos.</a:t>
            </a:r>
          </a:p>
          <a:p>
            <a:pPr marL="0" indent="0" algn="l"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AFB2-0957-D8BB-D94A-1B7FE869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6E1F9E4-373F-5147-7468-696F799B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515" y="771208"/>
            <a:ext cx="3646170" cy="2602865"/>
          </a:xfrm>
          <a:prstGeom prst="rect">
            <a:avLst/>
          </a:prstGeom>
        </p:spPr>
      </p:pic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FC6DB6F-D876-F2F5-A0A4-2E9D733E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98" y="1270000"/>
            <a:ext cx="4011965" cy="5049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179885-B663-0CCE-9E33-CE26F065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4486"/>
            <a:ext cx="7886700" cy="634999"/>
          </a:xfrm>
        </p:spPr>
        <p:txBody>
          <a:bodyPr>
            <a:normAutofit fontScale="90000"/>
          </a:bodyPr>
          <a:lstStyle/>
          <a:p>
            <a:pPr algn="l"/>
            <a:br>
              <a:rPr lang="en-CA" dirty="0"/>
            </a:br>
            <a:r>
              <a:rPr lang="en-CA" dirty="0" err="1"/>
              <a:t>Modelo</a:t>
            </a:r>
            <a:r>
              <a:rPr lang="en-CA" dirty="0"/>
              <a:t> de </a:t>
            </a:r>
            <a:r>
              <a:rPr lang="en-CA" dirty="0" err="1"/>
              <a:t>cráneo</a:t>
            </a:r>
            <a:r>
              <a:rPr lang="en-CA" dirty="0"/>
              <a:t> a </a:t>
            </a:r>
            <a:r>
              <a:rPr lang="en-CA" dirty="0" err="1"/>
              <a:t>partir</a:t>
            </a:r>
            <a:r>
              <a:rPr lang="en-CA" dirty="0"/>
              <a:t> de la </a:t>
            </a:r>
            <a:r>
              <a:rPr lang="en-CA" dirty="0" err="1"/>
              <a:t>segmentación</a:t>
            </a:r>
            <a:r>
              <a:rPr lang="en-CA" dirty="0"/>
              <a:t>.</a:t>
            </a: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74A5A-81DB-C8A7-CE7B-221A80C8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A9B42FD-E459-8FFD-6988-6F9DE10BE0D9}"/>
              </a:ext>
            </a:extLst>
          </p:cNvPr>
          <p:cNvSpPr/>
          <p:nvPr/>
        </p:nvSpPr>
        <p:spPr>
          <a:xfrm rot="8520000">
            <a:off x="944695" y="3335962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B08B694-0278-611E-DCEE-7E2ED4A244A1}"/>
              </a:ext>
            </a:extLst>
          </p:cNvPr>
          <p:cNvSpPr/>
          <p:nvPr/>
        </p:nvSpPr>
        <p:spPr>
          <a:xfrm>
            <a:off x="1571229" y="487356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8928081-DD25-A746-1228-D084013EA33C}"/>
              </a:ext>
            </a:extLst>
          </p:cNvPr>
          <p:cNvSpPr/>
          <p:nvPr/>
        </p:nvSpPr>
        <p:spPr>
          <a:xfrm>
            <a:off x="3228437" y="2591928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3144948-5232-AB41-DF99-C459BD2231E4}"/>
              </a:ext>
            </a:extLst>
          </p:cNvPr>
          <p:cNvSpPr/>
          <p:nvPr/>
        </p:nvSpPr>
        <p:spPr>
          <a:xfrm>
            <a:off x="793424" y="2570974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1785559-2991-0BAD-DFC7-491C39DADE92}"/>
              </a:ext>
            </a:extLst>
          </p:cNvPr>
          <p:cNvSpPr/>
          <p:nvPr/>
        </p:nvSpPr>
        <p:spPr>
          <a:xfrm>
            <a:off x="2554491" y="5633309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554DAFC-F5FA-B248-1C4E-2B5518936B9D}"/>
              </a:ext>
            </a:extLst>
          </p:cNvPr>
          <p:cNvSpPr/>
          <p:nvPr/>
        </p:nvSpPr>
        <p:spPr>
          <a:xfrm>
            <a:off x="5167868" y="1473068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DBE93F6-E5E2-B89F-08CC-0E38639DE89B}"/>
              </a:ext>
            </a:extLst>
          </p:cNvPr>
          <p:cNvSpPr/>
          <p:nvPr/>
        </p:nvSpPr>
        <p:spPr>
          <a:xfrm>
            <a:off x="5465656" y="221010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5260CA-ED27-49E8-FC32-9621FCB0F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252" y="3512168"/>
            <a:ext cx="2088806" cy="19382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E3CFB6-9971-9441-C931-D66C39F4F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810" y="4195247"/>
            <a:ext cx="1960540" cy="2152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072374-D594-B642-68BA-C20414040D68}"/>
              </a:ext>
            </a:extLst>
          </p:cNvPr>
          <p:cNvSpPr txBox="1"/>
          <p:nvPr/>
        </p:nvSpPr>
        <p:spPr>
          <a:xfrm>
            <a:off x="761114" y="2279064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ACA81F-FEEF-820B-7370-E214495A1CF7}"/>
              </a:ext>
            </a:extLst>
          </p:cNvPr>
          <p:cNvSpPr txBox="1"/>
          <p:nvPr/>
        </p:nvSpPr>
        <p:spPr>
          <a:xfrm>
            <a:off x="3228437" y="2318255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0EFA0-5D33-5268-3C51-135E6F5EAAC3}"/>
              </a:ext>
            </a:extLst>
          </p:cNvPr>
          <p:cNvSpPr txBox="1"/>
          <p:nvPr/>
        </p:nvSpPr>
        <p:spPr>
          <a:xfrm>
            <a:off x="1127575" y="3656772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8C863-B126-18AA-AE5E-6054CDA4ABE1}"/>
              </a:ext>
            </a:extLst>
          </p:cNvPr>
          <p:cNvSpPr txBox="1"/>
          <p:nvPr/>
        </p:nvSpPr>
        <p:spPr>
          <a:xfrm>
            <a:off x="1506610" y="4611768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1A61A6-1650-61DD-6487-E13B65D6B008}"/>
              </a:ext>
            </a:extLst>
          </p:cNvPr>
          <p:cNvSpPr txBox="1"/>
          <p:nvPr/>
        </p:nvSpPr>
        <p:spPr>
          <a:xfrm>
            <a:off x="2522181" y="530075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00A13F-42EB-9FFE-DFEB-ABDAE614A617}"/>
              </a:ext>
            </a:extLst>
          </p:cNvPr>
          <p:cNvSpPr txBox="1"/>
          <p:nvPr/>
        </p:nvSpPr>
        <p:spPr>
          <a:xfrm>
            <a:off x="5455116" y="191084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9E5559-7C80-626A-4D90-990A9F3317AA}"/>
              </a:ext>
            </a:extLst>
          </p:cNvPr>
          <p:cNvSpPr txBox="1"/>
          <p:nvPr/>
        </p:nvSpPr>
        <p:spPr>
          <a:xfrm>
            <a:off x="5167001" y="117770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6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EE9FA3F-FEBC-A8CE-FEE4-93BE092A74CC}"/>
              </a:ext>
            </a:extLst>
          </p:cNvPr>
          <p:cNvSpPr/>
          <p:nvPr/>
        </p:nvSpPr>
        <p:spPr>
          <a:xfrm rot="2622519">
            <a:off x="5951015" y="3501117"/>
            <a:ext cx="237067" cy="428978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5F7F38-863F-2965-81D5-F0DEDEB400F8}"/>
              </a:ext>
            </a:extLst>
          </p:cNvPr>
          <p:cNvSpPr txBox="1"/>
          <p:nvPr/>
        </p:nvSpPr>
        <p:spPr>
          <a:xfrm>
            <a:off x="6105821" y="3446620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56EEA9-022F-89A9-5F8A-13E412ACC08D}"/>
              </a:ext>
            </a:extLst>
          </p:cNvPr>
          <p:cNvSpPr txBox="1"/>
          <p:nvPr/>
        </p:nvSpPr>
        <p:spPr>
          <a:xfrm>
            <a:off x="7875319" y="5883336"/>
            <a:ext cx="796244" cy="58477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sz="32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5284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CA" dirty="0"/>
            </a:br>
            <a:r>
              <a:rPr lang="en-CA" dirty="0" err="1"/>
              <a:t>Modelos</a:t>
            </a:r>
            <a:r>
              <a:rPr lang="en-CA" dirty="0"/>
              <a:t> y </a:t>
            </a:r>
            <a:r>
              <a:rPr lang="en-CA" dirty="0" err="1"/>
              <a:t>nodos</a:t>
            </a:r>
            <a:r>
              <a:rPr lang="en-CA" dirty="0"/>
              <a:t> del </a:t>
            </a:r>
            <a:r>
              <a:rPr lang="en-CA" dirty="0" err="1"/>
              <a:t>modelo</a:t>
            </a:r>
            <a:r>
              <a:rPr lang="en-CA" dirty="0"/>
              <a:t> Slicer</a:t>
            </a:r>
            <a:br>
              <a:rPr lang="en-CA" dirty="0"/>
            </a:b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Los modelos son superficies delgadas/huecas, los objetos más comunes en los gráficos por computadora.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Slicer envuelve un objeto vtkMRMLModelNode alrededor de los modelos y mantiene las propiedades de visualización en vtkMRMLModelDisplayNode.</a:t>
            </a:r>
          </a:p>
          <a:p>
            <a:pPr algn="l"/>
            <a:r>
              <a:rPr lang="es-MX" sz="2400" b="0" i="0" u="none" strike="noStrike" dirty="0">
                <a:solidFill>
                  <a:srgbClr val="000000"/>
                </a:solidFill>
                <a:effectLst/>
                <a:hlinkClick r:id="rId2"/>
              </a:rPr>
              <a:t>https://www.slicer.org/wiki/Modules:Models-Documentation</a:t>
            </a:r>
            <a:r>
              <a:rPr lang="es-MX" sz="2400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marL="0" indent="0" algn="l">
              <a:buNone/>
            </a:pPr>
            <a:endParaRPr lang="es-MX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endParaRPr lang="es-MX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828"/>
          <a:stretch/>
        </p:blipFill>
        <p:spPr>
          <a:xfrm>
            <a:off x="1154708" y="4346411"/>
            <a:ext cx="1704943" cy="158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828"/>
          <a:stretch/>
        </p:blipFill>
        <p:spPr>
          <a:xfrm>
            <a:off x="3608561" y="4346411"/>
            <a:ext cx="1704943" cy="15853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t="1828"/>
          <a:stretch/>
        </p:blipFill>
        <p:spPr>
          <a:xfrm>
            <a:off x="6062414" y="4346409"/>
            <a:ext cx="1704943" cy="1585399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1420068" y="593181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/>
              <a:t>superficies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106357" y="5931810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 err="1"/>
              <a:t>líneas</a:t>
            </a:r>
            <a:endParaRPr lang="en-CA" dirty="0"/>
          </a:p>
        </p:txBody>
      </p:sp>
      <p:sp>
        <p:nvSpPr>
          <p:cNvPr id="10" name="TextBox 8"/>
          <p:cNvSpPr txBox="1"/>
          <p:nvPr/>
        </p:nvSpPr>
        <p:spPr>
          <a:xfrm>
            <a:off x="6507088" y="5931810"/>
            <a:ext cx="834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/>
              <a:t>puntos</a:t>
            </a:r>
          </a:p>
        </p:txBody>
      </p:sp>
    </p:spTree>
    <p:extLst>
      <p:ext uri="{BB962C8B-B14F-4D97-AF65-F5344CB8AC3E}">
        <p14:creationId xmlns:p14="http://schemas.microsoft.com/office/powerpoint/2010/main" val="237349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8f7cbb-c9e9-450d-82ba-91729ba27895" xsi:nil="true"/>
    <lcf76f155ced4ddcb4097134ff3c332f xmlns="da2f274f-5e6c-4126-98a1-686d90f0b6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F178DD8AD5D42B7E54A64C7A32259" ma:contentTypeVersion="13" ma:contentTypeDescription="Create a new document." ma:contentTypeScope="" ma:versionID="94ec251bac65f007d594976d1f66ecc6">
  <xsd:schema xmlns:xsd="http://www.w3.org/2001/XMLSchema" xmlns:xs="http://www.w3.org/2001/XMLSchema" xmlns:p="http://schemas.microsoft.com/office/2006/metadata/properties" xmlns:ns2="da2f274f-5e6c-4126-98a1-686d90f0b627" xmlns:ns3="098f7cbb-c9e9-450d-82ba-91729ba27895" targetNamespace="http://schemas.microsoft.com/office/2006/metadata/properties" ma:root="true" ma:fieldsID="ac1bd02fc6a6cf5ca99f579d85f7d5d7" ns2:_="" ns3:_="">
    <xsd:import namespace="da2f274f-5e6c-4126-98a1-686d90f0b627"/>
    <xsd:import namespace="098f7cbb-c9e9-450d-82ba-91729ba278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2f274f-5e6c-4126-98a1-686d90f0b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53b1c0-f410-437d-8ee7-1cf68b209f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f7cbb-c9e9-450d-82ba-91729ba278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5634cb3-39a3-428d-b4a9-80f5fed272d9}" ma:internalName="TaxCatchAll" ma:showField="CatchAllData" ma:web="098f7cbb-c9e9-450d-82ba-91729ba278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44B219-9AC9-4001-B0D8-D78922BD96B6}">
  <ds:schemaRefs>
    <ds:schemaRef ds:uri="http://schemas.microsoft.com/office/2006/metadata/properties"/>
    <ds:schemaRef ds:uri="http://schemas.microsoft.com/office/infopath/2007/PartnerControls"/>
    <ds:schemaRef ds:uri="098f7cbb-c9e9-450d-82ba-91729ba27895"/>
    <ds:schemaRef ds:uri="da2f274f-5e6c-4126-98a1-686d90f0b627"/>
  </ds:schemaRefs>
</ds:datastoreItem>
</file>

<file path=customXml/itemProps2.xml><?xml version="1.0" encoding="utf-8"?>
<ds:datastoreItem xmlns:ds="http://schemas.openxmlformats.org/officeDocument/2006/customXml" ds:itemID="{CD342A5A-A6D8-4927-9E39-7D7C5988B3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6C32CB-A3FD-40FE-89E3-E05EEA9E1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2f274f-5e6c-4126-98a1-686d90f0b627"/>
    <ds:schemaRef ds:uri="098f7cbb-c9e9-450d-82ba-91729ba278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4766</TotalTime>
  <Words>406</Words>
  <Application>Microsoft Office PowerPoint</Application>
  <PresentationFormat>Presentación en pantalla (4:3)</PresentationFormat>
  <Paragraphs>56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 Modelos de herramientas </vt:lpstr>
      <vt:lpstr>Crear modelos simples</vt:lpstr>
      <vt:lpstr> Modelos de aguja/ lápices ópticos </vt:lpstr>
      <vt:lpstr> Cargar modelos del catálogo PLUS </vt:lpstr>
      <vt:lpstr>Crear modelos en software CAD</vt:lpstr>
      <vt:lpstr> Modelos por segmentación de imágenes </vt:lpstr>
      <vt:lpstr> Modelo de cráneo a partir de la segmentación. </vt:lpstr>
      <vt:lpstr> Modelos y nodos del modelo Slicer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Valeria Gomez Valdes</cp:lastModifiedBy>
  <cp:revision>63</cp:revision>
  <dcterms:created xsi:type="dcterms:W3CDTF">2014-04-04T16:52:35Z</dcterms:created>
  <dcterms:modified xsi:type="dcterms:W3CDTF">2026-05-04T23:02:02Z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0x010100EC4F178DD8AD5D42B7E54A64C7A32259</vt:lpwstr>
  </property>
  <property fmtid="{D5CDD505-2E9C-101B-9397-08002B2CF9AE}" pid="3" name="MediaServiceImageTags">
    <vt:lpwstr/>
  </property>
</Properties>
</file>