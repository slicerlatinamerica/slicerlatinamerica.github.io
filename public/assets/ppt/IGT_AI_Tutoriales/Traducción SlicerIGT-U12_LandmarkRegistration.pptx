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4"/>
  </p:sldMasterIdLst>
  <p:notesMasterIdLst>
    <p:notesMasterId r:id="rId17"/>
  </p:notesMasterIdLst>
  <p:sldIdLst>
    <p:sldId id="256" r:id="rId5"/>
    <p:sldId id="266" r:id="rId6"/>
    <p:sldId id="267" r:id="rId7"/>
    <p:sldId id="268" r:id="rId8"/>
    <p:sldId id="257" r:id="rId9"/>
    <p:sldId id="258" r:id="rId10"/>
    <p:sldId id="259" r:id="rId11"/>
    <p:sldId id="260" r:id="rId12"/>
    <p:sldId id="261" r:id="rId13"/>
    <p:sldId id="262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44F351D-CC79-6B12-3E47-CA70A94A75DD}" v="34" dt="2026-04-30T16:37:29.80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2820B5-36C0-4794-9E01-220C2D3A21D1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EFC5FD-8DBC-4524-99EA-FCD3D8A86D8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1326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349910" y="3831150"/>
            <a:ext cx="5651090" cy="1426649"/>
          </a:xfrm>
        </p:spPr>
        <p:txBody>
          <a:bodyPr/>
          <a:lstStyle>
            <a:lvl1pPr marL="0" indent="0" algn="l">
              <a:buNone/>
              <a:defRPr sz="24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err="1"/>
              <a:t>SlicerIGT</a:t>
            </a:r>
            <a:r>
              <a:rPr lang="en-US"/>
              <a:t> Tutorial Series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245" b="27021"/>
          <a:stretch/>
        </p:blipFill>
        <p:spPr>
          <a:xfrm>
            <a:off x="1080626" y="3602038"/>
            <a:ext cx="1269284" cy="924063"/>
          </a:xfrm>
          <a:prstGeom prst="rect">
            <a:avLst/>
          </a:prstGeom>
        </p:spPr>
      </p:pic>
      <p:cxnSp>
        <p:nvCxnSpPr>
          <p:cNvPr id="8" name="Straight Connector 7"/>
          <p:cNvCxnSpPr/>
          <p:nvPr userDrawn="1"/>
        </p:nvCxnSpPr>
        <p:spPr>
          <a:xfrm>
            <a:off x="2163096" y="3716594"/>
            <a:ext cx="4090219" cy="0"/>
          </a:xfrm>
          <a:prstGeom prst="line">
            <a:avLst/>
          </a:prstGeom>
          <a:ln w="158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68206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4E161-ED1F-470E-9199-7D8E989353A6}" type="slidenum">
              <a:rPr lang="en-US" smtClean="0"/>
              <a:t>‹Nº›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245" b="27021"/>
          <a:stretch/>
        </p:blipFill>
        <p:spPr>
          <a:xfrm>
            <a:off x="667671" y="6314722"/>
            <a:ext cx="695325" cy="506210"/>
          </a:xfrm>
          <a:prstGeom prst="rect">
            <a:avLst/>
          </a:prstGeom>
        </p:spPr>
      </p:pic>
      <p:cxnSp>
        <p:nvCxnSpPr>
          <p:cNvPr id="8" name="Straight Connector 7"/>
          <p:cNvCxnSpPr/>
          <p:nvPr userDrawn="1"/>
        </p:nvCxnSpPr>
        <p:spPr>
          <a:xfrm>
            <a:off x="1278192" y="6334386"/>
            <a:ext cx="4090219" cy="0"/>
          </a:xfrm>
          <a:prstGeom prst="line">
            <a:avLst/>
          </a:prstGeom>
          <a:ln w="158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 userDrawn="1"/>
        </p:nvSpPr>
        <p:spPr>
          <a:xfrm>
            <a:off x="1333500" y="6381750"/>
            <a:ext cx="18806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>
                <a:solidFill>
                  <a:srgbClr val="0070C0"/>
                </a:solidFill>
              </a:rPr>
              <a:t>SlicerIGT</a:t>
            </a:r>
            <a:r>
              <a:rPr lang="en-US" sz="1400" i="1" baseline="0">
                <a:solidFill>
                  <a:srgbClr val="0070C0"/>
                </a:solidFill>
              </a:rPr>
              <a:t> Tutorial Series</a:t>
            </a:r>
            <a:endParaRPr lang="en-US" sz="1400" i="1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67466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4E161-ED1F-470E-9199-7D8E989353A6}" type="slidenum">
              <a:rPr lang="en-US" smtClean="0"/>
              <a:t>‹Nº›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245" b="27021"/>
          <a:stretch/>
        </p:blipFill>
        <p:spPr>
          <a:xfrm>
            <a:off x="667671" y="6314722"/>
            <a:ext cx="695325" cy="506210"/>
          </a:xfrm>
          <a:prstGeom prst="rect">
            <a:avLst/>
          </a:prstGeom>
        </p:spPr>
      </p:pic>
      <p:cxnSp>
        <p:nvCxnSpPr>
          <p:cNvPr id="7" name="Straight Connector 6"/>
          <p:cNvCxnSpPr/>
          <p:nvPr userDrawn="1"/>
        </p:nvCxnSpPr>
        <p:spPr>
          <a:xfrm>
            <a:off x="1278192" y="6334386"/>
            <a:ext cx="4090219" cy="0"/>
          </a:xfrm>
          <a:prstGeom prst="line">
            <a:avLst/>
          </a:prstGeom>
          <a:ln w="158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 userDrawn="1"/>
        </p:nvSpPr>
        <p:spPr>
          <a:xfrm>
            <a:off x="1333500" y="6381750"/>
            <a:ext cx="18806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>
                <a:solidFill>
                  <a:srgbClr val="0070C0"/>
                </a:solidFill>
              </a:rPr>
              <a:t>SlicerIGT</a:t>
            </a:r>
            <a:r>
              <a:rPr lang="en-US" sz="1400" i="1" baseline="0">
                <a:solidFill>
                  <a:srgbClr val="0070C0"/>
                </a:solidFill>
              </a:rPr>
              <a:t> Tutorial Series</a:t>
            </a:r>
            <a:endParaRPr lang="en-US" sz="1400" i="1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77028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4E161-ED1F-470E-9199-7D8E989353A6}" type="slidenum">
              <a:rPr lang="en-US" smtClean="0"/>
              <a:t>‹Nº›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245" b="27021"/>
          <a:stretch/>
        </p:blipFill>
        <p:spPr>
          <a:xfrm>
            <a:off x="667671" y="6314722"/>
            <a:ext cx="695325" cy="506210"/>
          </a:xfrm>
          <a:prstGeom prst="rect">
            <a:avLst/>
          </a:prstGeom>
        </p:spPr>
      </p:pic>
      <p:cxnSp>
        <p:nvCxnSpPr>
          <p:cNvPr id="6" name="Straight Connector 5"/>
          <p:cNvCxnSpPr/>
          <p:nvPr userDrawn="1"/>
        </p:nvCxnSpPr>
        <p:spPr>
          <a:xfrm>
            <a:off x="1278192" y="6334386"/>
            <a:ext cx="4090219" cy="0"/>
          </a:xfrm>
          <a:prstGeom prst="line">
            <a:avLst/>
          </a:prstGeom>
          <a:ln w="158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 userDrawn="1"/>
        </p:nvSpPr>
        <p:spPr>
          <a:xfrm>
            <a:off x="1333500" y="6381750"/>
            <a:ext cx="18806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>
                <a:solidFill>
                  <a:srgbClr val="0070C0"/>
                </a:solidFill>
              </a:rPr>
              <a:t>SlicerIGT</a:t>
            </a:r>
            <a:r>
              <a:rPr lang="en-US" sz="1400" i="1" baseline="0">
                <a:solidFill>
                  <a:srgbClr val="0070C0"/>
                </a:solidFill>
              </a:rPr>
              <a:t> Tutorial Series</a:t>
            </a:r>
            <a:endParaRPr lang="en-US" sz="1400" i="1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56640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6349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181100"/>
            <a:ext cx="7886700" cy="49958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33501" y="6356351"/>
            <a:ext cx="47815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0" i="1">
                <a:solidFill>
                  <a:srgbClr val="0070C0"/>
                </a:solidFill>
              </a:defRPr>
            </a:lvl1pPr>
          </a:lstStyle>
          <a:p>
            <a:pPr algn="l"/>
            <a:r>
              <a:rPr lang="en-CA" err="1"/>
              <a:t>SlicerIGT</a:t>
            </a:r>
            <a:r>
              <a:rPr lang="en-CA"/>
              <a:t> Tutorial Series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B4E161-ED1F-470E-9199-7D8E989353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9589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6" r:id="rId3"/>
    <p:sldLayoutId id="2147483667" r:id="rId4"/>
  </p:sldLayoutIdLst>
  <p:hf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0070C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err="1"/>
              <a:t>Registro</a:t>
            </a:r>
            <a:r>
              <a:rPr lang="en-US"/>
              <a:t> de puntos de </a:t>
            </a:r>
            <a:r>
              <a:rPr lang="en-US" err="1"/>
              <a:t>referencia</a:t>
            </a:r>
            <a:r>
              <a:rPr lang="en-US"/>
              <a:t>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Serie de tutorials de </a:t>
            </a:r>
            <a:r>
              <a:rPr lang="en-US" err="1"/>
              <a:t>SlicerIGT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61310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err="1"/>
              <a:t>Registro</a:t>
            </a:r>
            <a:r>
              <a:rPr lang="en-US"/>
              <a:t> de puntos de </a:t>
            </a:r>
            <a:r>
              <a:rPr lang="en-US" err="1"/>
              <a:t>referencia</a:t>
            </a:r>
            <a:r>
              <a:rPr lang="en-US"/>
              <a:t> 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181101"/>
            <a:ext cx="7886700" cy="2634544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es-MX" b="0" i="0" u="none" strike="noStrike">
                <a:solidFill>
                  <a:srgbClr val="000000"/>
                </a:solidFill>
                <a:effectLst/>
              </a:rPr>
              <a:t>Calcula la transformación entre pares de puntos.</a:t>
            </a:r>
          </a:p>
          <a:p>
            <a:pPr algn="l"/>
            <a:r>
              <a:rPr lang="es-MX" b="0" i="0" u="none" strike="noStrike">
                <a:solidFill>
                  <a:srgbClr val="000000"/>
                </a:solidFill>
                <a:effectLst/>
              </a:rPr>
              <a:t>Puntos = puntos de referencia = fiduciales.</a:t>
            </a:r>
          </a:p>
          <a:p>
            <a:pPr algn="l"/>
            <a:r>
              <a:rPr lang="es-MX" b="0" i="0" u="none" strike="noStrike">
                <a:solidFill>
                  <a:srgbClr val="000000"/>
                </a:solidFill>
                <a:effectLst/>
              </a:rPr>
              <a:t>El cálculo es rápido, no iterativo y ofrece un resultado óptimo.</a:t>
            </a:r>
          </a:p>
          <a:p>
            <a:pPr algn="l"/>
            <a:r>
              <a:rPr lang="es-MX" b="0" i="0" u="none" strike="noStrike">
                <a:solidFill>
                  <a:srgbClr val="000000"/>
                </a:solidFill>
                <a:effectLst/>
              </a:rPr>
              <a:t>¡Sensible a los valores atípicos!</a:t>
            </a:r>
          </a:p>
          <a:p>
            <a:pPr algn="l"/>
            <a:r>
              <a:rPr lang="es-MX" b="0" i="0" u="none" strike="noStrike">
                <a:solidFill>
                  <a:srgbClr val="000000"/>
                </a:solidFill>
                <a:effectLst/>
              </a:rPr>
              <a:t>vtkLandmarkTransform basado en [Horn 1987].</a:t>
            </a:r>
          </a:p>
          <a:p>
            <a:pPr marL="0" indent="0" algn="l">
              <a:buNone/>
            </a:pPr>
            <a:endParaRPr lang="es-MX" b="0" i="0" u="none" strike="noStrike">
              <a:solidFill>
                <a:srgbClr val="000000"/>
              </a:solidFill>
              <a:effectLst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4E161-ED1F-470E-9199-7D8E989353A6}" type="slidenum">
              <a:rPr lang="en-US" smtClean="0"/>
              <a:t>2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3059207" y="4426525"/>
            <a:ext cx="180623" cy="15804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" name="Oval 5"/>
          <p:cNvSpPr/>
          <p:nvPr/>
        </p:nvSpPr>
        <p:spPr>
          <a:xfrm>
            <a:off x="3835081" y="4840596"/>
            <a:ext cx="180623" cy="15804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" name="Oval 6"/>
          <p:cNvSpPr/>
          <p:nvPr/>
        </p:nvSpPr>
        <p:spPr>
          <a:xfrm>
            <a:off x="3522134" y="3841400"/>
            <a:ext cx="180623" cy="15804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grpSp>
        <p:nvGrpSpPr>
          <p:cNvPr id="8" name="Group 7"/>
          <p:cNvGrpSpPr/>
          <p:nvPr/>
        </p:nvGrpSpPr>
        <p:grpSpPr>
          <a:xfrm>
            <a:off x="1471775" y="3987798"/>
            <a:ext cx="1725804" cy="1790152"/>
            <a:chOff x="457200" y="2538948"/>
            <a:chExt cx="1725804" cy="1790152"/>
          </a:xfrm>
        </p:grpSpPr>
        <p:cxnSp>
          <p:nvCxnSpPr>
            <p:cNvPr id="9" name="Straight Arrow Connector 8"/>
            <p:cNvCxnSpPr/>
            <p:nvPr/>
          </p:nvCxnSpPr>
          <p:spPr>
            <a:xfrm flipV="1">
              <a:off x="926595" y="2618910"/>
              <a:ext cx="0" cy="1080121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/>
            <p:cNvCxnSpPr/>
            <p:nvPr/>
          </p:nvCxnSpPr>
          <p:spPr>
            <a:xfrm>
              <a:off x="926595" y="3699030"/>
              <a:ext cx="117013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/>
            <p:cNvCxnSpPr/>
            <p:nvPr/>
          </p:nvCxnSpPr>
          <p:spPr>
            <a:xfrm flipH="1">
              <a:off x="457200" y="3699030"/>
              <a:ext cx="469395" cy="469395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/>
            <p:cNvSpPr txBox="1"/>
            <p:nvPr/>
          </p:nvSpPr>
          <p:spPr>
            <a:xfrm>
              <a:off x="1871700" y="3734743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b="1"/>
                <a:t>X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981648" y="2538948"/>
              <a:ext cx="30489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b="1"/>
                <a:t>Y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589522" y="3959768"/>
              <a:ext cx="2952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b="1"/>
                <a:t>Z</a:t>
              </a:r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5965837" y="3926917"/>
            <a:ext cx="1725804" cy="1790152"/>
            <a:chOff x="457200" y="2538948"/>
            <a:chExt cx="1725804" cy="1790152"/>
          </a:xfrm>
        </p:grpSpPr>
        <p:cxnSp>
          <p:nvCxnSpPr>
            <p:cNvPr id="16" name="Straight Arrow Connector 15"/>
            <p:cNvCxnSpPr/>
            <p:nvPr/>
          </p:nvCxnSpPr>
          <p:spPr>
            <a:xfrm flipV="1">
              <a:off x="926595" y="2618910"/>
              <a:ext cx="0" cy="1080121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/>
            <p:cNvCxnSpPr/>
            <p:nvPr/>
          </p:nvCxnSpPr>
          <p:spPr>
            <a:xfrm>
              <a:off x="926595" y="3699030"/>
              <a:ext cx="117013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/>
            <p:cNvCxnSpPr/>
            <p:nvPr/>
          </p:nvCxnSpPr>
          <p:spPr>
            <a:xfrm flipH="1">
              <a:off x="457200" y="3699030"/>
              <a:ext cx="469395" cy="469395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/>
            <p:cNvSpPr txBox="1"/>
            <p:nvPr/>
          </p:nvSpPr>
          <p:spPr>
            <a:xfrm>
              <a:off x="1871700" y="3734743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b="1"/>
                <a:t>X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981648" y="2538948"/>
              <a:ext cx="30489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b="1"/>
                <a:t>Y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589522" y="3959768"/>
              <a:ext cx="2952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b="1"/>
                <a:t>Z</a:t>
              </a:r>
            </a:p>
          </p:txBody>
        </p:sp>
      </p:grpSp>
      <p:sp>
        <p:nvSpPr>
          <p:cNvPr id="22" name="Arc 21"/>
          <p:cNvSpPr/>
          <p:nvPr/>
        </p:nvSpPr>
        <p:spPr>
          <a:xfrm>
            <a:off x="2025155" y="4268062"/>
            <a:ext cx="4761616" cy="1941899"/>
          </a:xfrm>
          <a:prstGeom prst="arc">
            <a:avLst>
              <a:gd name="adj1" fmla="val 213687"/>
              <a:gd name="adj2" fmla="val 10332374"/>
            </a:avLst>
          </a:prstGeom>
          <a:ln w="25400">
            <a:solidFill>
              <a:srgbClr val="0070C0"/>
            </a:solidFill>
            <a:prstDash val="solid"/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24" name="Straight Arrow Connector 23"/>
          <p:cNvCxnSpPr/>
          <p:nvPr/>
        </p:nvCxnSpPr>
        <p:spPr>
          <a:xfrm flipV="1">
            <a:off x="1941170" y="4546939"/>
            <a:ext cx="1100757" cy="600941"/>
          </a:xfrm>
          <a:prstGeom prst="straightConnector1">
            <a:avLst/>
          </a:prstGeom>
          <a:ln>
            <a:solidFill>
              <a:srgbClr val="00B05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cxnSpLocks/>
            <a:endCxn id="7" idx="3"/>
          </p:cNvCxnSpPr>
          <p:nvPr/>
        </p:nvCxnSpPr>
        <p:spPr>
          <a:xfrm flipV="1">
            <a:off x="1941168" y="3976299"/>
            <a:ext cx="1607418" cy="1171581"/>
          </a:xfrm>
          <a:prstGeom prst="straightConnector1">
            <a:avLst/>
          </a:prstGeom>
          <a:ln>
            <a:solidFill>
              <a:srgbClr val="00B05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>
            <a:cxnSpLocks/>
            <a:endCxn id="6" idx="2"/>
          </p:cNvCxnSpPr>
          <p:nvPr/>
        </p:nvCxnSpPr>
        <p:spPr>
          <a:xfrm flipV="1">
            <a:off x="1970102" y="4919618"/>
            <a:ext cx="1864979" cy="235591"/>
          </a:xfrm>
          <a:prstGeom prst="straightConnector1">
            <a:avLst/>
          </a:prstGeom>
          <a:ln>
            <a:solidFill>
              <a:srgbClr val="00B05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cxnSpLocks/>
            <a:endCxn id="6" idx="6"/>
          </p:cNvCxnSpPr>
          <p:nvPr/>
        </p:nvCxnSpPr>
        <p:spPr>
          <a:xfrm flipH="1" flipV="1">
            <a:off x="4015704" y="4919618"/>
            <a:ext cx="2419530" cy="167382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>
            <a:cxnSpLocks/>
            <a:endCxn id="5" idx="6"/>
          </p:cNvCxnSpPr>
          <p:nvPr/>
        </p:nvCxnSpPr>
        <p:spPr>
          <a:xfrm flipH="1" flipV="1">
            <a:off x="3239830" y="4505547"/>
            <a:ext cx="3195402" cy="579449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cxnSpLocks/>
            <a:endCxn id="7" idx="5"/>
          </p:cNvCxnSpPr>
          <p:nvPr/>
        </p:nvCxnSpPr>
        <p:spPr>
          <a:xfrm flipH="1" flipV="1">
            <a:off x="3676305" y="3976299"/>
            <a:ext cx="2758928" cy="1101364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1830421" y="5159380"/>
            <a:ext cx="11748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err="1"/>
              <a:t>Referencia</a:t>
            </a:r>
            <a:endParaRPr lang="en-CA"/>
          </a:p>
        </p:txBody>
      </p:sp>
      <p:sp>
        <p:nvSpPr>
          <p:cNvPr id="41" name="TextBox 40"/>
          <p:cNvSpPr txBox="1"/>
          <p:nvPr/>
        </p:nvSpPr>
        <p:spPr>
          <a:xfrm>
            <a:off x="6359867" y="5051062"/>
            <a:ext cx="5100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/>
              <a:t>Ras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390057" y="5717069"/>
            <a:ext cx="17166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err="1">
                <a:solidFill>
                  <a:srgbClr val="0070C0"/>
                </a:solidFill>
              </a:rPr>
              <a:t>Referencia</a:t>
            </a:r>
            <a:r>
              <a:rPr lang="en-CA">
                <a:solidFill>
                  <a:srgbClr val="0070C0"/>
                </a:solidFill>
              </a:rPr>
              <a:t> a Ras</a:t>
            </a:r>
          </a:p>
        </p:txBody>
      </p:sp>
    </p:spTree>
    <p:extLst>
      <p:ext uri="{BB962C8B-B14F-4D97-AF65-F5344CB8AC3E}">
        <p14:creationId xmlns:p14="http://schemas.microsoft.com/office/powerpoint/2010/main" val="14594217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br>
              <a:rPr lang="en-CA"/>
            </a:br>
            <a:r>
              <a:rPr lang="en-CA" sz="4000"/>
              <a:t>Tipo de </a:t>
            </a:r>
            <a:r>
              <a:rPr lang="en-CA" sz="4000" err="1"/>
              <a:t>transformación</a:t>
            </a:r>
            <a:r>
              <a:rPr lang="en-CA" sz="4000"/>
              <a:t> de </a:t>
            </a:r>
            <a:r>
              <a:rPr lang="en-CA" sz="4000" err="1"/>
              <a:t>resultados</a:t>
            </a:r>
            <a:br>
              <a:rPr lang="en-CA"/>
            </a:br>
            <a:endParaRPr lang="en-CA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85750" indent="-285750"/>
            <a:r>
              <a:rPr lang="en-CA" err="1"/>
              <a:t>Rígido</a:t>
            </a:r>
            <a:endParaRPr lang="en-CA"/>
          </a:p>
          <a:p>
            <a:pPr marL="742950" lvl="1" indent="-285750"/>
            <a:r>
              <a:rPr lang="en-CA" err="1"/>
              <a:t>Translación</a:t>
            </a:r>
            <a:r>
              <a:rPr lang="en-CA"/>
              <a:t> + </a:t>
            </a:r>
            <a:r>
              <a:rPr lang="en-CA" err="1"/>
              <a:t>Rotación</a:t>
            </a:r>
            <a:endParaRPr lang="en-CA"/>
          </a:p>
          <a:p>
            <a:pPr marL="742950" lvl="1" indent="-285750"/>
            <a:r>
              <a:rPr lang="en-CA" err="1"/>
              <a:t>Comunmente</a:t>
            </a:r>
            <a:r>
              <a:rPr lang="en-CA"/>
              <a:t> </a:t>
            </a:r>
            <a:r>
              <a:rPr lang="en-CA" err="1"/>
              <a:t>usado</a:t>
            </a:r>
            <a:r>
              <a:rPr lang="en-CA"/>
              <a:t>, </a:t>
            </a:r>
            <a:r>
              <a:rPr lang="en-CA" err="1"/>
              <a:t>debido</a:t>
            </a:r>
            <a:r>
              <a:rPr lang="en-CA"/>
              <a:t> a que </a:t>
            </a:r>
            <a:r>
              <a:rPr lang="en-CA" err="1"/>
              <a:t>los</a:t>
            </a:r>
            <a:r>
              <a:rPr lang="en-CA"/>
              <a:t> </a:t>
            </a:r>
            <a:r>
              <a:rPr lang="en-CA" err="1"/>
              <a:t>objectos</a:t>
            </a:r>
            <a:r>
              <a:rPr lang="en-CA"/>
              <a:t> no </a:t>
            </a:r>
            <a:r>
              <a:rPr lang="en-CA" err="1"/>
              <a:t>cambian</a:t>
            </a:r>
            <a:r>
              <a:rPr lang="en-CA"/>
              <a:t> de </a:t>
            </a:r>
            <a:r>
              <a:rPr lang="en-CA" err="1"/>
              <a:t>tamaño</a:t>
            </a:r>
            <a:endParaRPr lang="en-CA"/>
          </a:p>
          <a:p>
            <a:pPr marL="285750" indent="-285750"/>
            <a:r>
              <a:rPr lang="en-CA" err="1"/>
              <a:t>Similitud</a:t>
            </a:r>
            <a:endParaRPr lang="en-CA"/>
          </a:p>
          <a:p>
            <a:pPr marL="742950" lvl="1" indent="-285750"/>
            <a:r>
              <a:rPr lang="en-CA" err="1"/>
              <a:t>Translación</a:t>
            </a:r>
            <a:r>
              <a:rPr lang="en-CA"/>
              <a:t> + </a:t>
            </a:r>
            <a:r>
              <a:rPr lang="en-CA" err="1"/>
              <a:t>Rotación</a:t>
            </a:r>
            <a:r>
              <a:rPr lang="en-CA"/>
              <a:t> + </a:t>
            </a:r>
            <a:r>
              <a:rPr lang="en-CA" err="1"/>
              <a:t>Escalado</a:t>
            </a:r>
            <a:r>
              <a:rPr lang="en-CA"/>
              <a:t> </a:t>
            </a:r>
          </a:p>
          <a:p>
            <a:pPr marL="742950" lvl="1" indent="-285750"/>
            <a:r>
              <a:rPr lang="es-MX" b="0" i="0" u="none" strike="noStrike">
                <a:solidFill>
                  <a:srgbClr val="000000"/>
                </a:solidFill>
                <a:effectLst/>
              </a:rPr>
              <a:t>Se utiliza al cambiar unidades, por ejemplo: de píxeles a milímetros.</a:t>
            </a:r>
          </a:p>
          <a:p>
            <a:pPr algn="l"/>
            <a:r>
              <a:rPr lang="en-CA" err="1"/>
              <a:t>Deformación</a:t>
            </a:r>
            <a:r>
              <a:rPr lang="en-CA"/>
              <a:t> </a:t>
            </a:r>
          </a:p>
          <a:p>
            <a:pPr marL="742950" lvl="1" indent="-285750"/>
            <a:r>
              <a:rPr lang="en-CA"/>
              <a:t>Splines, etc.</a:t>
            </a:r>
          </a:p>
          <a:p>
            <a:pPr marL="742950" lvl="1" indent="-285750"/>
            <a:r>
              <a:rPr lang="en-CA"/>
              <a:t>Se </a:t>
            </a:r>
            <a:r>
              <a:rPr lang="en-CA" err="1"/>
              <a:t>utilizan</a:t>
            </a:r>
            <a:r>
              <a:rPr lang="en-CA"/>
              <a:t> para </a:t>
            </a:r>
            <a:r>
              <a:rPr lang="en-CA" err="1"/>
              <a:t>modelar</a:t>
            </a:r>
            <a:r>
              <a:rPr lang="en-CA"/>
              <a:t> </a:t>
            </a:r>
            <a:r>
              <a:rPr lang="en-CA" err="1"/>
              <a:t>deformaciones</a:t>
            </a:r>
            <a:r>
              <a:rPr lang="en-CA"/>
              <a:t> de </a:t>
            </a:r>
            <a:r>
              <a:rPr lang="en-CA" err="1"/>
              <a:t>tejidos</a:t>
            </a:r>
            <a:r>
              <a:rPr lang="en-CA"/>
              <a:t> </a:t>
            </a:r>
            <a:r>
              <a:rPr lang="en-CA" err="1"/>
              <a:t>blandos</a:t>
            </a:r>
            <a:r>
              <a:rPr lang="en-CA"/>
              <a:t>.</a:t>
            </a:r>
          </a:p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4E161-ED1F-470E-9199-7D8E989353A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89430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4E161-ED1F-470E-9199-7D8E989353A6}" type="slidenum">
              <a:rPr lang="en-US" smtClean="0"/>
              <a:t>4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889967" y="5820061"/>
            <a:ext cx="12378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A"/>
              <a:t>RMSE = 4.8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61250" y="5820061"/>
            <a:ext cx="12378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A"/>
              <a:t>RMSE = 4.2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65986" y="5820061"/>
            <a:ext cx="12378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A"/>
              <a:t>RMSE = 0.0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4786" y="3085588"/>
            <a:ext cx="9605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A" sz="2400" err="1"/>
              <a:t>Rígido</a:t>
            </a:r>
            <a:endParaRPr lang="en-CA" sz="2400"/>
          </a:p>
        </p:txBody>
      </p:sp>
      <p:sp>
        <p:nvSpPr>
          <p:cNvPr id="15" name="TextBox 14"/>
          <p:cNvSpPr txBox="1"/>
          <p:nvPr/>
        </p:nvSpPr>
        <p:spPr>
          <a:xfrm>
            <a:off x="3640412" y="3085588"/>
            <a:ext cx="12795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A" sz="2400" err="1"/>
              <a:t>Similitud</a:t>
            </a:r>
            <a:endParaRPr lang="en-CA" sz="2400"/>
          </a:p>
        </p:txBody>
      </p:sp>
      <p:sp>
        <p:nvSpPr>
          <p:cNvPr id="16" name="TextBox 15"/>
          <p:cNvSpPr txBox="1"/>
          <p:nvPr/>
        </p:nvSpPr>
        <p:spPr>
          <a:xfrm>
            <a:off x="6083347" y="3085588"/>
            <a:ext cx="17993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A" sz="2400" err="1"/>
              <a:t>Deformación</a:t>
            </a:r>
            <a:endParaRPr lang="en-CA" sz="240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9155" y="540401"/>
            <a:ext cx="1962027" cy="185388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9200" y="3501957"/>
            <a:ext cx="2436497" cy="230689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23137" y="3501957"/>
            <a:ext cx="2456778" cy="230689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2137" y="3501957"/>
            <a:ext cx="2461358" cy="231810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6318" y="540401"/>
            <a:ext cx="24815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b="0" i="0" u="none" strike="noStrike">
                <a:solidFill>
                  <a:srgbClr val="000000"/>
                </a:solidFill>
                <a:effectLst/>
              </a:rPr>
              <a:t>Desplazamiento fiducial</a:t>
            </a:r>
            <a:r>
              <a:rPr lang="en-CA"/>
              <a:t>:</a:t>
            </a:r>
          </a:p>
        </p:txBody>
      </p:sp>
      <p:cxnSp>
        <p:nvCxnSpPr>
          <p:cNvPr id="13" name="Straight Arrow Connector 12"/>
          <p:cNvCxnSpPr>
            <a:cxnSpLocks/>
            <a:endCxn id="14" idx="0"/>
          </p:cNvCxnSpPr>
          <p:nvPr/>
        </p:nvCxnSpPr>
        <p:spPr>
          <a:xfrm flipH="1">
            <a:off x="1515046" y="2394285"/>
            <a:ext cx="1750796" cy="691303"/>
          </a:xfrm>
          <a:prstGeom prst="straightConnector1">
            <a:avLst/>
          </a:prstGeom>
          <a:ln w="57150">
            <a:solidFill>
              <a:schemeClr val="accent1">
                <a:lumMod val="40000"/>
                <a:lumOff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cxnSpLocks/>
            <a:endCxn id="15" idx="0"/>
          </p:cNvCxnSpPr>
          <p:nvPr/>
        </p:nvCxnSpPr>
        <p:spPr>
          <a:xfrm>
            <a:off x="4265232" y="2548647"/>
            <a:ext cx="14939" cy="536941"/>
          </a:xfrm>
          <a:prstGeom prst="straightConnector1">
            <a:avLst/>
          </a:prstGeom>
          <a:ln w="57150">
            <a:solidFill>
              <a:schemeClr val="accent1">
                <a:lumMod val="40000"/>
                <a:lumOff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cxnSpLocks/>
            <a:endCxn id="16" idx="0"/>
          </p:cNvCxnSpPr>
          <p:nvPr/>
        </p:nvCxnSpPr>
        <p:spPr>
          <a:xfrm>
            <a:off x="5395609" y="2394285"/>
            <a:ext cx="1587408" cy="691303"/>
          </a:xfrm>
          <a:prstGeom prst="straightConnector1">
            <a:avLst/>
          </a:prstGeom>
          <a:ln w="57150">
            <a:solidFill>
              <a:schemeClr val="accent1">
                <a:lumMod val="40000"/>
                <a:lumOff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75255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/>
            </a:br>
            <a:r>
              <a:rPr lang="en-US" err="1"/>
              <a:t>Cargar</a:t>
            </a:r>
            <a:r>
              <a:rPr lang="en-US"/>
              <a:t> </a:t>
            </a:r>
            <a:r>
              <a:rPr lang="en-US" err="1"/>
              <a:t>datos</a:t>
            </a:r>
            <a:r>
              <a:rPr lang="en-US"/>
              <a:t> de </a:t>
            </a:r>
            <a:r>
              <a:rPr lang="en-US" err="1"/>
              <a:t>ejemplo</a:t>
            </a:r>
            <a:br>
              <a:rPr lang="en-US"/>
            </a:b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err="1"/>
              <a:t>Cargar</a:t>
            </a:r>
            <a:r>
              <a:rPr lang="en-US"/>
              <a:t> </a:t>
            </a:r>
            <a:r>
              <a:rPr lang="en-US" err="1"/>
              <a:t>escena</a:t>
            </a:r>
            <a:r>
              <a:rPr lang="en-US"/>
              <a:t>: </a:t>
            </a:r>
            <a:r>
              <a:rPr lang="en-US" b="1" err="1"/>
              <a:t>SlicerIGT</a:t>
            </a:r>
            <a:r>
              <a:rPr lang="en-US" b="1"/>
              <a:t>-Datos/</a:t>
            </a:r>
            <a:r>
              <a:rPr lang="en-US" b="1" err="1"/>
              <a:t>Skull_GroundTruthLandmarks.mrb</a:t>
            </a:r>
            <a:r>
              <a:rPr lang="en-US" b="1"/>
              <a:t> </a:t>
            </a:r>
          </a:p>
          <a:p>
            <a:r>
              <a:rPr lang="es-MX" b="0" i="0" u="none" strike="noStrike">
                <a:solidFill>
                  <a:srgbClr val="000000"/>
                </a:solidFill>
                <a:effectLst/>
              </a:rPr>
              <a:t>Cargar transformación adicional</a:t>
            </a:r>
            <a:r>
              <a:rPr lang="en-US"/>
              <a:t>: </a:t>
            </a:r>
            <a:r>
              <a:rPr lang="en-US" b="1" err="1"/>
              <a:t>SlicerIGT</a:t>
            </a:r>
            <a:r>
              <a:rPr lang="en-US" b="1"/>
              <a:t>-Datos/Skull_StylusTipToStylus.h5 </a:t>
            </a:r>
          </a:p>
          <a:p>
            <a:pPr algn="l"/>
            <a:r>
              <a:rPr lang="es-MX" b="0" i="0" u="none" strike="noStrike">
                <a:solidFill>
                  <a:srgbClr val="000000"/>
                </a:solidFill>
                <a:effectLst/>
              </a:rPr>
              <a:t>Crear modelo de aguja</a:t>
            </a:r>
          </a:p>
          <a:p>
            <a:pPr algn="l"/>
            <a:r>
              <a:rPr lang="es-MX" b="0" i="0" u="none" strike="noStrike">
                <a:solidFill>
                  <a:srgbClr val="000000"/>
                </a:solidFill>
                <a:effectLst/>
              </a:rPr>
              <a:t>Configurar la jerarquía de transformación del lápiz óptico en el módulo Datos:</a:t>
            </a:r>
            <a:endParaRPr lang="es-MX">
              <a:solidFill>
                <a:srgbClr val="000000"/>
              </a:solidFill>
            </a:endParaRPr>
          </a:p>
          <a:p>
            <a:pPr marL="0" indent="0" algn="l">
              <a:buNone/>
            </a:pPr>
            <a:endParaRPr lang="es-MX" b="0" i="0" u="none" strike="noStrike">
              <a:solidFill>
                <a:srgbClr val="000000"/>
              </a:solidFill>
              <a:effectLst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4E161-ED1F-470E-9199-7D8E989353A6}" type="slidenum">
              <a:rPr lang="en-US" smtClean="0"/>
              <a:t>5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7142" y="4418905"/>
            <a:ext cx="3208525" cy="1128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1158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B3E1D55-9150-95C2-92DF-5C601652D4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5461" y="931334"/>
            <a:ext cx="4207935" cy="516466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CA"/>
            </a:br>
            <a:r>
              <a:rPr lang="en-CA" err="1"/>
              <a:t>Crear</a:t>
            </a:r>
            <a:r>
              <a:rPr lang="en-CA"/>
              <a:t> </a:t>
            </a:r>
            <a:r>
              <a:rPr lang="en-CA" err="1"/>
              <a:t>nodos</a:t>
            </a:r>
            <a:r>
              <a:rPr lang="en-CA"/>
              <a:t> de entrada y </a:t>
            </a:r>
            <a:r>
              <a:rPr lang="en-CA" err="1"/>
              <a:t>salida</a:t>
            </a:r>
            <a:br>
              <a:rPr lang="en-CA"/>
            </a:b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181100"/>
            <a:ext cx="4108603" cy="4995863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CA" err="1"/>
              <a:t>Seleccionar</a:t>
            </a:r>
            <a:r>
              <a:rPr lang="en-CA"/>
              <a:t> </a:t>
            </a:r>
            <a:r>
              <a:rPr lang="en-CA" err="1"/>
              <a:t>el</a:t>
            </a:r>
            <a:r>
              <a:rPr lang="en-CA"/>
              <a:t> </a:t>
            </a:r>
            <a:r>
              <a:rPr lang="en-CA" err="1"/>
              <a:t>módulo</a:t>
            </a:r>
            <a:r>
              <a:rPr lang="en-CA"/>
              <a:t> </a:t>
            </a:r>
            <a:r>
              <a:rPr lang="en-CA" b="1"/>
              <a:t>IGT / </a:t>
            </a:r>
            <a:r>
              <a:rPr lang="en-CA" b="1" err="1"/>
              <a:t>Asistente</a:t>
            </a:r>
            <a:r>
              <a:rPr lang="en-CA" b="1"/>
              <a:t> de Registro Fiducial</a:t>
            </a:r>
            <a:endParaRPr lang="en-CA">
              <a:ea typeface="Calibri" panose="020F0502020204030204"/>
              <a:cs typeface="Calibri" panose="020F0502020204030204"/>
            </a:endParaRPr>
          </a:p>
          <a:p>
            <a:r>
              <a:rPr lang="es-MX" b="0" i="0" u="none" strike="noStrike">
                <a:solidFill>
                  <a:srgbClr val="000000"/>
                </a:solidFill>
                <a:effectLst/>
              </a:rPr>
              <a:t>Crear </a:t>
            </a:r>
            <a:r>
              <a:rPr lang="es-MX" i="1">
                <a:solidFill>
                  <a:srgbClr val="000000"/>
                </a:solidFill>
              </a:rPr>
              <a:t>De</a:t>
            </a:r>
            <a:r>
              <a:rPr lang="es-MX" b="0" i="1" u="none" strike="noStrike">
                <a:solidFill>
                  <a:srgbClr val="000000"/>
                </a:solidFill>
                <a:effectLst/>
              </a:rPr>
              <a:t> </a:t>
            </a:r>
            <a:r>
              <a:rPr lang="es-MX" i="1">
                <a:solidFill>
                  <a:srgbClr val="000000"/>
                </a:solidFill>
              </a:rPr>
              <a:t>los </a:t>
            </a:r>
            <a:r>
              <a:rPr lang="es-MX" b="0" i="1" u="none" strike="noStrike" err="1">
                <a:solidFill>
                  <a:srgbClr val="000000"/>
                </a:solidFill>
                <a:effectLst/>
              </a:rPr>
              <a:t>fiduciales</a:t>
            </a:r>
            <a:r>
              <a:rPr lang="es-MX" b="0" i="1" u="none" strike="noStrike">
                <a:solidFill>
                  <a:srgbClr val="000000"/>
                </a:solidFill>
                <a:effectLst/>
              </a:rPr>
              <a:t> </a:t>
            </a:r>
            <a:r>
              <a:rPr lang="es-MX" b="0" i="0" u="none" strike="noStrike">
                <a:solidFill>
                  <a:srgbClr val="000000"/>
                </a:solidFill>
                <a:effectLst/>
              </a:rPr>
              <a:t>y nombrar la lista</a:t>
            </a:r>
            <a:r>
              <a:rPr lang="en-CA"/>
              <a:t>"</a:t>
            </a:r>
            <a:r>
              <a:rPr lang="en-CA" b="1" err="1"/>
              <a:t>ReferenceFiducials</a:t>
            </a:r>
            <a:r>
              <a:rPr lang="en-CA"/>
              <a:t>"</a:t>
            </a:r>
            <a:endParaRPr lang="en-CA">
              <a:ea typeface="Calibri"/>
              <a:cs typeface="Calibri"/>
            </a:endParaRPr>
          </a:p>
          <a:p>
            <a:r>
              <a:rPr lang="en-CA"/>
              <a:t>Crear A </a:t>
            </a:r>
            <a:r>
              <a:rPr lang="en-CA" err="1"/>
              <a:t>los</a:t>
            </a:r>
            <a:r>
              <a:rPr lang="en-CA"/>
              <a:t> </a:t>
            </a:r>
            <a:r>
              <a:rPr lang="en-CA" err="1"/>
              <a:t>fiduciaros</a:t>
            </a:r>
            <a:r>
              <a:rPr lang="en-CA"/>
              <a:t> y </a:t>
            </a:r>
            <a:r>
              <a:rPr lang="en-CA" err="1"/>
              <a:t>nombrar</a:t>
            </a:r>
            <a:r>
              <a:rPr lang="en-CA"/>
              <a:t> la </a:t>
            </a:r>
            <a:r>
              <a:rPr lang="en-CA" err="1"/>
              <a:t>lista</a:t>
            </a:r>
            <a:r>
              <a:rPr lang="en-CA"/>
              <a:t> "</a:t>
            </a:r>
            <a:r>
              <a:rPr lang="en-CA" b="1" err="1"/>
              <a:t>RasFiducials</a:t>
            </a:r>
            <a:r>
              <a:rPr lang="en-CA"/>
              <a:t>"</a:t>
            </a:r>
          </a:p>
          <a:p>
            <a:r>
              <a:rPr lang="es-MX" b="0" i="0" u="none" strike="noStrike">
                <a:solidFill>
                  <a:srgbClr val="000000"/>
                </a:solidFill>
                <a:effectLst/>
              </a:rPr>
              <a:t>Crear </a:t>
            </a:r>
            <a:r>
              <a:rPr lang="es-MX" b="0" i="1" u="none" strike="noStrike">
                <a:solidFill>
                  <a:srgbClr val="000000"/>
                </a:solidFill>
                <a:effectLst/>
              </a:rPr>
              <a:t>transformación de resultados </a:t>
            </a:r>
            <a:r>
              <a:rPr lang="es-MX" b="0" i="0" u="none" strike="noStrike">
                <a:solidFill>
                  <a:srgbClr val="000000"/>
                </a:solidFill>
                <a:effectLst/>
              </a:rPr>
              <a:t>como </a:t>
            </a:r>
            <a:r>
              <a:rPr lang="en-CA"/>
              <a:t>"</a:t>
            </a:r>
            <a:r>
              <a:rPr lang="en-CA" b="1" err="1"/>
              <a:t>ReferenceToRas</a:t>
            </a:r>
            <a:r>
              <a:rPr lang="en-CA"/>
              <a:t>"</a:t>
            </a:r>
          </a:p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4E161-ED1F-470E-9199-7D8E989353A6}" type="slidenum">
              <a:rPr lang="en-US" smtClean="0"/>
              <a:t>6</a:t>
            </a:fld>
            <a:endParaRPr lang="en-US"/>
          </a:p>
        </p:txBody>
      </p:sp>
      <p:sp>
        <p:nvSpPr>
          <p:cNvPr id="6" name="Arrow: Right 5"/>
          <p:cNvSpPr/>
          <p:nvPr/>
        </p:nvSpPr>
        <p:spPr>
          <a:xfrm>
            <a:off x="6457950" y="1000125"/>
            <a:ext cx="374574" cy="299865"/>
          </a:xfrm>
          <a:prstGeom prst="rightArrow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" name="Arrow: Right 6"/>
          <p:cNvSpPr/>
          <p:nvPr/>
        </p:nvSpPr>
        <p:spPr>
          <a:xfrm rot="10800000">
            <a:off x="6078059" y="2749097"/>
            <a:ext cx="374574" cy="299865"/>
          </a:xfrm>
          <a:prstGeom prst="rightArrow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" name="Arrow: Right 7"/>
          <p:cNvSpPr/>
          <p:nvPr/>
        </p:nvSpPr>
        <p:spPr>
          <a:xfrm rot="10800000">
            <a:off x="5700057" y="4124174"/>
            <a:ext cx="374574" cy="299865"/>
          </a:xfrm>
          <a:prstGeom prst="rightArrow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" name="Arrow: Right 8"/>
          <p:cNvSpPr/>
          <p:nvPr/>
        </p:nvSpPr>
        <p:spPr>
          <a:xfrm rot="10800000">
            <a:off x="5886713" y="5799118"/>
            <a:ext cx="374574" cy="299865"/>
          </a:xfrm>
          <a:prstGeom prst="rightArrow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111495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br>
              <a:rPr lang="en-CA"/>
            </a:br>
            <a:r>
              <a:rPr lang="en-CA" err="1"/>
              <a:t>Configurar</a:t>
            </a:r>
            <a:r>
              <a:rPr lang="en-CA"/>
              <a:t> </a:t>
            </a:r>
            <a:r>
              <a:rPr lang="en-CA" err="1"/>
              <a:t>el</a:t>
            </a:r>
            <a:r>
              <a:rPr lang="en-CA"/>
              <a:t> </a:t>
            </a:r>
            <a:r>
              <a:rPr lang="en-CA" err="1"/>
              <a:t>lápiz</a:t>
            </a:r>
            <a:r>
              <a:rPr lang="en-CA"/>
              <a:t> </a:t>
            </a:r>
            <a:r>
              <a:rPr lang="en-CA" err="1"/>
              <a:t>óptico</a:t>
            </a:r>
            <a:r>
              <a:rPr lang="en-CA"/>
              <a:t> </a:t>
            </a:r>
            <a:r>
              <a:rPr lang="en-CA" err="1"/>
              <a:t>como</a:t>
            </a:r>
            <a:r>
              <a:rPr lang="en-CA"/>
              <a:t> entrada</a:t>
            </a:r>
            <a:br>
              <a:rPr lang="en-CA"/>
            </a:b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181100"/>
            <a:ext cx="7886700" cy="1471789"/>
          </a:xfrm>
        </p:spPr>
        <p:txBody>
          <a:bodyPr vert="horz" lIns="91440" tIns="45720" rIns="91440" bIns="45720" rtlCol="0" anchor="t">
            <a:normAutofit fontScale="85000" lnSpcReduction="10000"/>
          </a:bodyPr>
          <a:lstStyle/>
          <a:p>
            <a:r>
              <a:rPr lang="es-MX" b="0" i="0" u="none" strike="noStrike">
                <a:solidFill>
                  <a:srgbClr val="000000"/>
                </a:solidFill>
                <a:effectLst/>
              </a:rPr>
              <a:t>Expandir </a:t>
            </a:r>
            <a:r>
              <a:rPr lang="es-MX" b="1">
                <a:solidFill>
                  <a:srgbClr val="000000"/>
                </a:solidFill>
              </a:rPr>
              <a:t>Colocar </a:t>
            </a:r>
            <a:r>
              <a:rPr lang="es-MX" b="1" err="1">
                <a:solidFill>
                  <a:srgbClr val="000000"/>
                </a:solidFill>
              </a:rPr>
              <a:t>fiduciales</a:t>
            </a:r>
            <a:r>
              <a:rPr lang="es-MX" b="1">
                <a:solidFill>
                  <a:srgbClr val="000000"/>
                </a:solidFill>
              </a:rPr>
              <a:t> mediante transformaciones</a:t>
            </a:r>
            <a:r>
              <a:rPr lang="es-MX" b="1" i="0" u="none" strike="noStrike">
                <a:solidFill>
                  <a:srgbClr val="000000"/>
                </a:solidFill>
                <a:effectLst/>
              </a:rPr>
              <a:t> </a:t>
            </a:r>
            <a:r>
              <a:rPr lang="es-MX" b="0" i="0" u="none" strike="noStrike">
                <a:solidFill>
                  <a:srgbClr val="000000"/>
                </a:solidFill>
                <a:effectLst/>
              </a:rPr>
              <a:t>utilizando el grupo de transformaciones</a:t>
            </a:r>
          </a:p>
          <a:p>
            <a:pPr algn="l"/>
            <a:r>
              <a:rPr lang="es-MX" b="0" i="0" u="none" strike="noStrike">
                <a:solidFill>
                  <a:srgbClr val="000000"/>
                </a:solidFill>
                <a:effectLst/>
              </a:rPr>
              <a:t>Seleccione </a:t>
            </a:r>
            <a:r>
              <a:rPr lang="es-MX" b="1" i="0" u="none" strike="noStrike">
                <a:solidFill>
                  <a:srgbClr val="000000"/>
                </a:solidFill>
                <a:effectLst/>
              </a:rPr>
              <a:t>Skull_StylusTipToStylus </a:t>
            </a:r>
            <a:r>
              <a:rPr lang="es-MX" b="0" i="0" u="none" strike="noStrike">
                <a:solidFill>
                  <a:srgbClr val="000000"/>
                </a:solidFill>
                <a:effectLst/>
              </a:rPr>
              <a:t>para colocar </a:t>
            </a:r>
            <a:r>
              <a:rPr lang="es-MX" i="1">
                <a:solidFill>
                  <a:srgbClr val="000000"/>
                </a:solidFill>
              </a:rPr>
              <a:t>De</a:t>
            </a:r>
            <a:r>
              <a:rPr lang="es-MX" b="0" i="0" u="none" strike="noStrike">
                <a:solidFill>
                  <a:srgbClr val="000000"/>
                </a:solidFill>
                <a:effectLst/>
              </a:rPr>
              <a:t> </a:t>
            </a:r>
            <a:r>
              <a:rPr lang="es-MX" b="0" i="0" u="none" strike="noStrike" err="1">
                <a:solidFill>
                  <a:srgbClr val="000000"/>
                </a:solidFill>
                <a:effectLst/>
              </a:rPr>
              <a:t>fiduciales</a:t>
            </a:r>
            <a:r>
              <a:rPr lang="es-MX" b="0" i="0" u="none" strike="noStrike">
                <a:solidFill>
                  <a:srgbClr val="000000"/>
                </a:solidFill>
                <a:effectLst/>
              </a:rPr>
              <a:t>.</a:t>
            </a:r>
          </a:p>
          <a:p>
            <a:pPr marL="0" indent="0" algn="l">
              <a:buNone/>
            </a:pPr>
            <a:endParaRPr lang="es-MX" b="0" i="0" u="none" strike="noStrike">
              <a:solidFill>
                <a:srgbClr val="000000"/>
              </a:solidFill>
              <a:effectLst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4E161-ED1F-470E-9199-7D8E989353A6}" type="slidenum">
              <a:rPr lang="en-US" smtClean="0"/>
              <a:t>7</a:t>
            </a:fld>
            <a:endParaRPr lang="en-US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628650" y="4071722"/>
            <a:ext cx="7886700" cy="213716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MX" b="0" i="0" u="none" strike="noStrike">
                <a:solidFill>
                  <a:srgbClr val="000000"/>
                </a:solidFill>
                <a:effectLst/>
              </a:rPr>
              <a:t>Al pulsar los botones </a:t>
            </a:r>
            <a:r>
              <a:rPr lang="es-MX" b="1" i="0" u="none" strike="noStrike">
                <a:solidFill>
                  <a:srgbClr val="000000"/>
                </a:solidFill>
                <a:effectLst/>
              </a:rPr>
              <a:t>“Colocar desde” </a:t>
            </a:r>
            <a:r>
              <a:rPr lang="es-MX" b="0" i="0" u="none" strike="noStrike">
                <a:solidFill>
                  <a:srgbClr val="000000"/>
                </a:solidFill>
                <a:effectLst/>
              </a:rPr>
              <a:t>o </a:t>
            </a:r>
            <a:r>
              <a:rPr lang="es-MX" b="1" i="0" u="none" strike="noStrike">
                <a:solidFill>
                  <a:srgbClr val="000000"/>
                </a:solidFill>
                <a:effectLst/>
              </a:rPr>
              <a:t>“Colocar hacia”</a:t>
            </a:r>
            <a:r>
              <a:rPr lang="es-MX" b="0" i="0" u="none" strike="noStrike">
                <a:solidFill>
                  <a:srgbClr val="000000"/>
                </a:solidFill>
                <a:effectLst/>
              </a:rPr>
              <a:t>, se crean fiduciales en el origen (0,0,0) del sistema de coordenadas </a:t>
            </a:r>
            <a:r>
              <a:rPr lang="es-MX" b="0" i="1" u="none" strike="noStrike">
                <a:solidFill>
                  <a:srgbClr val="000000"/>
                </a:solidFill>
                <a:effectLst/>
              </a:rPr>
              <a:t>Desde</a:t>
            </a:r>
            <a:r>
              <a:rPr lang="es-MX" b="0" i="0" u="none" strike="noStrike">
                <a:solidFill>
                  <a:srgbClr val="000000"/>
                </a:solidFill>
                <a:effectLst/>
              </a:rPr>
              <a:t> (primero) de la transformación seleccionada, transformadas por la jerarquía de transformaciones.</a:t>
            </a:r>
          </a:p>
          <a:p>
            <a:pPr algn="l"/>
            <a:r>
              <a:rPr lang="es-MX" b="0" i="0" u="none" strike="noStrike">
                <a:solidFill>
                  <a:srgbClr val="000000"/>
                </a:solidFill>
                <a:effectLst/>
              </a:rPr>
              <a:t>Véase la explicación en la siguiente diapositiva.</a:t>
            </a:r>
          </a:p>
          <a:p>
            <a:pPr algn="l"/>
            <a:endParaRPr lang="es-MX" b="0" i="0" u="none" strike="noStrike">
              <a:solidFill>
                <a:srgbClr val="000000"/>
              </a:solidFill>
              <a:effectLst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9D9F828-92C4-F7F2-FB53-7F400C72F9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285" y="2641371"/>
            <a:ext cx="6628191" cy="1188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36443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634999"/>
          </a:xfrm>
        </p:spPr>
        <p:txBody>
          <a:bodyPr>
            <a:normAutofit fontScale="90000"/>
          </a:bodyPr>
          <a:lstStyle/>
          <a:p>
            <a:r>
              <a:rPr lang="en-CA" err="1"/>
              <a:t>Cómo</a:t>
            </a:r>
            <a:r>
              <a:rPr lang="en-CA"/>
              <a:t> </a:t>
            </a:r>
            <a:r>
              <a:rPr lang="en-CA" err="1"/>
              <a:t>colocar</a:t>
            </a:r>
            <a:r>
              <a:rPr lang="en-CA"/>
              <a:t> </a:t>
            </a:r>
            <a:r>
              <a:rPr lang="en-CA" err="1"/>
              <a:t>fiduciales</a:t>
            </a:r>
            <a:r>
              <a:rPr lang="en-CA"/>
              <a:t>... 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4E161-ED1F-470E-9199-7D8E989353A6}" type="slidenum">
              <a:rPr lang="en-US" smtClean="0"/>
              <a:t>8</a:t>
            </a:fld>
            <a:endParaRPr lang="en-US"/>
          </a:p>
        </p:txBody>
      </p:sp>
      <p:sp>
        <p:nvSpPr>
          <p:cNvPr id="5" name="Freeform 4"/>
          <p:cNvSpPr/>
          <p:nvPr/>
        </p:nvSpPr>
        <p:spPr bwMode="auto">
          <a:xfrm rot="20707099">
            <a:off x="1998623" y="2252434"/>
            <a:ext cx="2464073" cy="99901"/>
          </a:xfrm>
          <a:custGeom>
            <a:avLst/>
            <a:gdLst>
              <a:gd name="connsiteX0" fmla="*/ 217715 w 3526972"/>
              <a:gd name="connsiteY0" fmla="*/ 119743 h 119743"/>
              <a:gd name="connsiteX1" fmla="*/ 3526972 w 3526972"/>
              <a:gd name="connsiteY1" fmla="*/ 119743 h 119743"/>
              <a:gd name="connsiteX2" fmla="*/ 3526972 w 3526972"/>
              <a:gd name="connsiteY2" fmla="*/ 0 h 119743"/>
              <a:gd name="connsiteX3" fmla="*/ 0 w 3526972"/>
              <a:gd name="connsiteY3" fmla="*/ 0 h 119743"/>
              <a:gd name="connsiteX4" fmla="*/ 217715 w 3526972"/>
              <a:gd name="connsiteY4" fmla="*/ 119743 h 119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26972" h="119743">
                <a:moveTo>
                  <a:pt x="217715" y="119743"/>
                </a:moveTo>
                <a:lnTo>
                  <a:pt x="3526972" y="119743"/>
                </a:lnTo>
                <a:lnTo>
                  <a:pt x="3526972" y="0"/>
                </a:lnTo>
                <a:lnTo>
                  <a:pt x="0" y="0"/>
                </a:lnTo>
                <a:lnTo>
                  <a:pt x="217715" y="119743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rgbClr val="00FFFF"/>
              </a:gs>
              <a:gs pos="83000">
                <a:srgbClr val="00ADC4"/>
              </a:gs>
              <a:gs pos="100000">
                <a:srgbClr val="D5FAFF"/>
              </a:gs>
            </a:gsLst>
            <a:lin ang="5400000" scaled="1"/>
          </a:gra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CA"/>
          </a:p>
        </p:txBody>
      </p:sp>
      <p:grpSp>
        <p:nvGrpSpPr>
          <p:cNvPr id="6" name="Group 5"/>
          <p:cNvGrpSpPr/>
          <p:nvPr/>
        </p:nvGrpSpPr>
        <p:grpSpPr>
          <a:xfrm>
            <a:off x="3695693" y="960712"/>
            <a:ext cx="1725804" cy="1790152"/>
            <a:chOff x="457200" y="2538948"/>
            <a:chExt cx="1725804" cy="1790152"/>
          </a:xfrm>
        </p:grpSpPr>
        <p:cxnSp>
          <p:nvCxnSpPr>
            <p:cNvPr id="7" name="Straight Arrow Connector 6"/>
            <p:cNvCxnSpPr/>
            <p:nvPr/>
          </p:nvCxnSpPr>
          <p:spPr>
            <a:xfrm flipV="1">
              <a:off x="926595" y="2618910"/>
              <a:ext cx="0" cy="1080121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Arrow Connector 7"/>
            <p:cNvCxnSpPr/>
            <p:nvPr/>
          </p:nvCxnSpPr>
          <p:spPr>
            <a:xfrm>
              <a:off x="926595" y="3699030"/>
              <a:ext cx="117013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/>
            <p:cNvCxnSpPr/>
            <p:nvPr/>
          </p:nvCxnSpPr>
          <p:spPr>
            <a:xfrm flipH="1">
              <a:off x="457200" y="3699030"/>
              <a:ext cx="469395" cy="469395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/>
            <p:cNvSpPr txBox="1"/>
            <p:nvPr/>
          </p:nvSpPr>
          <p:spPr>
            <a:xfrm>
              <a:off x="1871700" y="3734743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b="1"/>
                <a:t>X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981648" y="2538948"/>
              <a:ext cx="30489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b="1"/>
                <a:t>Y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589522" y="3959768"/>
              <a:ext cx="2952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b="1"/>
                <a:t>Z</a:t>
              </a:r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4114682" y="1704751"/>
            <a:ext cx="1320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err="1"/>
              <a:t>Lápiz</a:t>
            </a:r>
            <a:r>
              <a:rPr lang="en-CA" b="1"/>
              <a:t> </a:t>
            </a:r>
            <a:r>
              <a:rPr lang="en-CA" b="1" err="1"/>
              <a:t>óptico</a:t>
            </a:r>
            <a:endParaRPr lang="en-CA" b="1"/>
          </a:p>
        </p:txBody>
      </p:sp>
      <p:grpSp>
        <p:nvGrpSpPr>
          <p:cNvPr id="14" name="Group 13"/>
          <p:cNvGrpSpPr/>
          <p:nvPr/>
        </p:nvGrpSpPr>
        <p:grpSpPr>
          <a:xfrm>
            <a:off x="1471895" y="1445773"/>
            <a:ext cx="1725804" cy="1790152"/>
            <a:chOff x="457200" y="2538948"/>
            <a:chExt cx="1725804" cy="1790152"/>
          </a:xfrm>
        </p:grpSpPr>
        <p:cxnSp>
          <p:nvCxnSpPr>
            <p:cNvPr id="15" name="Straight Arrow Connector 14"/>
            <p:cNvCxnSpPr/>
            <p:nvPr/>
          </p:nvCxnSpPr>
          <p:spPr>
            <a:xfrm flipV="1">
              <a:off x="926595" y="2618910"/>
              <a:ext cx="0" cy="1080121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/>
            <p:cNvCxnSpPr/>
            <p:nvPr/>
          </p:nvCxnSpPr>
          <p:spPr>
            <a:xfrm>
              <a:off x="926595" y="3699030"/>
              <a:ext cx="117013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/>
            <p:cNvCxnSpPr/>
            <p:nvPr/>
          </p:nvCxnSpPr>
          <p:spPr>
            <a:xfrm flipH="1">
              <a:off x="457200" y="3699030"/>
              <a:ext cx="469395" cy="469395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/>
            <p:cNvSpPr txBox="1"/>
            <p:nvPr/>
          </p:nvSpPr>
          <p:spPr>
            <a:xfrm>
              <a:off x="1871700" y="3734743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b="1"/>
                <a:t>X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981648" y="2538948"/>
              <a:ext cx="30489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b="1"/>
                <a:t>Y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589522" y="3959768"/>
              <a:ext cx="2952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b="1"/>
                <a:t>Z</a:t>
              </a:r>
            </a:p>
          </p:txBody>
        </p:sp>
      </p:grpSp>
      <p:sp>
        <p:nvSpPr>
          <p:cNvPr id="21" name="TextBox 20"/>
          <p:cNvSpPr txBox="1"/>
          <p:nvPr/>
        </p:nvSpPr>
        <p:spPr>
          <a:xfrm>
            <a:off x="2025329" y="1949071"/>
            <a:ext cx="190698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/>
              <a:t>Punta del </a:t>
            </a:r>
            <a:r>
              <a:rPr lang="en-CA" b="1" err="1"/>
              <a:t>lápiz</a:t>
            </a:r>
            <a:r>
              <a:rPr lang="en-CA" b="1"/>
              <a:t> </a:t>
            </a:r>
            <a:r>
              <a:rPr lang="en-CA" b="1" err="1"/>
              <a:t>óptico</a:t>
            </a:r>
            <a:endParaRPr lang="en-CA" b="1"/>
          </a:p>
          <a:p>
            <a:br>
              <a:rPr lang="en-CA" b="1"/>
            </a:br>
            <a:endParaRPr lang="en-CA" b="1"/>
          </a:p>
          <a:p>
            <a:br>
              <a:rPr lang="en-CA" b="1"/>
            </a:br>
            <a:endParaRPr lang="en-CA" b="1"/>
          </a:p>
        </p:txBody>
      </p:sp>
      <p:sp>
        <p:nvSpPr>
          <p:cNvPr id="25" name="Arc 24"/>
          <p:cNvSpPr/>
          <p:nvPr/>
        </p:nvSpPr>
        <p:spPr>
          <a:xfrm>
            <a:off x="2198973" y="1120157"/>
            <a:ext cx="2361384" cy="1941899"/>
          </a:xfrm>
          <a:prstGeom prst="arc">
            <a:avLst>
              <a:gd name="adj1" fmla="val 163875"/>
              <a:gd name="adj2" fmla="val 8701781"/>
            </a:avLst>
          </a:prstGeom>
          <a:ln w="25400">
            <a:solidFill>
              <a:srgbClr val="0070C0"/>
            </a:solidFill>
            <a:prstDash val="solid"/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6" name="TextBox 25"/>
          <p:cNvSpPr txBox="1"/>
          <p:nvPr/>
        </p:nvSpPr>
        <p:spPr>
          <a:xfrm>
            <a:off x="2649693" y="3066975"/>
            <a:ext cx="1833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err="1">
                <a:solidFill>
                  <a:srgbClr val="0070C0"/>
                </a:solidFill>
              </a:rPr>
              <a:t>StylusTipToStylus</a:t>
            </a:r>
            <a:endParaRPr lang="en-CA" b="1">
              <a:solidFill>
                <a:srgbClr val="0070C0"/>
              </a:solidFill>
            </a:endParaRPr>
          </a:p>
        </p:txBody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338" y="3782751"/>
            <a:ext cx="1430784" cy="538648"/>
          </a:xfrm>
          <a:prstGeom prst="rect">
            <a:avLst/>
          </a:prstGeom>
        </p:spPr>
      </p:pic>
      <p:grpSp>
        <p:nvGrpSpPr>
          <p:cNvPr id="28" name="Group 27"/>
          <p:cNvGrpSpPr/>
          <p:nvPr/>
        </p:nvGrpSpPr>
        <p:grpSpPr>
          <a:xfrm>
            <a:off x="6583872" y="1977970"/>
            <a:ext cx="1725804" cy="1790152"/>
            <a:chOff x="457200" y="2538948"/>
            <a:chExt cx="1725804" cy="1790152"/>
          </a:xfrm>
        </p:grpSpPr>
        <p:cxnSp>
          <p:nvCxnSpPr>
            <p:cNvPr id="29" name="Straight Arrow Connector 28"/>
            <p:cNvCxnSpPr/>
            <p:nvPr/>
          </p:nvCxnSpPr>
          <p:spPr>
            <a:xfrm flipV="1">
              <a:off x="926595" y="2618910"/>
              <a:ext cx="0" cy="1080121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/>
            <p:cNvCxnSpPr/>
            <p:nvPr/>
          </p:nvCxnSpPr>
          <p:spPr>
            <a:xfrm>
              <a:off x="926595" y="3699030"/>
              <a:ext cx="117013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/>
            <p:cNvCxnSpPr/>
            <p:nvPr/>
          </p:nvCxnSpPr>
          <p:spPr>
            <a:xfrm flipH="1">
              <a:off x="457200" y="3699030"/>
              <a:ext cx="469395" cy="469395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Box 31"/>
            <p:cNvSpPr txBox="1"/>
            <p:nvPr/>
          </p:nvSpPr>
          <p:spPr>
            <a:xfrm>
              <a:off x="1871700" y="3734743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b="1"/>
                <a:t>X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981648" y="2538948"/>
              <a:ext cx="30489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b="1"/>
                <a:t>Y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589522" y="3959768"/>
              <a:ext cx="2952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b="1"/>
                <a:t>Z</a:t>
              </a:r>
            </a:p>
          </p:txBody>
        </p:sp>
      </p:grpSp>
      <p:sp>
        <p:nvSpPr>
          <p:cNvPr id="35" name="TextBox 34"/>
          <p:cNvSpPr txBox="1"/>
          <p:nvPr/>
        </p:nvSpPr>
        <p:spPr>
          <a:xfrm>
            <a:off x="7083790" y="2750864"/>
            <a:ext cx="11941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err="1"/>
              <a:t>Referencia</a:t>
            </a:r>
            <a:endParaRPr lang="en-CA" b="1"/>
          </a:p>
        </p:txBody>
      </p:sp>
      <p:sp>
        <p:nvSpPr>
          <p:cNvPr id="36" name="Arc 35"/>
          <p:cNvSpPr/>
          <p:nvPr/>
        </p:nvSpPr>
        <p:spPr>
          <a:xfrm rot="16200000">
            <a:off x="5062850" y="664030"/>
            <a:ext cx="1848585" cy="3585964"/>
          </a:xfrm>
          <a:prstGeom prst="arc">
            <a:avLst>
              <a:gd name="adj1" fmla="val 18127325"/>
              <a:gd name="adj2" fmla="val 6174037"/>
            </a:avLst>
          </a:prstGeom>
          <a:ln w="25400">
            <a:solidFill>
              <a:srgbClr val="0070C0"/>
            </a:solidFill>
            <a:prstDash val="solid"/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7" name="TextBox 36"/>
          <p:cNvSpPr txBox="1"/>
          <p:nvPr/>
        </p:nvSpPr>
        <p:spPr>
          <a:xfrm>
            <a:off x="5322899" y="1625297"/>
            <a:ext cx="2502545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err="1">
                <a:solidFill>
                  <a:srgbClr val="0070C0"/>
                </a:solidFill>
              </a:rPr>
              <a:t>Lápiz</a:t>
            </a:r>
            <a:r>
              <a:rPr lang="en-CA" b="1">
                <a:solidFill>
                  <a:srgbClr val="0070C0"/>
                </a:solidFill>
              </a:rPr>
              <a:t> </a:t>
            </a:r>
            <a:r>
              <a:rPr lang="en-CA" b="1" err="1">
                <a:solidFill>
                  <a:srgbClr val="0070C0"/>
                </a:solidFill>
              </a:rPr>
              <a:t>óptico</a:t>
            </a:r>
            <a:r>
              <a:rPr lang="en-CA" b="1">
                <a:solidFill>
                  <a:srgbClr val="0070C0"/>
                </a:solidFill>
              </a:rPr>
              <a:t> a </a:t>
            </a:r>
            <a:r>
              <a:rPr lang="en-CA" b="1" err="1">
                <a:solidFill>
                  <a:srgbClr val="0070C0"/>
                </a:solidFill>
              </a:rPr>
              <a:t>referencia</a:t>
            </a:r>
            <a:endParaRPr lang="en-CA" b="1">
              <a:solidFill>
                <a:srgbClr val="0070C0"/>
              </a:solidFill>
            </a:endParaRPr>
          </a:p>
          <a:p>
            <a:br>
              <a:rPr lang="en-CA" b="1">
                <a:solidFill>
                  <a:srgbClr val="0070C0"/>
                </a:solidFill>
              </a:rPr>
            </a:br>
            <a:endParaRPr lang="en-CA" b="1">
              <a:solidFill>
                <a:srgbClr val="0070C0"/>
              </a:solidFill>
            </a:endParaRPr>
          </a:p>
          <a:p>
            <a:br>
              <a:rPr lang="en-CA" b="1">
                <a:solidFill>
                  <a:srgbClr val="0070C0"/>
                </a:solidFill>
              </a:rPr>
            </a:br>
            <a:endParaRPr lang="en-CA" b="1">
              <a:solidFill>
                <a:srgbClr val="0070C0"/>
              </a:solidFill>
            </a:endParaRPr>
          </a:p>
        </p:txBody>
      </p:sp>
      <p:sp>
        <p:nvSpPr>
          <p:cNvPr id="38" name="Oval 37"/>
          <p:cNvSpPr/>
          <p:nvPr/>
        </p:nvSpPr>
        <p:spPr>
          <a:xfrm>
            <a:off x="1837418" y="2512929"/>
            <a:ext cx="214489" cy="214489"/>
          </a:xfrm>
          <a:prstGeom prst="ellipse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9" name="TextBox 38"/>
          <p:cNvSpPr txBox="1"/>
          <p:nvPr/>
        </p:nvSpPr>
        <p:spPr>
          <a:xfrm>
            <a:off x="1478656" y="3829651"/>
            <a:ext cx="7801046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MX" sz="2400" b="0" i="0" u="none" strike="noStrike">
                <a:solidFill>
                  <a:srgbClr val="000000"/>
                </a:solidFill>
                <a:effectLst/>
              </a:rPr>
              <a:t>añada este punto en este sistema de coordenadas a esta lista</a:t>
            </a:r>
          </a:p>
          <a:p>
            <a:pPr algn="l"/>
            <a:br>
              <a:rPr lang="es-MX" sz="2400" b="0" i="0" u="none" strike="noStrike">
                <a:solidFill>
                  <a:srgbClr val="000000"/>
                </a:solidFill>
                <a:effectLst/>
              </a:rPr>
            </a:br>
            <a:endParaRPr lang="es-MX" sz="2400" b="0" i="0" u="none" strike="noStrike">
              <a:solidFill>
                <a:srgbClr val="000000"/>
              </a:solidFill>
              <a:effectLst/>
            </a:endParaRPr>
          </a:p>
          <a:p>
            <a:br>
              <a:rPr lang="es-MX" sz="2400"/>
            </a:br>
            <a:endParaRPr lang="en-CA" sz="2400"/>
          </a:p>
        </p:txBody>
      </p:sp>
      <p:cxnSp>
        <p:nvCxnSpPr>
          <p:cNvPr id="41" name="Straight Arrow Connector 40"/>
          <p:cNvCxnSpPr>
            <a:cxnSpLocks/>
            <a:endCxn id="38" idx="5"/>
          </p:cNvCxnSpPr>
          <p:nvPr/>
        </p:nvCxnSpPr>
        <p:spPr>
          <a:xfrm flipH="1" flipV="1">
            <a:off x="2020496" y="2696007"/>
            <a:ext cx="772536" cy="1170307"/>
          </a:xfrm>
          <a:prstGeom prst="straightConnector1">
            <a:avLst/>
          </a:prstGeom>
          <a:ln w="38100">
            <a:solidFill>
              <a:srgbClr val="FFC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cxnSpLocks/>
          </p:cNvCxnSpPr>
          <p:nvPr/>
        </p:nvCxnSpPr>
        <p:spPr>
          <a:xfrm flipV="1">
            <a:off x="4683375" y="2974189"/>
            <a:ext cx="2252971" cy="843682"/>
          </a:xfrm>
          <a:prstGeom prst="straightConnector1">
            <a:avLst/>
          </a:prstGeom>
          <a:ln w="38100">
            <a:solidFill>
              <a:srgbClr val="FFC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Arc 46"/>
          <p:cNvSpPr/>
          <p:nvPr/>
        </p:nvSpPr>
        <p:spPr>
          <a:xfrm>
            <a:off x="1187606" y="3980508"/>
            <a:ext cx="6810766" cy="593178"/>
          </a:xfrm>
          <a:prstGeom prst="arc">
            <a:avLst>
              <a:gd name="adj1" fmla="val 21434729"/>
              <a:gd name="adj2" fmla="val 10917029"/>
            </a:avLst>
          </a:prstGeom>
          <a:ln w="25400">
            <a:solidFill>
              <a:srgbClr val="FFC000"/>
            </a:solidFill>
            <a:prstDash val="solid"/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8" name="Picture 4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0962" y="5214869"/>
            <a:ext cx="2593078" cy="911852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559476" y="4626224"/>
            <a:ext cx="763965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MX" sz="2400" b="0" i="0" u="none" strike="noStrike">
                <a:solidFill>
                  <a:srgbClr val="000000"/>
                </a:solidFill>
                <a:effectLst/>
              </a:rPr>
              <a:t>debido a esta selección y a esta jerarquía de transformación</a:t>
            </a:r>
          </a:p>
          <a:p>
            <a:pPr algn="l"/>
            <a:br>
              <a:rPr lang="es-MX" sz="2400" b="0" i="0" u="none" strike="noStrike">
                <a:solidFill>
                  <a:srgbClr val="000000"/>
                </a:solidFill>
                <a:effectLst/>
              </a:rPr>
            </a:br>
            <a:endParaRPr lang="es-MX" sz="2400" b="0" i="0" u="none" strike="noStrike">
              <a:solidFill>
                <a:srgbClr val="000000"/>
              </a:solidFill>
              <a:effectLst/>
            </a:endParaRPr>
          </a:p>
          <a:p>
            <a:br>
              <a:rPr lang="es-MX" sz="2400"/>
            </a:br>
            <a:endParaRPr lang="en-CA" sz="2400"/>
          </a:p>
        </p:txBody>
      </p:sp>
      <p:pic>
        <p:nvPicPr>
          <p:cNvPr id="54" name="Picture 5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739" y="5383020"/>
            <a:ext cx="4549588" cy="379132"/>
          </a:xfrm>
          <a:prstGeom prst="rect">
            <a:avLst/>
          </a:prstGeom>
        </p:spPr>
      </p:pic>
      <p:cxnSp>
        <p:nvCxnSpPr>
          <p:cNvPr id="55" name="Straight Arrow Connector 54"/>
          <p:cNvCxnSpPr>
            <a:cxnSpLocks/>
          </p:cNvCxnSpPr>
          <p:nvPr/>
        </p:nvCxnSpPr>
        <p:spPr>
          <a:xfrm>
            <a:off x="2243062" y="5029844"/>
            <a:ext cx="321910" cy="495194"/>
          </a:xfrm>
          <a:prstGeom prst="straightConnector1">
            <a:avLst/>
          </a:prstGeom>
          <a:ln w="38100">
            <a:solidFill>
              <a:srgbClr val="FFC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/>
          <p:cNvCxnSpPr>
            <a:cxnSpLocks/>
          </p:cNvCxnSpPr>
          <p:nvPr/>
        </p:nvCxnSpPr>
        <p:spPr>
          <a:xfrm>
            <a:off x="4719999" y="5067018"/>
            <a:ext cx="1089861" cy="316002"/>
          </a:xfrm>
          <a:prstGeom prst="straightConnector1">
            <a:avLst/>
          </a:prstGeom>
          <a:ln w="38100">
            <a:solidFill>
              <a:srgbClr val="FFC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56578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err="1"/>
              <a:t>Rellene</a:t>
            </a:r>
            <a:r>
              <a:rPr lang="en-CA"/>
              <a:t> las </a:t>
            </a:r>
            <a:r>
              <a:rPr lang="en-CA" err="1"/>
              <a:t>listas</a:t>
            </a:r>
            <a:r>
              <a:rPr lang="en-CA"/>
              <a:t> “</a:t>
            </a:r>
            <a:r>
              <a:rPr lang="en-CA" err="1"/>
              <a:t>Desde</a:t>
            </a:r>
            <a:r>
              <a:rPr lang="en-CA"/>
              <a:t>” y “</a:t>
            </a:r>
            <a:r>
              <a:rPr lang="en-CA" err="1"/>
              <a:t>Hacia</a:t>
            </a:r>
            <a:r>
              <a:rPr lang="en-CA"/>
              <a:t>”.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l"/>
            <a:r>
              <a:rPr lang="es-MX" b="0" i="0" u="none" strike="noStrike">
                <a:solidFill>
                  <a:srgbClr val="000000"/>
                </a:solidFill>
                <a:effectLst/>
              </a:rPr>
              <a:t>Seleccione el nodo </a:t>
            </a:r>
            <a:r>
              <a:rPr lang="es-MX" b="1" i="0" u="none" strike="noStrike">
                <a:solidFill>
                  <a:srgbClr val="000000"/>
                </a:solidFill>
                <a:effectLst/>
              </a:rPr>
              <a:t>Navegador de secuencias </a:t>
            </a:r>
            <a:r>
              <a:rPr lang="es-MX" b="0" i="0" u="none" strike="noStrike">
                <a:solidFill>
                  <a:srgbClr val="000000"/>
                </a:solidFill>
                <a:effectLst/>
              </a:rPr>
              <a:t>en la barra de herramientas </a:t>
            </a:r>
            <a:r>
              <a:rPr lang="es-MX" b="1" i="0" u="none" strike="noStrike">
                <a:solidFill>
                  <a:srgbClr val="000000"/>
                </a:solidFill>
                <a:effectLst/>
              </a:rPr>
              <a:t>Secuencia</a:t>
            </a:r>
            <a:r>
              <a:rPr lang="es-MX" b="0" i="0" u="none" strike="noStrike">
                <a:solidFill>
                  <a:srgbClr val="000000"/>
                </a:solidFill>
                <a:effectLst/>
              </a:rPr>
              <a:t>. </a:t>
            </a:r>
          </a:p>
          <a:p>
            <a:pPr algn="l"/>
            <a:r>
              <a:rPr lang="es-MX" b="0" i="0" u="none" strike="noStrike">
                <a:solidFill>
                  <a:srgbClr val="000000"/>
                </a:solidFill>
                <a:effectLst/>
              </a:rPr>
              <a:t>Arrastre el deslizador de </a:t>
            </a:r>
            <a:r>
              <a:rPr lang="es-MX" b="1" i="0" u="none" strike="noStrike">
                <a:solidFill>
                  <a:srgbClr val="000000"/>
                </a:solidFill>
                <a:effectLst/>
              </a:rPr>
              <a:t>tiempo</a:t>
            </a:r>
            <a:r>
              <a:rPr lang="es-MX" b="0" i="0" u="none" strike="noStrike">
                <a:solidFill>
                  <a:srgbClr val="000000"/>
                </a:solidFill>
                <a:effectLst/>
              </a:rPr>
              <a:t> hasta los puntos en los que vea el lápiz óptico colocado en los puntos de referencia del cráneo en el video.</a:t>
            </a:r>
          </a:p>
          <a:p>
            <a:pPr algn="l"/>
            <a:r>
              <a:rPr lang="es-MX" b="0" i="0" u="none" strike="noStrike">
                <a:solidFill>
                  <a:srgbClr val="000000"/>
                </a:solidFill>
                <a:effectLst/>
              </a:rPr>
              <a:t>Gire la vista 3D para ver el mismo punto de referencia en el modelo de superficie.</a:t>
            </a:r>
          </a:p>
          <a:p>
            <a:pPr algn="l"/>
            <a:r>
              <a:rPr lang="es-MX" b="0" i="0" u="none" strike="noStrike">
                <a:solidFill>
                  <a:srgbClr val="000000"/>
                </a:solidFill>
                <a:effectLst/>
              </a:rPr>
              <a:t>Pulse el botón “Colocar desde</a:t>
            </a:r>
            <a:r>
              <a:rPr lang="es-MX">
                <a:solidFill>
                  <a:srgbClr val="000000"/>
                </a:solidFill>
              </a:rPr>
              <a:t>”</a:t>
            </a:r>
            <a:r>
              <a:rPr lang="es-MX" b="0" i="0" u="none" strike="noStrike">
                <a:solidFill>
                  <a:srgbClr val="000000"/>
                </a:solidFill>
                <a:effectLst/>
              </a:rPr>
              <a:t> para añadir un punto fiducial </a:t>
            </a:r>
            <a:r>
              <a:rPr lang="es-MX" b="0" i="1" u="none" strike="noStrike">
                <a:solidFill>
                  <a:srgbClr val="000000"/>
                </a:solidFill>
                <a:effectLst/>
              </a:rPr>
              <a:t>Desde</a:t>
            </a:r>
            <a:r>
              <a:rPr lang="es-MX" b="0" i="0" u="none" strike="noStrike">
                <a:solidFill>
                  <a:srgbClr val="000000"/>
                </a:solidFill>
                <a:effectLst/>
              </a:rPr>
              <a:t>.</a:t>
            </a:r>
          </a:p>
          <a:p>
            <a:pPr algn="l"/>
            <a:r>
              <a:rPr lang="es-MX" b="0" i="0" u="none" strike="noStrike">
                <a:solidFill>
                  <a:srgbClr val="000000"/>
                </a:solidFill>
                <a:effectLst/>
              </a:rPr>
              <a:t>Pulse el botón selector de fiducial        en la lista </a:t>
            </a:r>
            <a:r>
              <a:rPr lang="es-MX">
                <a:solidFill>
                  <a:srgbClr val="000000"/>
                </a:solidFill>
              </a:rPr>
              <a:t>“</a:t>
            </a:r>
            <a:r>
              <a:rPr lang="es-MX" b="0" i="0" u="none" strike="noStrike">
                <a:solidFill>
                  <a:srgbClr val="000000"/>
                </a:solidFill>
                <a:effectLst/>
              </a:rPr>
              <a:t>Hacia” y haga clic en el modelo de superficie para colocar un punto de referencia “Hacia”.</a:t>
            </a:r>
          </a:p>
          <a:p>
            <a:pPr algn="l"/>
            <a:r>
              <a:rPr lang="es-MX" b="0" i="0" u="none" strike="noStrike">
                <a:solidFill>
                  <a:srgbClr val="000000"/>
                </a:solidFill>
                <a:effectLst/>
              </a:rPr>
              <a:t>Vea la siguiente diapositiva para ver una ilustración.</a:t>
            </a:r>
          </a:p>
          <a:p>
            <a:pPr marL="0" indent="0" algn="l">
              <a:buNone/>
            </a:pPr>
            <a:endParaRPr lang="es-MX" b="0" i="0" u="none" strike="noStrike">
              <a:solidFill>
                <a:srgbClr val="000000"/>
              </a:solidFill>
              <a:effectLst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4E161-ED1F-470E-9199-7D8E989353A6}" type="slidenum">
              <a:rPr lang="en-US" smtClean="0"/>
              <a:t>9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4225" y="4500698"/>
            <a:ext cx="437600" cy="387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17877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CA5898F4-8ECD-63EB-47D9-B5B004BC20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66470"/>
            <a:ext cx="9144000" cy="472506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CA"/>
            </a:br>
            <a:r>
              <a:rPr lang="en-CA" err="1"/>
              <a:t>Añadir</a:t>
            </a:r>
            <a:r>
              <a:rPr lang="en-CA"/>
              <a:t> </a:t>
            </a:r>
            <a:r>
              <a:rPr lang="en-CA" err="1"/>
              <a:t>el</a:t>
            </a:r>
            <a:r>
              <a:rPr lang="en-CA"/>
              <a:t> primer par de puntos</a:t>
            </a:r>
            <a:br>
              <a:rPr lang="en-CA"/>
            </a:br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4E161-ED1F-470E-9199-7D8E989353A6}" type="slidenum">
              <a:rPr lang="en-US" smtClean="0"/>
              <a:t>10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3141294" y="1096659"/>
            <a:ext cx="463588" cy="340203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3604882" y="924905"/>
            <a:ext cx="463588" cy="523220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sz="2800" b="1">
                <a:solidFill>
                  <a:srgbClr val="FF0000"/>
                </a:solidFill>
              </a:rPr>
              <a:t>1.</a:t>
            </a:r>
            <a:endParaRPr lang="en-US" b="1">
              <a:solidFill>
                <a:srgbClr val="FF0000"/>
              </a:solidFill>
              <a:ea typeface="Calibri" panose="020F0502020204030204"/>
              <a:cs typeface="Calibri" panose="020F0502020204030204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112587" y="4504210"/>
            <a:ext cx="717701" cy="340203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3705868" y="4080684"/>
            <a:ext cx="46358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>
                <a:solidFill>
                  <a:srgbClr val="FF0000"/>
                </a:solidFill>
              </a:rPr>
              <a:t>2.</a:t>
            </a:r>
            <a:endParaRPr lang="en-US" b="1">
              <a:solidFill>
                <a:srgbClr val="FF000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697914" y="3019808"/>
            <a:ext cx="46358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>
                <a:solidFill>
                  <a:srgbClr val="FF0000"/>
                </a:solidFill>
              </a:rPr>
              <a:t>3.</a:t>
            </a:r>
            <a:endParaRPr lang="en-US" b="1">
              <a:solidFill>
                <a:srgbClr val="FF0000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2697914" y="3466989"/>
            <a:ext cx="401854" cy="340203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7955633" y="2554223"/>
            <a:ext cx="46358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>
                <a:solidFill>
                  <a:srgbClr val="FF0000"/>
                </a:solidFill>
              </a:rPr>
              <a:t>4.</a:t>
            </a:r>
            <a:endParaRPr lang="en-US" b="1">
              <a:solidFill>
                <a:srgbClr val="FF0000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955633" y="3079781"/>
            <a:ext cx="401854" cy="340203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316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br>
              <a:rPr lang="en-CA"/>
            </a:br>
            <a:r>
              <a:rPr lang="en-CA"/>
              <a:t>Y </a:t>
            </a:r>
            <a:r>
              <a:rPr lang="en-CA" err="1"/>
              <a:t>así</a:t>
            </a:r>
            <a:r>
              <a:rPr lang="en-CA"/>
              <a:t> </a:t>
            </a:r>
            <a:r>
              <a:rPr lang="en-CA" err="1"/>
              <a:t>sucesivamente</a:t>
            </a:r>
            <a:r>
              <a:rPr lang="en-CA"/>
              <a:t> para </a:t>
            </a:r>
            <a:r>
              <a:rPr lang="en-CA" err="1"/>
              <a:t>muchos</a:t>
            </a:r>
            <a:r>
              <a:rPr lang="en-CA"/>
              <a:t> pares de puntos...</a:t>
            </a:r>
            <a:br>
              <a:rPr lang="en-CA"/>
            </a:br>
            <a:endParaRPr lang="en-CA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CA"/>
              <a:t>... </a:t>
            </a:r>
            <a:r>
              <a:rPr lang="es-MX" b="0" i="0" u="none" strike="noStrike">
                <a:solidFill>
                  <a:srgbClr val="000000"/>
                </a:solidFill>
                <a:effectLst/>
              </a:rPr>
              <a:t>pero ¿cuántos?</a:t>
            </a:r>
            <a:endParaRPr lang="en-CA"/>
          </a:p>
          <a:p>
            <a:pPr marL="0" indent="0">
              <a:buNone/>
            </a:pPr>
            <a:endParaRPr lang="en-CA"/>
          </a:p>
          <a:p>
            <a:pPr algn="l"/>
            <a:r>
              <a:rPr lang="es-MX" b="0" i="0" u="none" strike="noStrike">
                <a:solidFill>
                  <a:srgbClr val="000000"/>
                </a:solidFill>
                <a:effectLst/>
              </a:rPr>
              <a:t>Se necesitan al menos 3 pares de puntos para el registro.</a:t>
            </a:r>
          </a:p>
          <a:p>
            <a:r>
              <a:rPr lang="es-MX" b="0" i="0" u="none" strike="noStrike">
                <a:solidFill>
                  <a:srgbClr val="000000"/>
                </a:solidFill>
                <a:effectLst/>
              </a:rPr>
              <a:t>Probablemente, cuantos más puntos haya, mayor será la precisión Y aumentará ligeramente el RMSE (error cuadrático medio</a:t>
            </a:r>
            <a:r>
              <a:rPr lang="es-MX">
                <a:solidFill>
                  <a:srgbClr val="000000"/>
                </a:solidFill>
              </a:rPr>
              <a:t>, por sus siglas en inglés RMSE).</a:t>
            </a:r>
            <a:endParaRPr lang="es-MX" b="0" i="0" u="none" strike="noStrike">
              <a:solidFill>
                <a:srgbClr val="000000"/>
              </a:solidFill>
              <a:effectLst/>
              <a:ea typeface="Calibri"/>
              <a:cs typeface="Calibri"/>
            </a:endParaRPr>
          </a:p>
          <a:p>
            <a:pPr algn="l"/>
            <a:r>
              <a:rPr lang="es-MX" b="0" i="0" u="none" strike="noStrike">
                <a:solidFill>
                  <a:srgbClr val="000000"/>
                </a:solidFill>
                <a:effectLst/>
              </a:rPr>
              <a:t>La precisión aumentará porque los errores aleatorios se cancelan entre sí.</a:t>
            </a:r>
          </a:p>
          <a:p>
            <a:pPr algn="l"/>
            <a:r>
              <a:rPr lang="es-MX" b="0" i="0" u="none" strike="noStrike">
                <a:solidFill>
                  <a:srgbClr val="000000"/>
                </a:solidFill>
                <a:effectLst/>
              </a:rPr>
              <a:t>El RMSE aumentará debido a un menor sobreajuste.</a:t>
            </a:r>
          </a:p>
          <a:p>
            <a:pPr algn="l"/>
            <a:r>
              <a:rPr lang="es-MX" b="0" i="0" u="none" strike="noStrike">
                <a:solidFill>
                  <a:srgbClr val="000000"/>
                </a:solidFill>
                <a:effectLst/>
              </a:rPr>
              <a:t>¡El RMSE es una mezcla desconocida de precisión y exactitud!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4E161-ED1F-470E-9199-7D8E989353A6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6752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br>
              <a:rPr lang="en-CA"/>
            </a:br>
            <a:r>
              <a:rPr lang="en-CA" err="1"/>
              <a:t>Cuando</a:t>
            </a:r>
            <a:r>
              <a:rPr lang="en-CA"/>
              <a:t> se </a:t>
            </a:r>
            <a:r>
              <a:rPr lang="en-CA" err="1"/>
              <a:t>añaden</a:t>
            </a:r>
            <a:r>
              <a:rPr lang="en-CA"/>
              <a:t> </a:t>
            </a:r>
            <a:r>
              <a:rPr lang="en-CA" err="1"/>
              <a:t>todos</a:t>
            </a:r>
            <a:r>
              <a:rPr lang="en-CA"/>
              <a:t> </a:t>
            </a:r>
            <a:r>
              <a:rPr lang="en-CA" err="1"/>
              <a:t>los</a:t>
            </a:r>
            <a:r>
              <a:rPr lang="en-CA"/>
              <a:t> pares de puntos</a:t>
            </a:r>
            <a:br>
              <a:rPr lang="en-CA"/>
            </a:b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181101"/>
            <a:ext cx="7886700" cy="2566810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es-MX" b="0" i="0" u="none" strike="noStrike">
                <a:solidFill>
                  <a:srgbClr val="000000"/>
                </a:solidFill>
                <a:effectLst/>
              </a:rPr>
              <a:t>Es recomendable cambiar de </a:t>
            </a:r>
            <a:r>
              <a:rPr lang="es-MX" b="1" i="0" u="none" strike="noStrike">
                <a:solidFill>
                  <a:srgbClr val="000000"/>
                </a:solidFill>
                <a:effectLst/>
              </a:rPr>
              <a:t>Actualización automática </a:t>
            </a:r>
            <a:r>
              <a:rPr lang="es-MX" b="0" i="0" u="none" strike="noStrike">
                <a:solidFill>
                  <a:srgbClr val="000000"/>
                </a:solidFill>
                <a:effectLst/>
              </a:rPr>
              <a:t>a </a:t>
            </a:r>
            <a:r>
              <a:rPr lang="es-MX" b="1" i="0" u="none" strike="noStrike">
                <a:solidFill>
                  <a:srgbClr val="000000"/>
                </a:solidFill>
                <a:effectLst/>
              </a:rPr>
              <a:t>Actualización manual </a:t>
            </a:r>
            <a:r>
              <a:rPr lang="es-MX" b="0" i="0" u="none" strike="noStrike">
                <a:solidFill>
                  <a:srgbClr val="000000"/>
                </a:solidFill>
                <a:effectLst/>
              </a:rPr>
              <a:t>para evitar errores al mover accidentalmente los fiduciales más adelante en la escena.</a:t>
            </a:r>
          </a:p>
          <a:p>
            <a:pPr algn="l"/>
            <a:r>
              <a:rPr lang="es-MX" b="0" i="0" u="none" strike="noStrike">
                <a:solidFill>
                  <a:srgbClr val="000000"/>
                </a:solidFill>
                <a:effectLst/>
              </a:rPr>
              <a:t>Guarde la transformación </a:t>
            </a:r>
            <a:r>
              <a:rPr lang="es-MX" b="1" i="0" u="none" strike="noStrike">
                <a:solidFill>
                  <a:srgbClr val="000000"/>
                </a:solidFill>
                <a:effectLst/>
              </a:rPr>
              <a:t>Referencia a Ras </a:t>
            </a:r>
            <a:r>
              <a:rPr lang="es-MX" b="0" i="0" u="none" strike="noStrike">
                <a:solidFill>
                  <a:srgbClr val="000000"/>
                </a:solidFill>
                <a:effectLst/>
              </a:rPr>
              <a:t>o guarde toda la escena, por si desea comprobar el resultado más adelante.</a:t>
            </a:r>
          </a:p>
          <a:p>
            <a:pPr marL="0" indent="0" algn="l">
              <a:buNone/>
            </a:pPr>
            <a:endParaRPr lang="es-MX" b="0" i="0" u="none" strike="noStrike">
              <a:solidFill>
                <a:srgbClr val="000000"/>
              </a:solidFill>
              <a:effectLst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4E161-ED1F-470E-9199-7D8E989353A6}" type="slidenum">
              <a:rPr lang="en-US" smtClean="0"/>
              <a:t>12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2F71A4D-F22F-5972-AE8E-278F7A0A75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261" y="3670971"/>
            <a:ext cx="8243267" cy="2069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83541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B5AEEC3C-57F5-458C-A259-BEA2AFF0D77B}" vid="{F032F1CB-9777-488E-B287-8CA49E564C5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098f7cbb-c9e9-450d-82ba-91729ba27895" xsi:nil="true"/>
    <lcf76f155ced4ddcb4097134ff3c332f xmlns="da2f274f-5e6c-4126-98a1-686d90f0b627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C4F178DD8AD5D42B7E54A64C7A32259" ma:contentTypeVersion="13" ma:contentTypeDescription="Create a new document." ma:contentTypeScope="" ma:versionID="94ec251bac65f007d594976d1f66ecc6">
  <xsd:schema xmlns:xsd="http://www.w3.org/2001/XMLSchema" xmlns:xs="http://www.w3.org/2001/XMLSchema" xmlns:p="http://schemas.microsoft.com/office/2006/metadata/properties" xmlns:ns2="da2f274f-5e6c-4126-98a1-686d90f0b627" xmlns:ns3="098f7cbb-c9e9-450d-82ba-91729ba27895" targetNamespace="http://schemas.microsoft.com/office/2006/metadata/properties" ma:root="true" ma:fieldsID="ac1bd02fc6a6cf5ca99f579d85f7d5d7" ns2:_="" ns3:_="">
    <xsd:import namespace="da2f274f-5e6c-4126-98a1-686d90f0b627"/>
    <xsd:import namespace="098f7cbb-c9e9-450d-82ba-91729ba2789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a2f274f-5e6c-4126-98a1-686d90f0b62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b653b1c0-f410-437d-8ee7-1cf68b209f5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15" nillable="true" ma:displayName="Location" ma:indexed="true" ma:internalName="MediaServiceLocatio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20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98f7cbb-c9e9-450d-82ba-91729ba27895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85634cb3-39a3-428d-b4a9-80f5fed272d9}" ma:internalName="TaxCatchAll" ma:showField="CatchAllData" ma:web="098f7cbb-c9e9-450d-82ba-91729ba2789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65EE524-C00C-4343-A8F7-7E647C7B3EBA}">
  <ds:schemaRefs>
    <ds:schemaRef ds:uri="098f7cbb-c9e9-450d-82ba-91729ba27895"/>
    <ds:schemaRef ds:uri="da2f274f-5e6c-4126-98a1-686d90f0b627"/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65A561D3-434B-4EB9-AEB3-6A46892410C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8C050B6-DB09-4460-87CF-6882786AF747}">
  <ds:schemaRefs>
    <ds:schemaRef ds:uri="098f7cbb-c9e9-450d-82ba-91729ba27895"/>
    <ds:schemaRef ds:uri="da2f274f-5e6c-4126-98a1-686d90f0b62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SlicerIGT-TutorialTemplate</Template>
  <Application>Microsoft Office PowerPoint</Application>
  <PresentationFormat>Presentación en pantalla (4:3)</PresentationFormat>
  <Slides>12</Slides>
  <Notes>0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3" baseType="lpstr">
      <vt:lpstr>Office Theme</vt:lpstr>
      <vt:lpstr>Registro de puntos de referencia </vt:lpstr>
      <vt:lpstr>Registro de puntos de referencia </vt:lpstr>
      <vt:lpstr> Tipo de transformación de resultados </vt:lpstr>
      <vt:lpstr>Presentación de PowerPoint</vt:lpstr>
      <vt:lpstr> Cargar datos de ejemplo </vt:lpstr>
      <vt:lpstr> Crear nodos de entrada y salida </vt:lpstr>
      <vt:lpstr> Configurar el lápiz óptico como entrada </vt:lpstr>
      <vt:lpstr>Cómo colocar fiduciales... </vt:lpstr>
      <vt:lpstr>Rellene las listas “Desde” y “Hacia”.</vt:lpstr>
      <vt:lpstr> Añadir el primer par de puntos </vt:lpstr>
      <vt:lpstr> Y así sucesivamente para muchos pares de puntos... </vt:lpstr>
      <vt:lpstr> Cuando se añaden todos los pares de puntos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Tamas Ungi</dc:creator>
  <cp:revision>2</cp:revision>
  <dcterms:created xsi:type="dcterms:W3CDTF">2014-04-04T16:52:35Z</dcterms:created>
  <dcterms:modified xsi:type="dcterms:W3CDTF">2026-05-04T23:05:50Z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0x010100EC4F178DD8AD5D42B7E54A64C7A32259</vt:lpwstr>
  </property>
  <property fmtid="{D5CDD505-2E9C-101B-9397-08002B2CF9AE}" pid="3" name="MediaServiceImageTags">
    <vt:lpwstr/>
  </property>
</Properties>
</file>