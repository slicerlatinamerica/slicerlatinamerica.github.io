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
  </p:notesMasterIdLst>
  <p:sldIdLst>
    <p:sldId id="256" r:id="rId2"/>
    <p:sldId id="262" r:id="rId3"/>
    <p:sldId id="263" r:id="rId4"/>
    <p:sldId id="258" r:id="rId5"/>
    <p:sldId id="260" r:id="rId6"/>
    <p:sldId id="259" r:id="rId7"/>
    <p:sldId id="264" r:id="rId8"/>
    <p:sldId id="265" r:id="rId9"/>
    <p:sldId id="26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580C2C-81F9-4776-A361-CC2534B5A5C7}" v="6" dt="2019-08-25T20:26:23.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7" autoAdjust="0"/>
    <p:restoredTop sz="94660"/>
  </p:normalViewPr>
  <p:slideViewPr>
    <p:cSldViewPr snapToGrid="0">
      <p:cViewPr varScale="1">
        <p:scale>
          <a:sx n="115" d="100"/>
          <a:sy n="115" d="100"/>
        </p:scale>
        <p:origin x="122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s Ungi" userId="7230d4dec6058018" providerId="LiveId" clId="{2F580C2C-81F9-4776-A361-CC2534B5A5C7}"/>
    <pc:docChg chg="undo custSel delSld modSld">
      <pc:chgData name="Tamas Ungi" userId="7230d4dec6058018" providerId="LiveId" clId="{2F580C2C-81F9-4776-A361-CC2534B5A5C7}" dt="2019-08-25T20:27:39.543" v="365" actId="1036"/>
      <pc:docMkLst>
        <pc:docMk/>
      </pc:docMkLst>
      <pc:sldChg chg="modSp">
        <pc:chgData name="Tamas Ungi" userId="7230d4dec6058018" providerId="LiveId" clId="{2F580C2C-81F9-4776-A361-CC2534B5A5C7}" dt="2019-08-25T20:16:59.457" v="2" actId="20577"/>
        <pc:sldMkLst>
          <pc:docMk/>
          <pc:sldMk cId="3646400878" sldId="260"/>
        </pc:sldMkLst>
        <pc:spChg chg="mod">
          <ac:chgData name="Tamas Ungi" userId="7230d4dec6058018" providerId="LiveId" clId="{2F580C2C-81F9-4776-A361-CC2534B5A5C7}" dt="2019-08-25T20:16:59.457" v="2" actId="20577"/>
          <ac:spMkLst>
            <pc:docMk/>
            <pc:sldMk cId="3646400878" sldId="260"/>
            <ac:spMk id="3" creationId="{00000000-0000-0000-0000-000000000000}"/>
          </ac:spMkLst>
        </pc:spChg>
      </pc:sldChg>
      <pc:sldChg chg="addSp delSp modSp">
        <pc:chgData name="Tamas Ungi" userId="7230d4dec6058018" providerId="LiveId" clId="{2F580C2C-81F9-4776-A361-CC2534B5A5C7}" dt="2019-08-25T20:27:39.543" v="365" actId="1036"/>
        <pc:sldMkLst>
          <pc:docMk/>
          <pc:sldMk cId="376931141" sldId="264"/>
        </pc:sldMkLst>
        <pc:spChg chg="mod">
          <ac:chgData name="Tamas Ungi" userId="7230d4dec6058018" providerId="LiveId" clId="{2F580C2C-81F9-4776-A361-CC2534B5A5C7}" dt="2019-08-25T20:25:37.719" v="144" actId="14100"/>
          <ac:spMkLst>
            <pc:docMk/>
            <pc:sldMk cId="376931141" sldId="264"/>
            <ac:spMk id="5" creationId="{00000000-0000-0000-0000-000000000000}"/>
          </ac:spMkLst>
        </pc:spChg>
        <pc:spChg chg="mod">
          <ac:chgData name="Tamas Ungi" userId="7230d4dec6058018" providerId="LiveId" clId="{2F580C2C-81F9-4776-A361-CC2534B5A5C7}" dt="2019-08-25T20:26:08.238" v="161" actId="1076"/>
          <ac:spMkLst>
            <pc:docMk/>
            <pc:sldMk cId="376931141" sldId="264"/>
            <ac:spMk id="11" creationId="{00000000-0000-0000-0000-000000000000}"/>
          </ac:spMkLst>
        </pc:spChg>
        <pc:spChg chg="mod">
          <ac:chgData name="Tamas Ungi" userId="7230d4dec6058018" providerId="LiveId" clId="{2F580C2C-81F9-4776-A361-CC2534B5A5C7}" dt="2019-08-25T20:26:08.238" v="161" actId="1076"/>
          <ac:spMkLst>
            <pc:docMk/>
            <pc:sldMk cId="376931141" sldId="264"/>
            <ac:spMk id="12" creationId="{00000000-0000-0000-0000-000000000000}"/>
          </ac:spMkLst>
        </pc:spChg>
        <pc:spChg chg="mod">
          <ac:chgData name="Tamas Ungi" userId="7230d4dec6058018" providerId="LiveId" clId="{2F580C2C-81F9-4776-A361-CC2534B5A5C7}" dt="2019-08-25T20:26:08.238" v="161" actId="1076"/>
          <ac:spMkLst>
            <pc:docMk/>
            <pc:sldMk cId="376931141" sldId="264"/>
            <ac:spMk id="13" creationId="{00000000-0000-0000-0000-000000000000}"/>
          </ac:spMkLst>
        </pc:spChg>
        <pc:spChg chg="del mod">
          <ac:chgData name="Tamas Ungi" userId="7230d4dec6058018" providerId="LiveId" clId="{2F580C2C-81F9-4776-A361-CC2534B5A5C7}" dt="2019-08-25T20:22:37.498" v="70" actId="478"/>
          <ac:spMkLst>
            <pc:docMk/>
            <pc:sldMk cId="376931141" sldId="264"/>
            <ac:spMk id="14" creationId="{00000000-0000-0000-0000-000000000000}"/>
          </ac:spMkLst>
        </pc:spChg>
        <pc:spChg chg="mod">
          <ac:chgData name="Tamas Ungi" userId="7230d4dec6058018" providerId="LiveId" clId="{2F580C2C-81F9-4776-A361-CC2534B5A5C7}" dt="2019-08-25T20:26:08.238" v="161" actId="1076"/>
          <ac:spMkLst>
            <pc:docMk/>
            <pc:sldMk cId="376931141" sldId="264"/>
            <ac:spMk id="18" creationId="{00000000-0000-0000-0000-000000000000}"/>
          </ac:spMkLst>
        </pc:spChg>
        <pc:spChg chg="del mod">
          <ac:chgData name="Tamas Ungi" userId="7230d4dec6058018" providerId="LiveId" clId="{2F580C2C-81F9-4776-A361-CC2534B5A5C7}" dt="2019-08-25T20:22:37.498" v="70" actId="478"/>
          <ac:spMkLst>
            <pc:docMk/>
            <pc:sldMk cId="376931141" sldId="264"/>
            <ac:spMk id="19" creationId="{00000000-0000-0000-0000-000000000000}"/>
          </ac:spMkLst>
        </pc:spChg>
        <pc:spChg chg="mod">
          <ac:chgData name="Tamas Ungi" userId="7230d4dec6058018" providerId="LiveId" clId="{2F580C2C-81F9-4776-A361-CC2534B5A5C7}" dt="2019-08-25T20:25:13.940" v="121" actId="20577"/>
          <ac:spMkLst>
            <pc:docMk/>
            <pc:sldMk cId="376931141" sldId="264"/>
            <ac:spMk id="22" creationId="{00000000-0000-0000-0000-000000000000}"/>
          </ac:spMkLst>
        </pc:spChg>
        <pc:spChg chg="add mod">
          <ac:chgData name="Tamas Ungi" userId="7230d4dec6058018" providerId="LiveId" clId="{2F580C2C-81F9-4776-A361-CC2534B5A5C7}" dt="2019-08-25T20:26:08.238" v="161" actId="1076"/>
          <ac:spMkLst>
            <pc:docMk/>
            <pc:sldMk cId="376931141" sldId="264"/>
            <ac:spMk id="25" creationId="{76297968-42F5-40F5-B586-0CC17CEE729A}"/>
          </ac:spMkLst>
        </pc:spChg>
        <pc:spChg chg="add mod">
          <ac:chgData name="Tamas Ungi" userId="7230d4dec6058018" providerId="LiveId" clId="{2F580C2C-81F9-4776-A361-CC2534B5A5C7}" dt="2019-08-25T20:27:39.543" v="365" actId="1036"/>
          <ac:spMkLst>
            <pc:docMk/>
            <pc:sldMk cId="376931141" sldId="264"/>
            <ac:spMk id="27" creationId="{98B1F1B3-4C8A-4F14-95AA-3F7E1ECBF07C}"/>
          </ac:spMkLst>
        </pc:spChg>
        <pc:picChg chg="del mod">
          <ac:chgData name="Tamas Ungi" userId="7230d4dec6058018" providerId="LiveId" clId="{2F580C2C-81F9-4776-A361-CC2534B5A5C7}" dt="2019-08-25T20:24:23.976" v="104" actId="478"/>
          <ac:picMkLst>
            <pc:docMk/>
            <pc:sldMk cId="376931141" sldId="264"/>
            <ac:picMk id="6" creationId="{00000000-0000-0000-0000-000000000000}"/>
          </ac:picMkLst>
        </pc:picChg>
        <pc:picChg chg="mod">
          <ac:chgData name="Tamas Ungi" userId="7230d4dec6058018" providerId="LiveId" clId="{2F580C2C-81F9-4776-A361-CC2534B5A5C7}" dt="2019-08-25T20:26:08.238" v="161" actId="1076"/>
          <ac:picMkLst>
            <pc:docMk/>
            <pc:sldMk cId="376931141" sldId="264"/>
            <ac:picMk id="9" creationId="{00000000-0000-0000-0000-000000000000}"/>
          </ac:picMkLst>
        </pc:picChg>
        <pc:picChg chg="mod">
          <ac:chgData name="Tamas Ungi" userId="7230d4dec6058018" providerId="LiveId" clId="{2F580C2C-81F9-4776-A361-CC2534B5A5C7}" dt="2019-08-25T20:26:08.238" v="161" actId="1076"/>
          <ac:picMkLst>
            <pc:docMk/>
            <pc:sldMk cId="376931141" sldId="264"/>
            <ac:picMk id="10" creationId="{00000000-0000-0000-0000-000000000000}"/>
          </ac:picMkLst>
        </pc:picChg>
        <pc:picChg chg="add mod ord">
          <ac:chgData name="Tamas Ungi" userId="7230d4dec6058018" providerId="LiveId" clId="{2F580C2C-81F9-4776-A361-CC2534B5A5C7}" dt="2019-08-25T20:26:08.238" v="161" actId="1076"/>
          <ac:picMkLst>
            <pc:docMk/>
            <pc:sldMk cId="376931141" sldId="264"/>
            <ac:picMk id="15" creationId="{FAD2DF87-08D0-41C7-8658-2052F1794BF9}"/>
          </ac:picMkLst>
        </pc:picChg>
        <pc:picChg chg="del mod">
          <ac:chgData name="Tamas Ungi" userId="7230d4dec6058018" providerId="LiveId" clId="{2F580C2C-81F9-4776-A361-CC2534B5A5C7}" dt="2019-08-25T20:19:49.447" v="24" actId="478"/>
          <ac:picMkLst>
            <pc:docMk/>
            <pc:sldMk cId="376931141" sldId="264"/>
            <ac:picMk id="16" creationId="{00000000-0000-0000-0000-000000000000}"/>
          </ac:picMkLst>
        </pc:picChg>
        <pc:picChg chg="add mod">
          <ac:chgData name="Tamas Ungi" userId="7230d4dec6058018" providerId="LiveId" clId="{2F580C2C-81F9-4776-A361-CC2534B5A5C7}" dt="2019-08-25T20:26:08.238" v="161" actId="1076"/>
          <ac:picMkLst>
            <pc:docMk/>
            <pc:sldMk cId="376931141" sldId="264"/>
            <ac:picMk id="17" creationId="{C69D3CB6-B8B6-4AF0-8F17-846E77648E92}"/>
          </ac:picMkLst>
        </pc:picChg>
        <pc:picChg chg="mod">
          <ac:chgData name="Tamas Ungi" userId="7230d4dec6058018" providerId="LiveId" clId="{2F580C2C-81F9-4776-A361-CC2534B5A5C7}" dt="2019-08-25T20:25:45.438" v="153" actId="1076"/>
          <ac:picMkLst>
            <pc:docMk/>
            <pc:sldMk cId="376931141" sldId="264"/>
            <ac:picMk id="20" creationId="{00000000-0000-0000-0000-000000000000}"/>
          </ac:picMkLst>
        </pc:picChg>
        <pc:picChg chg="add mod ord">
          <ac:chgData name="Tamas Ungi" userId="7230d4dec6058018" providerId="LiveId" clId="{2F580C2C-81F9-4776-A361-CC2534B5A5C7}" dt="2019-08-25T20:26:08.238" v="161" actId="1076"/>
          <ac:picMkLst>
            <pc:docMk/>
            <pc:sldMk cId="376931141" sldId="264"/>
            <ac:picMk id="23" creationId="{484A3C37-8260-4E6F-BBB8-612AC5C27C7A}"/>
          </ac:picMkLst>
        </pc:picChg>
        <pc:picChg chg="add mod">
          <ac:chgData name="Tamas Ungi" userId="7230d4dec6058018" providerId="LiveId" clId="{2F580C2C-81F9-4776-A361-CC2534B5A5C7}" dt="2019-08-25T20:26:08.238" v="161" actId="1076"/>
          <ac:picMkLst>
            <pc:docMk/>
            <pc:sldMk cId="376931141" sldId="264"/>
            <ac:picMk id="24" creationId="{03E7CA19-3105-4C82-8648-C0CCC698841E}"/>
          </ac:picMkLst>
        </pc:picChg>
        <pc:picChg chg="add mod ord">
          <ac:chgData name="Tamas Ungi" userId="7230d4dec6058018" providerId="LiveId" clId="{2F580C2C-81F9-4776-A361-CC2534B5A5C7}" dt="2019-08-25T20:26:08.238" v="161" actId="1076"/>
          <ac:picMkLst>
            <pc:docMk/>
            <pc:sldMk cId="376931141" sldId="264"/>
            <ac:picMk id="26" creationId="{EFF51BF7-C2C2-4156-AB4A-7DB5E00D49CC}"/>
          </ac:picMkLst>
        </pc:picChg>
      </pc:sldChg>
      <pc:sldChg chg="del">
        <pc:chgData name="Tamas Ungi" userId="7230d4dec6058018" providerId="LiveId" clId="{2F580C2C-81F9-4776-A361-CC2534B5A5C7}" dt="2019-08-25T20:17:31.425" v="3" actId="2696"/>
        <pc:sldMkLst>
          <pc:docMk/>
          <pc:sldMk cId="595450897" sldId="267"/>
        </pc:sldMkLst>
      </pc:sldChg>
    </pc:docChg>
  </pc:docChgLst>
  <pc:docChgLst>
    <pc:chgData name="Tamas Ungi" userId="7230d4dec6058018" providerId="LiveId" clId="{17D725E4-EEFF-4881-BDE6-8177A472817B}"/>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2820B5-36C0-4794-9E01-220C2D3A21D1}" type="datetimeFigureOut">
              <a:rPr lang="en-US" smtClean="0"/>
              <a:t>8/25/2019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FC5FD-8DBC-4524-99EA-FCD3D8A86D8D}" type="slidenum">
              <a:rPr lang="en-US" smtClean="0"/>
              <a:t>‹#›</a:t>
            </a:fld>
            <a:endParaRPr lang="en-US"/>
          </a:p>
        </p:txBody>
      </p:sp>
    </p:spTree>
    <p:extLst>
      <p:ext uri="{BB962C8B-B14F-4D97-AF65-F5344CB8AC3E}">
        <p14:creationId xmlns:p14="http://schemas.microsoft.com/office/powerpoint/2010/main" val="393913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hasCustomPrompt="1"/>
          </p:nvPr>
        </p:nvSpPr>
        <p:spPr>
          <a:xfrm>
            <a:off x="2349910" y="3831150"/>
            <a:ext cx="5651090" cy="1426649"/>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SlicerIGT</a:t>
            </a:r>
            <a:r>
              <a:rPr lang="en-US" dirty="0"/>
              <a:t> Tutorial Series</a:t>
            </a: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245" b="27021"/>
          <a:stretch/>
        </p:blipFill>
        <p:spPr>
          <a:xfrm>
            <a:off x="1080626" y="3602038"/>
            <a:ext cx="1269284" cy="924063"/>
          </a:xfrm>
          <a:prstGeom prst="rect">
            <a:avLst/>
          </a:prstGeom>
        </p:spPr>
      </p:pic>
      <p:cxnSp>
        <p:nvCxnSpPr>
          <p:cNvPr id="8" name="Straight Connector 7"/>
          <p:cNvCxnSpPr/>
          <p:nvPr userDrawn="1"/>
        </p:nvCxnSpPr>
        <p:spPr>
          <a:xfrm>
            <a:off x="2163096" y="3716594"/>
            <a:ext cx="4090219"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82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7EB4E161-ED1F-470E-9199-7D8E989353A6}" type="slidenum">
              <a:rPr lang="en-US" smtClean="0"/>
              <a:t>‹#›</a:t>
            </a:fld>
            <a:endParaRPr lang="en-US"/>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245" b="27021"/>
          <a:stretch/>
        </p:blipFill>
        <p:spPr>
          <a:xfrm>
            <a:off x="667671" y="6314722"/>
            <a:ext cx="695325" cy="506210"/>
          </a:xfrm>
          <a:prstGeom prst="rect">
            <a:avLst/>
          </a:prstGeom>
        </p:spPr>
      </p:pic>
      <p:cxnSp>
        <p:nvCxnSpPr>
          <p:cNvPr id="8" name="Straight Connector 7"/>
          <p:cNvCxnSpPr/>
          <p:nvPr userDrawn="1"/>
        </p:nvCxnSpPr>
        <p:spPr>
          <a:xfrm>
            <a:off x="1278192" y="6334386"/>
            <a:ext cx="4090219"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userDrawn="1"/>
        </p:nvSpPr>
        <p:spPr>
          <a:xfrm>
            <a:off x="1333500" y="6381750"/>
            <a:ext cx="1880643" cy="307777"/>
          </a:xfrm>
          <a:prstGeom prst="rect">
            <a:avLst/>
          </a:prstGeom>
          <a:noFill/>
        </p:spPr>
        <p:txBody>
          <a:bodyPr wrap="none" rtlCol="0">
            <a:spAutoFit/>
          </a:bodyPr>
          <a:lstStyle/>
          <a:p>
            <a:r>
              <a:rPr lang="en-US" sz="1400" i="1" dirty="0">
                <a:solidFill>
                  <a:srgbClr val="0070C0"/>
                </a:solidFill>
              </a:rPr>
              <a:t>SlicerIGT</a:t>
            </a:r>
            <a:r>
              <a:rPr lang="en-US" sz="1400" i="1" baseline="0" dirty="0">
                <a:solidFill>
                  <a:srgbClr val="0070C0"/>
                </a:solidFill>
              </a:rPr>
              <a:t> Tutorial Series</a:t>
            </a:r>
            <a:endParaRPr lang="en-US" sz="1400" i="1" dirty="0">
              <a:solidFill>
                <a:srgbClr val="0070C0"/>
              </a:solidFill>
            </a:endParaRPr>
          </a:p>
        </p:txBody>
      </p:sp>
    </p:spTree>
    <p:extLst>
      <p:ext uri="{BB962C8B-B14F-4D97-AF65-F5344CB8AC3E}">
        <p14:creationId xmlns:p14="http://schemas.microsoft.com/office/powerpoint/2010/main" val="231674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7EB4E161-ED1F-470E-9199-7D8E989353A6}" type="slidenum">
              <a:rPr lang="en-US" smtClean="0"/>
              <a:t>‹#›</a:t>
            </a:fld>
            <a:endParaRPr lang="en-US"/>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r="-245" b="27021"/>
          <a:stretch/>
        </p:blipFill>
        <p:spPr>
          <a:xfrm>
            <a:off x="667671" y="6314722"/>
            <a:ext cx="695325" cy="506210"/>
          </a:xfrm>
          <a:prstGeom prst="rect">
            <a:avLst/>
          </a:prstGeom>
        </p:spPr>
      </p:pic>
      <p:cxnSp>
        <p:nvCxnSpPr>
          <p:cNvPr id="7" name="Straight Connector 6"/>
          <p:cNvCxnSpPr/>
          <p:nvPr userDrawn="1"/>
        </p:nvCxnSpPr>
        <p:spPr>
          <a:xfrm>
            <a:off x="1278192" y="6334386"/>
            <a:ext cx="4090219"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333500" y="6381750"/>
            <a:ext cx="1880643" cy="307777"/>
          </a:xfrm>
          <a:prstGeom prst="rect">
            <a:avLst/>
          </a:prstGeom>
          <a:noFill/>
        </p:spPr>
        <p:txBody>
          <a:bodyPr wrap="none" rtlCol="0">
            <a:spAutoFit/>
          </a:bodyPr>
          <a:lstStyle/>
          <a:p>
            <a:r>
              <a:rPr lang="en-US" sz="1400" i="1" dirty="0">
                <a:solidFill>
                  <a:srgbClr val="0070C0"/>
                </a:solidFill>
              </a:rPr>
              <a:t>SlicerIGT</a:t>
            </a:r>
            <a:r>
              <a:rPr lang="en-US" sz="1400" i="1" baseline="0" dirty="0">
                <a:solidFill>
                  <a:srgbClr val="0070C0"/>
                </a:solidFill>
              </a:rPr>
              <a:t> Tutorial Series</a:t>
            </a:r>
            <a:endParaRPr lang="en-US" sz="1400" i="1" dirty="0">
              <a:solidFill>
                <a:srgbClr val="0070C0"/>
              </a:solidFill>
            </a:endParaRPr>
          </a:p>
        </p:txBody>
      </p:sp>
    </p:spTree>
    <p:extLst>
      <p:ext uri="{BB962C8B-B14F-4D97-AF65-F5344CB8AC3E}">
        <p14:creationId xmlns:p14="http://schemas.microsoft.com/office/powerpoint/2010/main" val="3567702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B4E161-ED1F-470E-9199-7D8E989353A6}" type="slidenum">
              <a:rPr lang="en-US" smtClean="0"/>
              <a:t>‹#›</a:t>
            </a:fld>
            <a:endParaRPr lang="en-US"/>
          </a:p>
        </p:txBody>
      </p:sp>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r="-245" b="27021"/>
          <a:stretch/>
        </p:blipFill>
        <p:spPr>
          <a:xfrm>
            <a:off x="667671" y="6314722"/>
            <a:ext cx="695325" cy="506210"/>
          </a:xfrm>
          <a:prstGeom prst="rect">
            <a:avLst/>
          </a:prstGeom>
        </p:spPr>
      </p:pic>
      <p:cxnSp>
        <p:nvCxnSpPr>
          <p:cNvPr id="6" name="Straight Connector 5"/>
          <p:cNvCxnSpPr/>
          <p:nvPr userDrawn="1"/>
        </p:nvCxnSpPr>
        <p:spPr>
          <a:xfrm>
            <a:off x="1278192" y="6334386"/>
            <a:ext cx="4090219"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1333500" y="6381750"/>
            <a:ext cx="1880643" cy="307777"/>
          </a:xfrm>
          <a:prstGeom prst="rect">
            <a:avLst/>
          </a:prstGeom>
          <a:noFill/>
        </p:spPr>
        <p:txBody>
          <a:bodyPr wrap="none" rtlCol="0">
            <a:spAutoFit/>
          </a:bodyPr>
          <a:lstStyle/>
          <a:p>
            <a:r>
              <a:rPr lang="en-US" sz="1400" i="1" dirty="0">
                <a:solidFill>
                  <a:srgbClr val="0070C0"/>
                </a:solidFill>
              </a:rPr>
              <a:t>SlicerIGT</a:t>
            </a:r>
            <a:r>
              <a:rPr lang="en-US" sz="1400" i="1" baseline="0" dirty="0">
                <a:solidFill>
                  <a:srgbClr val="0070C0"/>
                </a:solidFill>
              </a:rPr>
              <a:t> Tutorial Series</a:t>
            </a:r>
            <a:endParaRPr lang="en-US" sz="1400" i="1" dirty="0">
              <a:solidFill>
                <a:srgbClr val="0070C0"/>
              </a:solidFill>
            </a:endParaRPr>
          </a:p>
        </p:txBody>
      </p:sp>
    </p:spTree>
    <p:extLst>
      <p:ext uri="{BB962C8B-B14F-4D97-AF65-F5344CB8AC3E}">
        <p14:creationId xmlns:p14="http://schemas.microsoft.com/office/powerpoint/2010/main" val="20056640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63499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181100"/>
            <a:ext cx="7886700" cy="4995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33501" y="6356351"/>
            <a:ext cx="4781550" cy="365125"/>
          </a:xfrm>
          <a:prstGeom prst="rect">
            <a:avLst/>
          </a:prstGeom>
        </p:spPr>
        <p:txBody>
          <a:bodyPr vert="horz" lIns="91440" tIns="45720" rIns="91440" bIns="45720" rtlCol="0" anchor="ctr"/>
          <a:lstStyle>
            <a:lvl1pPr algn="ctr">
              <a:defRPr sz="1400" b="0" i="1">
                <a:solidFill>
                  <a:srgbClr val="0070C0"/>
                </a:solidFill>
              </a:defRPr>
            </a:lvl1pPr>
          </a:lstStyle>
          <a:p>
            <a:pPr algn="l"/>
            <a:r>
              <a:rPr lang="en-CA" dirty="0" err="1"/>
              <a:t>SlicerIGT</a:t>
            </a:r>
            <a:r>
              <a:rPr lang="en-CA" dirty="0"/>
              <a:t> Tutorial Series</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4E161-ED1F-470E-9199-7D8E989353A6}" type="slidenum">
              <a:rPr lang="en-US" smtClean="0"/>
              <a:t>‹#›</a:t>
            </a:fld>
            <a:endParaRPr lang="en-US"/>
          </a:p>
        </p:txBody>
      </p:sp>
    </p:spTree>
    <p:extLst>
      <p:ext uri="{BB962C8B-B14F-4D97-AF65-F5344CB8AC3E}">
        <p14:creationId xmlns:p14="http://schemas.microsoft.com/office/powerpoint/2010/main" val="52958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7" r:id="rId4"/>
  </p:sldLayoutIdLst>
  <p:hf hdr="0" ftr="0" dt="0"/>
  <p:txStyles>
    <p:titleStyle>
      <a:lvl1pPr algn="ctr" defTabSz="914400" rtl="0" eaLnBrk="1" latinLnBrk="0" hangingPunct="1">
        <a:lnSpc>
          <a:spcPct val="90000"/>
        </a:lnSpc>
        <a:spcBef>
          <a:spcPct val="0"/>
        </a:spcBef>
        <a:buNone/>
        <a:defRPr sz="4400" b="1"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slicer.org/" TargetMode="External"/><Relationship Id="rId2" Type="http://schemas.openxmlformats.org/officeDocument/2006/relationships/hyperlink" Target="http://www.plustoolkit.org/"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www.slicerigt.org/wp/user-tutoria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download.slicer.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plustoolkit.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licer.cdash.org/index.php?project=Slicer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Installing software</a:t>
            </a:r>
            <a:endParaRPr lang="en-US" dirty="0"/>
          </a:p>
        </p:txBody>
      </p:sp>
      <p:sp>
        <p:nvSpPr>
          <p:cNvPr id="3" name="Subtitle 2"/>
          <p:cNvSpPr>
            <a:spLocks noGrp="1"/>
          </p:cNvSpPr>
          <p:nvPr>
            <p:ph type="subTitle" idx="1"/>
          </p:nvPr>
        </p:nvSpPr>
        <p:spPr/>
        <p:txBody>
          <a:bodyPr/>
          <a:lstStyle/>
          <a:p>
            <a:r>
              <a:rPr lang="en-US" dirty="0"/>
              <a:t>SlicerIGT Tutorial Series</a:t>
            </a:r>
          </a:p>
        </p:txBody>
      </p:sp>
    </p:spTree>
    <p:extLst>
      <p:ext uri="{BB962C8B-B14F-4D97-AF65-F5344CB8AC3E}">
        <p14:creationId xmlns:p14="http://schemas.microsoft.com/office/powerpoint/2010/main" val="2566131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Two separate applications</a:t>
            </a:r>
            <a:endParaRPr lang="en-US" dirty="0"/>
          </a:p>
        </p:txBody>
      </p:sp>
      <p:sp>
        <p:nvSpPr>
          <p:cNvPr id="3" name="Content Placeholder 2"/>
          <p:cNvSpPr>
            <a:spLocks noGrp="1"/>
          </p:cNvSpPr>
          <p:nvPr>
            <p:ph idx="1"/>
          </p:nvPr>
        </p:nvSpPr>
        <p:spPr/>
        <p:txBody>
          <a:bodyPr/>
          <a:lstStyle/>
          <a:p>
            <a:r>
              <a:rPr lang="en-CA" b="1" dirty="0"/>
              <a:t>PLUS</a:t>
            </a:r>
            <a:r>
              <a:rPr lang="en-CA" dirty="0"/>
              <a:t>: Software that communicates with hardware (scanners, trackers, etc.) and relays data to other applications (e.g. 3D Slicer). PLUS also comes with algorithms and small applications for data processing.</a:t>
            </a:r>
            <a:br>
              <a:rPr lang="en-CA" dirty="0"/>
            </a:br>
            <a:r>
              <a:rPr lang="en-CA" dirty="0"/>
              <a:t>Read more about PLUS: </a:t>
            </a:r>
            <a:r>
              <a:rPr lang="en-CA" dirty="0">
                <a:hlinkClick r:id="rId2"/>
              </a:rPr>
              <a:t>www.plustoolkit.org</a:t>
            </a:r>
            <a:r>
              <a:rPr lang="en-CA" dirty="0"/>
              <a:t> </a:t>
            </a:r>
          </a:p>
          <a:p>
            <a:r>
              <a:rPr lang="en-CA" b="1" dirty="0"/>
              <a:t>3D Slicer (Slicer)</a:t>
            </a:r>
            <a:r>
              <a:rPr lang="en-CA" dirty="0"/>
              <a:t>: Application with many data processing algorithms and visualization features. Has an extension mechanism that allows development of procedure-specific applications.</a:t>
            </a:r>
            <a:br>
              <a:rPr lang="en-CA" dirty="0"/>
            </a:br>
            <a:r>
              <a:rPr lang="en-CA" dirty="0"/>
              <a:t>Read more about Slicer: </a:t>
            </a:r>
            <a:r>
              <a:rPr lang="en-CA" dirty="0">
                <a:hlinkClick r:id="rId3"/>
              </a:rPr>
              <a:t>www.slicer.org</a:t>
            </a:r>
            <a:endParaRPr lang="en-US" dirty="0"/>
          </a:p>
        </p:txBody>
      </p:sp>
      <p:sp>
        <p:nvSpPr>
          <p:cNvPr id="4" name="Slide Number Placeholder 3"/>
          <p:cNvSpPr>
            <a:spLocks noGrp="1"/>
          </p:cNvSpPr>
          <p:nvPr>
            <p:ph type="sldNum" sz="quarter" idx="12"/>
          </p:nvPr>
        </p:nvSpPr>
        <p:spPr/>
        <p:txBody>
          <a:bodyPr/>
          <a:lstStyle/>
          <a:p>
            <a:fld id="{7EB4E161-ED1F-470E-9199-7D8E989353A6}" type="slidenum">
              <a:rPr lang="en-US" smtClean="0"/>
              <a:t>2</a:t>
            </a:fld>
            <a:endParaRPr lang="en-US"/>
          </a:p>
        </p:txBody>
      </p:sp>
      <p:pic>
        <p:nvPicPr>
          <p:cNvPr id="5" name="Picture 4">
            <a:extLst>
              <a:ext uri="{FF2B5EF4-FFF2-40B4-BE49-F238E27FC236}">
                <a16:creationId xmlns:a16="http://schemas.microsoft.com/office/drawing/2014/main" id="{25072B96-18EF-46AA-AF79-A398C43E833F}"/>
              </a:ext>
            </a:extLst>
          </p:cNvPr>
          <p:cNvPicPr>
            <a:picLocks noChangeAspect="1"/>
          </p:cNvPicPr>
          <p:nvPr/>
        </p:nvPicPr>
        <p:blipFill>
          <a:blip r:embed="rId4"/>
          <a:stretch>
            <a:fillRect/>
          </a:stretch>
        </p:blipFill>
        <p:spPr>
          <a:xfrm>
            <a:off x="107504" y="25754"/>
            <a:ext cx="592006" cy="592006"/>
          </a:xfrm>
          <a:prstGeom prst="rect">
            <a:avLst/>
          </a:prstGeom>
        </p:spPr>
      </p:pic>
    </p:spTree>
    <p:extLst>
      <p:ext uri="{BB962C8B-B14F-4D97-AF65-F5344CB8AC3E}">
        <p14:creationId xmlns:p14="http://schemas.microsoft.com/office/powerpoint/2010/main" val="593362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CA" dirty="0"/>
              <a:t>Software needs based on use case</a:t>
            </a:r>
            <a:endParaRPr lang="en-US" dirty="0"/>
          </a:p>
        </p:txBody>
      </p:sp>
      <p:sp>
        <p:nvSpPr>
          <p:cNvPr id="4" name="Slide Number Placeholder 3"/>
          <p:cNvSpPr>
            <a:spLocks noGrp="1"/>
          </p:cNvSpPr>
          <p:nvPr>
            <p:ph type="sldNum" sz="quarter" idx="12"/>
          </p:nvPr>
        </p:nvSpPr>
        <p:spPr/>
        <p:txBody>
          <a:bodyPr/>
          <a:lstStyle/>
          <a:p>
            <a:fld id="{7EB4E161-ED1F-470E-9199-7D8E989353A6}" type="slidenum">
              <a:rPr lang="en-US" smtClean="0"/>
              <a:t>3</a:t>
            </a:fld>
            <a:endParaRPr lang="en-US"/>
          </a:p>
        </p:txBody>
      </p:sp>
      <p:sp>
        <p:nvSpPr>
          <p:cNvPr id="6" name="Rounded Rectangle 5"/>
          <p:cNvSpPr/>
          <p:nvPr/>
        </p:nvSpPr>
        <p:spPr>
          <a:xfrm>
            <a:off x="6127988" y="2290179"/>
            <a:ext cx="2085975" cy="542859"/>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3D Slicer</a:t>
            </a:r>
            <a:endParaRPr lang="en-US" dirty="0"/>
          </a:p>
        </p:txBody>
      </p:sp>
      <p:sp>
        <p:nvSpPr>
          <p:cNvPr id="7" name="Rounded Rectangle 6"/>
          <p:cNvSpPr/>
          <p:nvPr/>
        </p:nvSpPr>
        <p:spPr>
          <a:xfrm>
            <a:off x="3529012" y="2293294"/>
            <a:ext cx="2085975" cy="54285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PLUS</a:t>
            </a:r>
            <a:endParaRPr lang="en-US" dirty="0"/>
          </a:p>
        </p:txBody>
      </p:sp>
      <p:sp>
        <p:nvSpPr>
          <p:cNvPr id="8" name="Rounded Rectangle 7"/>
          <p:cNvSpPr/>
          <p:nvPr/>
        </p:nvSpPr>
        <p:spPr>
          <a:xfrm>
            <a:off x="970201" y="2303201"/>
            <a:ext cx="2085975" cy="542859"/>
          </a:xfrm>
          <a:prstGeom prst="round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Hardware devices</a:t>
            </a:r>
            <a:endParaRPr lang="en-US" dirty="0"/>
          </a:p>
        </p:txBody>
      </p:sp>
      <p:cxnSp>
        <p:nvCxnSpPr>
          <p:cNvPr id="9" name="Straight Connector 8"/>
          <p:cNvCxnSpPr>
            <a:stCxn id="7" idx="3"/>
            <a:endCxn id="6" idx="1"/>
          </p:cNvCxnSpPr>
          <p:nvPr/>
        </p:nvCxnSpPr>
        <p:spPr>
          <a:xfrm flipV="1">
            <a:off x="5614987" y="2561609"/>
            <a:ext cx="513001" cy="3115"/>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8" idx="3"/>
            <a:endCxn id="7" idx="1"/>
          </p:cNvCxnSpPr>
          <p:nvPr/>
        </p:nvCxnSpPr>
        <p:spPr>
          <a:xfrm flipV="1">
            <a:off x="3056176" y="2564724"/>
            <a:ext cx="472836" cy="9907"/>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28650" y="1701074"/>
            <a:ext cx="7886700" cy="523220"/>
          </a:xfrm>
          <a:prstGeom prst="rect">
            <a:avLst/>
          </a:prstGeom>
          <a:noFill/>
        </p:spPr>
        <p:txBody>
          <a:bodyPr wrap="square" rtlCol="0">
            <a:spAutoFit/>
          </a:bodyPr>
          <a:lstStyle/>
          <a:p>
            <a:r>
              <a:rPr lang="en-CA" sz="2800" dirty="0"/>
              <a:t>Real devices (e.g. trackers, ultrasound, etc.)</a:t>
            </a:r>
            <a:endParaRPr lang="en-US" sz="2800" dirty="0"/>
          </a:p>
        </p:txBody>
      </p:sp>
      <p:sp>
        <p:nvSpPr>
          <p:cNvPr id="17" name="TextBox 16"/>
          <p:cNvSpPr txBox="1"/>
          <p:nvPr/>
        </p:nvSpPr>
        <p:spPr>
          <a:xfrm>
            <a:off x="628650" y="3164292"/>
            <a:ext cx="7886700" cy="523220"/>
          </a:xfrm>
          <a:prstGeom prst="rect">
            <a:avLst/>
          </a:prstGeom>
          <a:noFill/>
        </p:spPr>
        <p:txBody>
          <a:bodyPr wrap="square" rtlCol="0">
            <a:spAutoFit/>
          </a:bodyPr>
          <a:lstStyle/>
          <a:p>
            <a:r>
              <a:rPr lang="en-CA" sz="2800" dirty="0"/>
              <a:t>Replay saved data to simulate devices</a:t>
            </a:r>
            <a:endParaRPr lang="en-US" sz="2800" dirty="0"/>
          </a:p>
        </p:txBody>
      </p:sp>
      <p:sp>
        <p:nvSpPr>
          <p:cNvPr id="18" name="Rounded Rectangle 17"/>
          <p:cNvSpPr/>
          <p:nvPr/>
        </p:nvSpPr>
        <p:spPr>
          <a:xfrm>
            <a:off x="6127987" y="3788241"/>
            <a:ext cx="2085975" cy="542859"/>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3D Slicer</a:t>
            </a:r>
            <a:endParaRPr lang="en-US" b="1" dirty="0"/>
          </a:p>
        </p:txBody>
      </p:sp>
      <p:sp>
        <p:nvSpPr>
          <p:cNvPr id="19" name="Rounded Rectangle 18"/>
          <p:cNvSpPr/>
          <p:nvPr/>
        </p:nvSpPr>
        <p:spPr>
          <a:xfrm>
            <a:off x="3527664" y="3788242"/>
            <a:ext cx="2085975" cy="542859"/>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PLUS</a:t>
            </a:r>
            <a:endParaRPr lang="en-US" b="1" dirty="0"/>
          </a:p>
        </p:txBody>
      </p:sp>
      <p:sp>
        <p:nvSpPr>
          <p:cNvPr id="20" name="Rounded Rectangle 19"/>
          <p:cNvSpPr/>
          <p:nvPr/>
        </p:nvSpPr>
        <p:spPr>
          <a:xfrm>
            <a:off x="970200" y="3764775"/>
            <a:ext cx="2085975" cy="54285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Saved data file</a:t>
            </a:r>
            <a:endParaRPr lang="en-US" b="1" dirty="0"/>
          </a:p>
        </p:txBody>
      </p:sp>
      <p:cxnSp>
        <p:nvCxnSpPr>
          <p:cNvPr id="21" name="Straight Connector 20"/>
          <p:cNvCxnSpPr>
            <a:stCxn id="19" idx="1"/>
            <a:endCxn id="20" idx="3"/>
          </p:cNvCxnSpPr>
          <p:nvPr/>
        </p:nvCxnSpPr>
        <p:spPr>
          <a:xfrm flipH="1" flipV="1">
            <a:off x="3056175" y="4036205"/>
            <a:ext cx="471489" cy="23467"/>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8" idx="1"/>
            <a:endCxn id="19" idx="3"/>
          </p:cNvCxnSpPr>
          <p:nvPr/>
        </p:nvCxnSpPr>
        <p:spPr>
          <a:xfrm flipH="1">
            <a:off x="5613639" y="4059671"/>
            <a:ext cx="514348" cy="1"/>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28650" y="4634517"/>
            <a:ext cx="7790574" cy="523220"/>
          </a:xfrm>
          <a:prstGeom prst="rect">
            <a:avLst/>
          </a:prstGeom>
          <a:noFill/>
        </p:spPr>
        <p:txBody>
          <a:bodyPr wrap="square" rtlCol="0">
            <a:spAutoFit/>
          </a:bodyPr>
          <a:lstStyle/>
          <a:p>
            <a:r>
              <a:rPr lang="en-CA" sz="2800" dirty="0"/>
              <a:t>Load saved data directly into Slicer (no PLUS)</a:t>
            </a:r>
            <a:endParaRPr lang="en-US" sz="2800" dirty="0">
              <a:solidFill>
                <a:srgbClr val="C00000"/>
              </a:solidFill>
            </a:endParaRPr>
          </a:p>
        </p:txBody>
      </p:sp>
      <p:sp>
        <p:nvSpPr>
          <p:cNvPr id="24" name="Rounded Rectangle 23"/>
          <p:cNvSpPr/>
          <p:nvPr/>
        </p:nvSpPr>
        <p:spPr>
          <a:xfrm>
            <a:off x="6127987" y="5231846"/>
            <a:ext cx="2085975" cy="542859"/>
          </a:xfrm>
          <a:prstGeom prst="round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3D Slicer</a:t>
            </a:r>
            <a:endParaRPr lang="en-US" b="1" dirty="0"/>
          </a:p>
        </p:txBody>
      </p:sp>
      <p:sp>
        <p:nvSpPr>
          <p:cNvPr id="26" name="Rounded Rectangle 25"/>
          <p:cNvSpPr/>
          <p:nvPr/>
        </p:nvSpPr>
        <p:spPr>
          <a:xfrm>
            <a:off x="970199" y="5231845"/>
            <a:ext cx="2085975" cy="54285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t>Saved data file</a:t>
            </a:r>
            <a:endParaRPr lang="en-US" b="1" dirty="0"/>
          </a:p>
        </p:txBody>
      </p:sp>
      <p:cxnSp>
        <p:nvCxnSpPr>
          <p:cNvPr id="28" name="Straight Connector 27"/>
          <p:cNvCxnSpPr>
            <a:stCxn id="24" idx="1"/>
            <a:endCxn id="26" idx="3"/>
          </p:cNvCxnSpPr>
          <p:nvPr/>
        </p:nvCxnSpPr>
        <p:spPr>
          <a:xfrm flipH="1" flipV="1">
            <a:off x="3056174" y="5503275"/>
            <a:ext cx="3071813" cy="1"/>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C281CB6-E268-4974-AB6D-BC1B2A8DC318}"/>
              </a:ext>
            </a:extLst>
          </p:cNvPr>
          <p:cNvSpPr txBox="1"/>
          <p:nvPr/>
        </p:nvSpPr>
        <p:spPr>
          <a:xfrm>
            <a:off x="3650818" y="1109735"/>
            <a:ext cx="1842364" cy="523220"/>
          </a:xfrm>
          <a:prstGeom prst="rect">
            <a:avLst/>
          </a:prstGeom>
          <a:noFill/>
        </p:spPr>
        <p:txBody>
          <a:bodyPr wrap="none" rtlCol="0">
            <a:spAutoFit/>
          </a:bodyPr>
          <a:lstStyle/>
          <a:p>
            <a:pPr algn="ctr"/>
            <a:r>
              <a:rPr lang="en-CA" sz="2800" b="1" spc="400" dirty="0">
                <a:solidFill>
                  <a:schemeClr val="bg1">
                    <a:lumMod val="50000"/>
                  </a:schemeClr>
                </a:solidFill>
              </a:rPr>
              <a:t>optional</a:t>
            </a:r>
          </a:p>
        </p:txBody>
      </p:sp>
      <p:sp>
        <p:nvSpPr>
          <p:cNvPr id="25" name="TextBox 24">
            <a:extLst>
              <a:ext uri="{FF2B5EF4-FFF2-40B4-BE49-F238E27FC236}">
                <a16:creationId xmlns:a16="http://schemas.microsoft.com/office/drawing/2014/main" id="{BE6BBA87-4F39-4BB2-A9F5-1D30A9972C11}"/>
              </a:ext>
            </a:extLst>
          </p:cNvPr>
          <p:cNvSpPr txBox="1"/>
          <p:nvPr/>
        </p:nvSpPr>
        <p:spPr>
          <a:xfrm>
            <a:off x="6235493" y="1113050"/>
            <a:ext cx="1870961" cy="523220"/>
          </a:xfrm>
          <a:prstGeom prst="rect">
            <a:avLst/>
          </a:prstGeom>
          <a:noFill/>
        </p:spPr>
        <p:txBody>
          <a:bodyPr wrap="none" rtlCol="0">
            <a:spAutoFit/>
          </a:bodyPr>
          <a:lstStyle/>
          <a:p>
            <a:pPr algn="ctr"/>
            <a:r>
              <a:rPr lang="en-CA" sz="2800" b="1" spc="400" dirty="0">
                <a:solidFill>
                  <a:schemeClr val="bg1">
                    <a:lumMod val="50000"/>
                  </a:schemeClr>
                </a:solidFill>
              </a:rPr>
              <a:t>required</a:t>
            </a:r>
          </a:p>
        </p:txBody>
      </p:sp>
      <p:pic>
        <p:nvPicPr>
          <p:cNvPr id="27" name="Picture 26">
            <a:extLst>
              <a:ext uri="{FF2B5EF4-FFF2-40B4-BE49-F238E27FC236}">
                <a16:creationId xmlns:a16="http://schemas.microsoft.com/office/drawing/2014/main" id="{8920D657-738A-4B3C-87E0-28C0F89F2274}"/>
              </a:ext>
            </a:extLst>
          </p:cNvPr>
          <p:cNvPicPr>
            <a:picLocks noChangeAspect="1"/>
          </p:cNvPicPr>
          <p:nvPr/>
        </p:nvPicPr>
        <p:blipFill>
          <a:blip r:embed="rId2"/>
          <a:stretch>
            <a:fillRect/>
          </a:stretch>
        </p:blipFill>
        <p:spPr>
          <a:xfrm>
            <a:off x="107504" y="25754"/>
            <a:ext cx="592006" cy="592006"/>
          </a:xfrm>
          <a:prstGeom prst="rect">
            <a:avLst/>
          </a:prstGeom>
        </p:spPr>
      </p:pic>
    </p:spTree>
    <p:extLst>
      <p:ext uri="{BB962C8B-B14F-4D97-AF65-F5344CB8AC3E}">
        <p14:creationId xmlns:p14="http://schemas.microsoft.com/office/powerpoint/2010/main" val="313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Prerequisites</a:t>
            </a:r>
            <a:endParaRPr lang="en-US" dirty="0"/>
          </a:p>
        </p:txBody>
      </p:sp>
      <p:sp>
        <p:nvSpPr>
          <p:cNvPr id="3" name="Content Placeholder 2"/>
          <p:cNvSpPr>
            <a:spLocks noGrp="1"/>
          </p:cNvSpPr>
          <p:nvPr>
            <p:ph idx="1"/>
          </p:nvPr>
        </p:nvSpPr>
        <p:spPr>
          <a:xfrm>
            <a:off x="628650" y="1367481"/>
            <a:ext cx="7886700" cy="2314834"/>
          </a:xfrm>
        </p:spPr>
        <p:txBody>
          <a:bodyPr>
            <a:normAutofit/>
          </a:bodyPr>
          <a:lstStyle/>
          <a:p>
            <a:r>
              <a:rPr lang="en-CA" dirty="0"/>
              <a:t>Download the SlicerIGT-Data folder from the </a:t>
            </a:r>
            <a:r>
              <a:rPr lang="en-CA" dirty="0" err="1"/>
              <a:t>SlicerIGT</a:t>
            </a:r>
            <a:r>
              <a:rPr lang="en-CA" b="1" dirty="0"/>
              <a:t> </a:t>
            </a:r>
            <a:r>
              <a:rPr lang="en-CA" dirty="0"/>
              <a:t>tutorial website:</a:t>
            </a:r>
          </a:p>
          <a:p>
            <a:pPr marL="0" indent="0">
              <a:buNone/>
            </a:pPr>
            <a:r>
              <a:rPr lang="en-CA" dirty="0">
                <a:hlinkClick r:id="rId2"/>
              </a:rPr>
              <a:t>http://www.slicerigt.org/wp/user-tutorial/</a:t>
            </a:r>
            <a:endParaRPr lang="en-CA" dirty="0"/>
          </a:p>
          <a:p>
            <a:r>
              <a:rPr lang="en-CA" dirty="0"/>
              <a:t>Unzip </a:t>
            </a:r>
            <a:r>
              <a:rPr lang="en-CA" dirty="0" err="1"/>
              <a:t>SlicerIGT</a:t>
            </a:r>
            <a:r>
              <a:rPr lang="en-CA" dirty="0"/>
              <a:t>-Data in your home folder.</a:t>
            </a:r>
          </a:p>
          <a:p>
            <a:endParaRPr lang="en-CA" dirty="0"/>
          </a:p>
        </p:txBody>
      </p:sp>
      <p:sp>
        <p:nvSpPr>
          <p:cNvPr id="4" name="Slide Number Placeholder 3"/>
          <p:cNvSpPr>
            <a:spLocks noGrp="1"/>
          </p:cNvSpPr>
          <p:nvPr>
            <p:ph type="sldNum" sz="quarter" idx="12"/>
          </p:nvPr>
        </p:nvSpPr>
        <p:spPr/>
        <p:txBody>
          <a:bodyPr/>
          <a:lstStyle/>
          <a:p>
            <a:fld id="{7EB4E161-ED1F-470E-9199-7D8E989353A6}" type="slidenum">
              <a:rPr lang="en-US" smtClean="0"/>
              <a:t>4</a:t>
            </a:fld>
            <a:endParaRPr lang="en-US"/>
          </a:p>
        </p:txBody>
      </p:sp>
      <p:sp>
        <p:nvSpPr>
          <p:cNvPr id="5" name="TextBox 4">
            <a:extLst>
              <a:ext uri="{FF2B5EF4-FFF2-40B4-BE49-F238E27FC236}">
                <a16:creationId xmlns:a16="http://schemas.microsoft.com/office/drawing/2014/main" id="{0EF8FCEE-9101-40D5-AD94-845307F375CA}"/>
              </a:ext>
            </a:extLst>
          </p:cNvPr>
          <p:cNvSpPr txBox="1"/>
          <p:nvPr/>
        </p:nvSpPr>
        <p:spPr>
          <a:xfrm>
            <a:off x="628650" y="4407498"/>
            <a:ext cx="7886700" cy="1015663"/>
          </a:xfrm>
          <a:prstGeom prst="rect">
            <a:avLst/>
          </a:prstGeom>
          <a:noFill/>
          <a:ln w="25400">
            <a:solidFill>
              <a:srgbClr val="FFC000"/>
            </a:solidFill>
          </a:ln>
        </p:spPr>
        <p:txBody>
          <a:bodyPr wrap="square" rtlCol="0">
            <a:spAutoFit/>
          </a:bodyPr>
          <a:lstStyle/>
          <a:p>
            <a:r>
              <a:rPr lang="en-CA" sz="2000" b="1" dirty="0"/>
              <a:t>Note:</a:t>
            </a:r>
            <a:r>
              <a:rPr lang="en-CA" sz="2000" dirty="0"/>
              <a:t> This tutorial was tested only on Windows. It is possible to follow all steps on Linux and Mac operating systems but specific screenshots are not added, so you may need to figure out the differences yourself.</a:t>
            </a:r>
            <a:endParaRPr lang="en-US" sz="2000" dirty="0"/>
          </a:p>
        </p:txBody>
      </p:sp>
    </p:spTree>
    <p:extLst>
      <p:ext uri="{BB962C8B-B14F-4D97-AF65-F5344CB8AC3E}">
        <p14:creationId xmlns:p14="http://schemas.microsoft.com/office/powerpoint/2010/main" val="1106794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Install the 3D Slicer application</a:t>
            </a:r>
            <a:endParaRPr lang="en-US" dirty="0"/>
          </a:p>
        </p:txBody>
      </p:sp>
      <p:sp>
        <p:nvSpPr>
          <p:cNvPr id="3" name="Content Placeholder 2"/>
          <p:cNvSpPr>
            <a:spLocks noGrp="1"/>
          </p:cNvSpPr>
          <p:nvPr>
            <p:ph idx="1"/>
          </p:nvPr>
        </p:nvSpPr>
        <p:spPr/>
        <p:txBody>
          <a:bodyPr/>
          <a:lstStyle/>
          <a:p>
            <a:r>
              <a:rPr lang="en-CA" dirty="0"/>
              <a:t>Visit: </a:t>
            </a:r>
            <a:r>
              <a:rPr lang="en-CA" dirty="0">
                <a:hlinkClick r:id="rId2"/>
              </a:rPr>
              <a:t>http://download.slicer.org/</a:t>
            </a:r>
            <a:endParaRPr lang="en-CA" dirty="0"/>
          </a:p>
          <a:p>
            <a:r>
              <a:rPr lang="en-CA" dirty="0"/>
              <a:t>Download 3D Slicer version 4.11 or later.</a:t>
            </a:r>
          </a:p>
          <a:p>
            <a:pPr lvl="1"/>
            <a:r>
              <a:rPr lang="en-CA" dirty="0"/>
              <a:t>Note: Some functions used in this tutorial are not available in earlier versions.</a:t>
            </a:r>
          </a:p>
          <a:p>
            <a:pPr lvl="1"/>
            <a:r>
              <a:rPr lang="en-CA" dirty="0"/>
              <a:t>Run the installer and accept all default options when asked by the installer.</a:t>
            </a:r>
            <a:endParaRPr lang="en-US" dirty="0"/>
          </a:p>
        </p:txBody>
      </p:sp>
      <p:sp>
        <p:nvSpPr>
          <p:cNvPr id="4" name="Slide Number Placeholder 3"/>
          <p:cNvSpPr>
            <a:spLocks noGrp="1"/>
          </p:cNvSpPr>
          <p:nvPr>
            <p:ph type="sldNum" sz="quarter" idx="12"/>
          </p:nvPr>
        </p:nvSpPr>
        <p:spPr/>
        <p:txBody>
          <a:bodyPr/>
          <a:lstStyle/>
          <a:p>
            <a:fld id="{7EB4E161-ED1F-470E-9199-7D8E989353A6}" type="slidenum">
              <a:rPr lang="en-US" smtClean="0"/>
              <a:t>5</a:t>
            </a:fld>
            <a:endParaRPr lang="en-US"/>
          </a:p>
        </p:txBody>
      </p:sp>
    </p:spTree>
    <p:extLst>
      <p:ext uri="{BB962C8B-B14F-4D97-AF65-F5344CB8AC3E}">
        <p14:creationId xmlns:p14="http://schemas.microsoft.com/office/powerpoint/2010/main" val="364640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err="1"/>
              <a:t>Intall</a:t>
            </a:r>
            <a:r>
              <a:rPr lang="en-CA" dirty="0"/>
              <a:t> PLUS (optional)</a:t>
            </a:r>
            <a:endParaRPr lang="en-US" dirty="0"/>
          </a:p>
        </p:txBody>
      </p:sp>
      <p:sp>
        <p:nvSpPr>
          <p:cNvPr id="2" name="Content Placeholder 1"/>
          <p:cNvSpPr>
            <a:spLocks noGrp="1"/>
          </p:cNvSpPr>
          <p:nvPr>
            <p:ph idx="1"/>
          </p:nvPr>
        </p:nvSpPr>
        <p:spPr/>
        <p:txBody>
          <a:bodyPr/>
          <a:lstStyle/>
          <a:p>
            <a:r>
              <a:rPr lang="en-CA" dirty="0"/>
              <a:t>Visit: </a:t>
            </a:r>
            <a:r>
              <a:rPr lang="en-CA" dirty="0">
                <a:hlinkClick r:id="rId2"/>
              </a:rPr>
              <a:t>http://plustoolkit.org/</a:t>
            </a:r>
            <a:r>
              <a:rPr lang="en-CA" dirty="0"/>
              <a:t> and click </a:t>
            </a:r>
            <a:r>
              <a:rPr lang="en-CA" b="1" dirty="0">
                <a:solidFill>
                  <a:schemeClr val="accent5"/>
                </a:solidFill>
              </a:rPr>
              <a:t>Downloads</a:t>
            </a:r>
          </a:p>
          <a:p>
            <a:r>
              <a:rPr lang="en-CA" dirty="0"/>
              <a:t>Download the latest stable release of PLUS:</a:t>
            </a:r>
          </a:p>
          <a:p>
            <a:pPr lvl="1"/>
            <a:r>
              <a:rPr lang="en-US" b="1" dirty="0"/>
              <a:t>PlusApp_2.6...-Win32.exe</a:t>
            </a:r>
            <a:r>
              <a:rPr lang="en-US" dirty="0"/>
              <a:t> – Typical for most users</a:t>
            </a:r>
          </a:p>
          <a:p>
            <a:pPr lvl="1"/>
            <a:r>
              <a:rPr lang="en-US" b="1" dirty="0"/>
              <a:t>PlusApp_2.6...-Win64.exe</a:t>
            </a:r>
            <a:r>
              <a:rPr lang="en-US" dirty="0"/>
              <a:t> – 64-bit version. Can process large data. (E.g. for reconstruction of large ultrasound volumes.) But cannot connect to some 32-bit-only hardware devices.</a:t>
            </a:r>
          </a:p>
          <a:p>
            <a:pPr lvl="1"/>
            <a:r>
              <a:rPr lang="en-US" b="1" dirty="0"/>
              <a:t>PlusApp_2.6... -</a:t>
            </a:r>
            <a:r>
              <a:rPr lang="en-US" b="1" dirty="0" err="1"/>
              <a:t>Telemed</a:t>
            </a:r>
            <a:r>
              <a:rPr lang="en-US" b="1" dirty="0"/>
              <a:t>...exe</a:t>
            </a:r>
            <a:r>
              <a:rPr lang="en-US" dirty="0"/>
              <a:t> – Supports specific hardware, e.g. </a:t>
            </a:r>
            <a:r>
              <a:rPr lang="en-US" dirty="0" err="1"/>
              <a:t>Telemed</a:t>
            </a:r>
            <a:r>
              <a:rPr lang="en-US" dirty="0"/>
              <a:t> ultrasound and </a:t>
            </a:r>
            <a:r>
              <a:rPr lang="en-US" dirty="0" err="1"/>
              <a:t>MicronTracker</a:t>
            </a:r>
            <a:r>
              <a:rPr lang="en-US" dirty="0"/>
              <a:t>.</a:t>
            </a:r>
          </a:p>
          <a:p>
            <a:r>
              <a:rPr lang="en-CA" dirty="0"/>
              <a:t>Install PLUS using the downloaded installer, accept all default options.</a:t>
            </a:r>
          </a:p>
        </p:txBody>
      </p:sp>
      <p:sp>
        <p:nvSpPr>
          <p:cNvPr id="3" name="Slide Number Placeholder 2"/>
          <p:cNvSpPr>
            <a:spLocks noGrp="1"/>
          </p:cNvSpPr>
          <p:nvPr>
            <p:ph type="sldNum" sz="quarter" idx="12"/>
          </p:nvPr>
        </p:nvSpPr>
        <p:spPr/>
        <p:txBody>
          <a:bodyPr/>
          <a:lstStyle/>
          <a:p>
            <a:fld id="{7EB4E161-ED1F-470E-9199-7D8E989353A6}" type="slidenum">
              <a:rPr lang="en-US" smtClean="0"/>
              <a:t>6</a:t>
            </a:fld>
            <a:endParaRPr lang="en-US"/>
          </a:p>
        </p:txBody>
      </p:sp>
    </p:spTree>
    <p:extLst>
      <p:ext uri="{BB962C8B-B14F-4D97-AF65-F5344CB8AC3E}">
        <p14:creationId xmlns:p14="http://schemas.microsoft.com/office/powerpoint/2010/main" val="3108540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EFF51BF7-C2C2-4156-AB4A-7DB5E00D49CC}"/>
              </a:ext>
            </a:extLst>
          </p:cNvPr>
          <p:cNvPicPr>
            <a:picLocks noChangeAspect="1"/>
          </p:cNvPicPr>
          <p:nvPr/>
        </p:nvPicPr>
        <p:blipFill>
          <a:blip r:embed="rId2"/>
          <a:stretch>
            <a:fillRect/>
          </a:stretch>
        </p:blipFill>
        <p:spPr>
          <a:xfrm>
            <a:off x="6489826" y="3418522"/>
            <a:ext cx="1022594" cy="1431631"/>
          </a:xfrm>
          <a:prstGeom prst="rect">
            <a:avLst/>
          </a:prstGeom>
        </p:spPr>
      </p:pic>
      <p:pic>
        <p:nvPicPr>
          <p:cNvPr id="15" name="Picture 14">
            <a:extLst>
              <a:ext uri="{FF2B5EF4-FFF2-40B4-BE49-F238E27FC236}">
                <a16:creationId xmlns:a16="http://schemas.microsoft.com/office/drawing/2014/main" id="{FAD2DF87-08D0-41C7-8658-2052F1794BF9}"/>
              </a:ext>
            </a:extLst>
          </p:cNvPr>
          <p:cNvPicPr>
            <a:picLocks noChangeAspect="1"/>
          </p:cNvPicPr>
          <p:nvPr/>
        </p:nvPicPr>
        <p:blipFill>
          <a:blip r:embed="rId3"/>
          <a:stretch>
            <a:fillRect/>
          </a:stretch>
        </p:blipFill>
        <p:spPr>
          <a:xfrm>
            <a:off x="7664560" y="3427778"/>
            <a:ext cx="1038633" cy="1458507"/>
          </a:xfrm>
          <a:prstGeom prst="rect">
            <a:avLst/>
          </a:prstGeom>
        </p:spPr>
      </p:pic>
      <p:pic>
        <p:nvPicPr>
          <p:cNvPr id="23" name="Picture 22">
            <a:extLst>
              <a:ext uri="{FF2B5EF4-FFF2-40B4-BE49-F238E27FC236}">
                <a16:creationId xmlns:a16="http://schemas.microsoft.com/office/drawing/2014/main" id="{484A3C37-8260-4E6F-BBB8-612AC5C27C7A}"/>
              </a:ext>
            </a:extLst>
          </p:cNvPr>
          <p:cNvPicPr>
            <a:picLocks noChangeAspect="1"/>
          </p:cNvPicPr>
          <p:nvPr/>
        </p:nvPicPr>
        <p:blipFill rotWithShape="1">
          <a:blip r:embed="rId4"/>
          <a:srcRect t="86025"/>
          <a:stretch/>
        </p:blipFill>
        <p:spPr>
          <a:xfrm>
            <a:off x="7628634" y="4905257"/>
            <a:ext cx="1158340" cy="258783"/>
          </a:xfrm>
          <a:prstGeom prst="rect">
            <a:avLst/>
          </a:prstGeom>
        </p:spPr>
      </p:pic>
      <p:sp>
        <p:nvSpPr>
          <p:cNvPr id="2" name="Title 1"/>
          <p:cNvSpPr>
            <a:spLocks noGrp="1"/>
          </p:cNvSpPr>
          <p:nvPr>
            <p:ph type="title"/>
          </p:nvPr>
        </p:nvSpPr>
        <p:spPr/>
        <p:txBody>
          <a:bodyPr>
            <a:normAutofit fontScale="90000"/>
          </a:bodyPr>
          <a:lstStyle/>
          <a:p>
            <a:r>
              <a:rPr lang="en-US"/>
              <a:t>Install Slicer extensions</a:t>
            </a:r>
            <a:endParaRPr lang="en-US" dirty="0"/>
          </a:p>
        </p:txBody>
      </p:sp>
      <p:sp>
        <p:nvSpPr>
          <p:cNvPr id="3" name="Slide Number Placeholder 2"/>
          <p:cNvSpPr>
            <a:spLocks noGrp="1"/>
          </p:cNvSpPr>
          <p:nvPr>
            <p:ph type="sldNum" sz="quarter" idx="12"/>
          </p:nvPr>
        </p:nvSpPr>
        <p:spPr/>
        <p:txBody>
          <a:bodyPr/>
          <a:lstStyle/>
          <a:p>
            <a:fld id="{7EB4E161-ED1F-470E-9199-7D8E989353A6}" type="slidenum">
              <a:rPr lang="en-US" smtClean="0"/>
              <a:t>7</a:t>
            </a:fld>
            <a:endParaRPr lang="en-US"/>
          </a:p>
        </p:txBody>
      </p:sp>
      <p:pic>
        <p:nvPicPr>
          <p:cNvPr id="4" name="Picture 3"/>
          <p:cNvPicPr>
            <a:picLocks noChangeAspect="1"/>
          </p:cNvPicPr>
          <p:nvPr/>
        </p:nvPicPr>
        <p:blipFill>
          <a:blip r:embed="rId5"/>
          <a:stretch>
            <a:fillRect/>
          </a:stretch>
        </p:blipFill>
        <p:spPr>
          <a:xfrm>
            <a:off x="4927149" y="1375646"/>
            <a:ext cx="3802710" cy="1630821"/>
          </a:xfrm>
          <a:prstGeom prst="rect">
            <a:avLst/>
          </a:prstGeom>
        </p:spPr>
      </p:pic>
      <p:sp>
        <p:nvSpPr>
          <p:cNvPr id="5" name="Content Placeholder 2"/>
          <p:cNvSpPr txBox="1">
            <a:spLocks/>
          </p:cNvSpPr>
          <p:nvPr/>
        </p:nvSpPr>
        <p:spPr>
          <a:xfrm>
            <a:off x="628650" y="1375646"/>
            <a:ext cx="3943350" cy="42023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CA" dirty="0"/>
              <a:t>Open the Slicer Extension Manager</a:t>
            </a:r>
          </a:p>
          <a:p>
            <a:pPr marL="514350" indent="-514350">
              <a:buFont typeface="+mj-lt"/>
              <a:buAutoNum type="arabicPeriod"/>
            </a:pPr>
            <a:r>
              <a:rPr lang="en-CA" dirty="0"/>
              <a:t>Click Install for the following extensions :</a:t>
            </a:r>
          </a:p>
          <a:p>
            <a:pPr lvl="1"/>
            <a:r>
              <a:rPr lang="en-CA" dirty="0" err="1"/>
              <a:t>SlicerOpenIGTLink</a:t>
            </a:r>
            <a:endParaRPr lang="en-CA" dirty="0"/>
          </a:p>
          <a:p>
            <a:pPr lvl="1"/>
            <a:r>
              <a:rPr lang="en-CA" dirty="0" err="1"/>
              <a:t>SlicerIGT</a:t>
            </a:r>
            <a:endParaRPr lang="en-CA" dirty="0"/>
          </a:p>
          <a:p>
            <a:pPr lvl="1"/>
            <a:r>
              <a:rPr lang="en-CA" dirty="0" err="1"/>
              <a:t>SlicerIGSIO</a:t>
            </a:r>
            <a:endParaRPr lang="en-CA" dirty="0"/>
          </a:p>
          <a:p>
            <a:pPr lvl="1"/>
            <a:r>
              <a:rPr lang="en-CA" dirty="0" err="1"/>
              <a:t>SlicerJupyter</a:t>
            </a:r>
            <a:endParaRPr lang="en-CA" dirty="0"/>
          </a:p>
          <a:p>
            <a:pPr marL="514350" indent="-514350">
              <a:buFont typeface="+mj-lt"/>
              <a:buAutoNum type="arabicPeriod"/>
            </a:pPr>
            <a:r>
              <a:rPr lang="en-CA" dirty="0"/>
              <a:t>Restart Slicer</a:t>
            </a:r>
          </a:p>
        </p:txBody>
      </p:sp>
      <p:sp>
        <p:nvSpPr>
          <p:cNvPr id="7" name="Rectangle 6"/>
          <p:cNvSpPr/>
          <p:nvPr/>
        </p:nvSpPr>
        <p:spPr>
          <a:xfrm>
            <a:off x="7814250" y="1541206"/>
            <a:ext cx="385854"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814250" y="1178616"/>
            <a:ext cx="383438" cy="400110"/>
          </a:xfrm>
          <a:prstGeom prst="rect">
            <a:avLst/>
          </a:prstGeom>
          <a:noFill/>
        </p:spPr>
        <p:txBody>
          <a:bodyPr wrap="none" rtlCol="0">
            <a:spAutoFit/>
          </a:bodyPr>
          <a:lstStyle/>
          <a:p>
            <a:r>
              <a:rPr lang="en-US" sz="2000" b="1" dirty="0">
                <a:solidFill>
                  <a:srgbClr val="FF0000"/>
                </a:solidFill>
              </a:rPr>
              <a:t>1.</a:t>
            </a:r>
          </a:p>
        </p:txBody>
      </p:sp>
      <p:pic>
        <p:nvPicPr>
          <p:cNvPr id="9" name="Picture 8"/>
          <p:cNvPicPr>
            <a:picLocks noChangeAspect="1"/>
          </p:cNvPicPr>
          <p:nvPr/>
        </p:nvPicPr>
        <p:blipFill>
          <a:blip r:embed="rId6"/>
          <a:stretch>
            <a:fillRect/>
          </a:stretch>
        </p:blipFill>
        <p:spPr>
          <a:xfrm>
            <a:off x="5082662" y="3344348"/>
            <a:ext cx="1219306" cy="1836579"/>
          </a:xfrm>
          <a:prstGeom prst="rect">
            <a:avLst/>
          </a:prstGeom>
        </p:spPr>
      </p:pic>
      <p:pic>
        <p:nvPicPr>
          <p:cNvPr id="10" name="Picture 9"/>
          <p:cNvPicPr>
            <a:picLocks noChangeAspect="1"/>
          </p:cNvPicPr>
          <p:nvPr/>
        </p:nvPicPr>
        <p:blipFill rotWithShape="1">
          <a:blip r:embed="rId4"/>
          <a:srcRect t="86025"/>
          <a:stretch/>
        </p:blipFill>
        <p:spPr>
          <a:xfrm>
            <a:off x="6391904" y="4907395"/>
            <a:ext cx="1158340" cy="258783"/>
          </a:xfrm>
          <a:prstGeom prst="rect">
            <a:avLst/>
          </a:prstGeom>
        </p:spPr>
      </p:pic>
      <p:sp>
        <p:nvSpPr>
          <p:cNvPr id="11" name="Rectangle 10"/>
          <p:cNvSpPr/>
          <p:nvPr/>
        </p:nvSpPr>
        <p:spPr>
          <a:xfrm>
            <a:off x="5050750" y="4833887"/>
            <a:ext cx="1229829"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405859" y="4811820"/>
            <a:ext cx="383438" cy="400110"/>
          </a:xfrm>
          <a:prstGeom prst="rect">
            <a:avLst/>
          </a:prstGeom>
          <a:noFill/>
        </p:spPr>
        <p:txBody>
          <a:bodyPr wrap="none" rtlCol="0">
            <a:spAutoFit/>
          </a:bodyPr>
          <a:lstStyle/>
          <a:p>
            <a:r>
              <a:rPr lang="en-US" sz="2000" b="1" dirty="0">
                <a:solidFill>
                  <a:srgbClr val="FF0000"/>
                </a:solidFill>
              </a:rPr>
              <a:t>2.</a:t>
            </a:r>
          </a:p>
        </p:txBody>
      </p:sp>
      <p:sp>
        <p:nvSpPr>
          <p:cNvPr id="13" name="Rectangle 12"/>
          <p:cNvSpPr/>
          <p:nvPr/>
        </p:nvSpPr>
        <p:spPr>
          <a:xfrm>
            <a:off x="6372045" y="4833887"/>
            <a:ext cx="1178199"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628634" y="4837009"/>
            <a:ext cx="1178199"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p:cNvPicPr>
            <a:picLocks noChangeAspect="1"/>
          </p:cNvPicPr>
          <p:nvPr/>
        </p:nvPicPr>
        <p:blipFill>
          <a:blip r:embed="rId7"/>
          <a:stretch>
            <a:fillRect/>
          </a:stretch>
        </p:blipFill>
        <p:spPr>
          <a:xfrm>
            <a:off x="5638487" y="5577956"/>
            <a:ext cx="3065552" cy="667980"/>
          </a:xfrm>
          <a:prstGeom prst="rect">
            <a:avLst/>
          </a:prstGeom>
        </p:spPr>
      </p:pic>
      <p:sp>
        <p:nvSpPr>
          <p:cNvPr id="21" name="Rectangle 20"/>
          <p:cNvSpPr/>
          <p:nvPr/>
        </p:nvSpPr>
        <p:spPr>
          <a:xfrm>
            <a:off x="6748080" y="5849316"/>
            <a:ext cx="1229829"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289991" y="5858383"/>
            <a:ext cx="383438" cy="400110"/>
          </a:xfrm>
          <a:prstGeom prst="rect">
            <a:avLst/>
          </a:prstGeom>
          <a:noFill/>
        </p:spPr>
        <p:txBody>
          <a:bodyPr wrap="none" rtlCol="0">
            <a:spAutoFit/>
          </a:bodyPr>
          <a:lstStyle/>
          <a:p>
            <a:r>
              <a:rPr lang="en-US" sz="2000" b="1" dirty="0">
                <a:solidFill>
                  <a:srgbClr val="FF0000"/>
                </a:solidFill>
              </a:rPr>
              <a:t>3.</a:t>
            </a:r>
          </a:p>
        </p:txBody>
      </p:sp>
      <p:pic>
        <p:nvPicPr>
          <p:cNvPr id="17" name="Picture 16">
            <a:extLst>
              <a:ext uri="{FF2B5EF4-FFF2-40B4-BE49-F238E27FC236}">
                <a16:creationId xmlns:a16="http://schemas.microsoft.com/office/drawing/2014/main" id="{C69D3CB6-B8B6-4AF0-8F17-846E77648E92}"/>
              </a:ext>
            </a:extLst>
          </p:cNvPr>
          <p:cNvPicPr>
            <a:picLocks noChangeAspect="1"/>
          </p:cNvPicPr>
          <p:nvPr/>
        </p:nvPicPr>
        <p:blipFill>
          <a:blip r:embed="rId8"/>
          <a:stretch>
            <a:fillRect/>
          </a:stretch>
        </p:blipFill>
        <p:spPr>
          <a:xfrm>
            <a:off x="3884349" y="3403164"/>
            <a:ext cx="1042800" cy="1465753"/>
          </a:xfrm>
          <a:prstGeom prst="rect">
            <a:avLst/>
          </a:prstGeom>
        </p:spPr>
      </p:pic>
      <p:pic>
        <p:nvPicPr>
          <p:cNvPr id="24" name="Picture 23">
            <a:extLst>
              <a:ext uri="{FF2B5EF4-FFF2-40B4-BE49-F238E27FC236}">
                <a16:creationId xmlns:a16="http://schemas.microsoft.com/office/drawing/2014/main" id="{03E7CA19-3105-4C82-8648-C0CCC698841E}"/>
              </a:ext>
            </a:extLst>
          </p:cNvPr>
          <p:cNvPicPr>
            <a:picLocks noChangeAspect="1"/>
          </p:cNvPicPr>
          <p:nvPr/>
        </p:nvPicPr>
        <p:blipFill rotWithShape="1">
          <a:blip r:embed="rId4"/>
          <a:srcRect t="86025"/>
          <a:stretch/>
        </p:blipFill>
        <p:spPr>
          <a:xfrm>
            <a:off x="3781303" y="4911500"/>
            <a:ext cx="1158340" cy="258783"/>
          </a:xfrm>
          <a:prstGeom prst="rect">
            <a:avLst/>
          </a:prstGeom>
        </p:spPr>
      </p:pic>
      <p:sp>
        <p:nvSpPr>
          <p:cNvPr id="25" name="Rectangle 24">
            <a:extLst>
              <a:ext uri="{FF2B5EF4-FFF2-40B4-BE49-F238E27FC236}">
                <a16:creationId xmlns:a16="http://schemas.microsoft.com/office/drawing/2014/main" id="{76297968-42F5-40F5-B586-0CC17CEE729A}"/>
              </a:ext>
            </a:extLst>
          </p:cNvPr>
          <p:cNvSpPr/>
          <p:nvPr/>
        </p:nvSpPr>
        <p:spPr>
          <a:xfrm>
            <a:off x="3781303" y="4843252"/>
            <a:ext cx="1178199"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8B1F1B3-4C8A-4F14-95AA-3F7E1ECBF07C}"/>
              </a:ext>
            </a:extLst>
          </p:cNvPr>
          <p:cNvSpPr txBox="1"/>
          <p:nvPr/>
        </p:nvSpPr>
        <p:spPr>
          <a:xfrm>
            <a:off x="537216" y="5385678"/>
            <a:ext cx="4924248" cy="707886"/>
          </a:xfrm>
          <a:prstGeom prst="rect">
            <a:avLst/>
          </a:prstGeom>
          <a:noFill/>
          <a:ln w="25400">
            <a:solidFill>
              <a:srgbClr val="FFC000"/>
            </a:solidFill>
          </a:ln>
        </p:spPr>
        <p:txBody>
          <a:bodyPr wrap="square" rtlCol="0">
            <a:spAutoFit/>
          </a:bodyPr>
          <a:lstStyle/>
          <a:p>
            <a:r>
              <a:rPr lang="en-CA" sz="2000" b="1" dirty="0"/>
              <a:t>Note:</a:t>
            </a:r>
            <a:r>
              <a:rPr lang="en-CA" sz="2000" dirty="0"/>
              <a:t> During </a:t>
            </a:r>
            <a:r>
              <a:rPr lang="en-CA" sz="2000" i="1" dirty="0" err="1"/>
              <a:t>SlicerIGSIO</a:t>
            </a:r>
            <a:r>
              <a:rPr lang="en-CA" sz="2000" dirty="0"/>
              <a:t> installation, you will also need to agree to install </a:t>
            </a:r>
            <a:r>
              <a:rPr lang="en-CA" sz="2000" b="1" i="1" dirty="0"/>
              <a:t>Sequences</a:t>
            </a:r>
            <a:endParaRPr lang="en-US" sz="2000" b="1" i="1" dirty="0"/>
          </a:p>
        </p:txBody>
      </p:sp>
    </p:spTree>
    <p:extLst>
      <p:ext uri="{BB962C8B-B14F-4D97-AF65-F5344CB8AC3E}">
        <p14:creationId xmlns:p14="http://schemas.microsoft.com/office/powerpoint/2010/main" val="376931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Check successful installation</a:t>
            </a:r>
          </a:p>
        </p:txBody>
      </p:sp>
      <p:sp>
        <p:nvSpPr>
          <p:cNvPr id="3" name="Slide Number Placeholder 2"/>
          <p:cNvSpPr>
            <a:spLocks noGrp="1"/>
          </p:cNvSpPr>
          <p:nvPr>
            <p:ph type="sldNum" sz="quarter" idx="12"/>
          </p:nvPr>
        </p:nvSpPr>
        <p:spPr/>
        <p:txBody>
          <a:bodyPr/>
          <a:lstStyle/>
          <a:p>
            <a:fld id="{7EB4E161-ED1F-470E-9199-7D8E989353A6}" type="slidenum">
              <a:rPr lang="en-US" smtClean="0"/>
              <a:t>8</a:t>
            </a:fld>
            <a:endParaRPr lang="en-US"/>
          </a:p>
        </p:txBody>
      </p:sp>
      <p:sp>
        <p:nvSpPr>
          <p:cNvPr id="4" name="Content Placeholder 2"/>
          <p:cNvSpPr txBox="1">
            <a:spLocks/>
          </p:cNvSpPr>
          <p:nvPr/>
        </p:nvSpPr>
        <p:spPr>
          <a:xfrm>
            <a:off x="628650" y="1375646"/>
            <a:ext cx="3943350" cy="466910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If extensions were installed successfully, you should see new modules in the Module browser, under the IGT category, a new “Sequences” category.</a:t>
            </a:r>
          </a:p>
        </p:txBody>
      </p:sp>
      <p:pic>
        <p:nvPicPr>
          <p:cNvPr id="5" name="Picture 4"/>
          <p:cNvPicPr>
            <a:picLocks noChangeAspect="1"/>
          </p:cNvPicPr>
          <p:nvPr/>
        </p:nvPicPr>
        <p:blipFill>
          <a:blip r:embed="rId2"/>
          <a:stretch>
            <a:fillRect/>
          </a:stretch>
        </p:blipFill>
        <p:spPr>
          <a:xfrm>
            <a:off x="5334160" y="2570523"/>
            <a:ext cx="2907729" cy="1284609"/>
          </a:xfrm>
          <a:prstGeom prst="rect">
            <a:avLst/>
          </a:prstGeom>
        </p:spPr>
      </p:pic>
      <p:pic>
        <p:nvPicPr>
          <p:cNvPr id="7" name="Picture 6"/>
          <p:cNvPicPr>
            <a:picLocks noChangeAspect="1"/>
          </p:cNvPicPr>
          <p:nvPr/>
        </p:nvPicPr>
        <p:blipFill>
          <a:blip r:embed="rId3"/>
          <a:stretch>
            <a:fillRect/>
          </a:stretch>
        </p:blipFill>
        <p:spPr>
          <a:xfrm>
            <a:off x="5169846" y="4340696"/>
            <a:ext cx="3128515" cy="740268"/>
          </a:xfrm>
          <a:prstGeom prst="rect">
            <a:avLst/>
          </a:prstGeom>
        </p:spPr>
      </p:pic>
      <p:pic>
        <p:nvPicPr>
          <p:cNvPr id="8" name="Picture 7"/>
          <p:cNvPicPr>
            <a:picLocks noChangeAspect="1"/>
          </p:cNvPicPr>
          <p:nvPr/>
        </p:nvPicPr>
        <p:blipFill>
          <a:blip r:embed="rId4"/>
          <a:stretch>
            <a:fillRect/>
          </a:stretch>
        </p:blipFill>
        <p:spPr>
          <a:xfrm>
            <a:off x="5334161" y="1506358"/>
            <a:ext cx="3181189" cy="557932"/>
          </a:xfrm>
          <a:prstGeom prst="rect">
            <a:avLst/>
          </a:prstGeom>
        </p:spPr>
      </p:pic>
      <p:sp>
        <p:nvSpPr>
          <p:cNvPr id="9" name="Rectangle 8"/>
          <p:cNvSpPr/>
          <p:nvPr/>
        </p:nvSpPr>
        <p:spPr>
          <a:xfrm>
            <a:off x="6240679" y="1593854"/>
            <a:ext cx="2172163" cy="3696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814250" y="1178616"/>
            <a:ext cx="383438" cy="400110"/>
          </a:xfrm>
          <a:prstGeom prst="rect">
            <a:avLst/>
          </a:prstGeom>
          <a:noFill/>
        </p:spPr>
        <p:txBody>
          <a:bodyPr wrap="none" rtlCol="0">
            <a:spAutoFit/>
          </a:bodyPr>
          <a:lstStyle/>
          <a:p>
            <a:r>
              <a:rPr lang="en-US" sz="2000" b="1" dirty="0">
                <a:solidFill>
                  <a:srgbClr val="FF0000"/>
                </a:solidFill>
              </a:rPr>
              <a:t>1.</a:t>
            </a:r>
          </a:p>
        </p:txBody>
      </p:sp>
    </p:spTree>
    <p:extLst>
      <p:ext uri="{BB962C8B-B14F-4D97-AF65-F5344CB8AC3E}">
        <p14:creationId xmlns:p14="http://schemas.microsoft.com/office/powerpoint/2010/main" val="3266987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How to access earlier Slicer builds</a:t>
            </a:r>
          </a:p>
        </p:txBody>
      </p:sp>
      <p:sp>
        <p:nvSpPr>
          <p:cNvPr id="3" name="Content Placeholder 2"/>
          <p:cNvSpPr>
            <a:spLocks noGrp="1"/>
          </p:cNvSpPr>
          <p:nvPr>
            <p:ph idx="1"/>
          </p:nvPr>
        </p:nvSpPr>
        <p:spPr/>
        <p:txBody>
          <a:bodyPr/>
          <a:lstStyle/>
          <a:p>
            <a:r>
              <a:rPr lang="en-CA" dirty="0"/>
              <a:t>Slicer is a continuously evolving software. For some tasks, you may need a build from a specific date.</a:t>
            </a:r>
          </a:p>
          <a:p>
            <a:r>
              <a:rPr lang="en-CA" dirty="0"/>
              <a:t>Earlier Slicer builds are accessible from the Slicer </a:t>
            </a:r>
            <a:r>
              <a:rPr lang="en-CA" dirty="0" err="1"/>
              <a:t>Cdash</a:t>
            </a:r>
            <a:r>
              <a:rPr lang="en-CA" dirty="0"/>
              <a:t>: </a:t>
            </a:r>
            <a:r>
              <a:rPr lang="en-CA" dirty="0">
                <a:hlinkClick r:id="rId2"/>
              </a:rPr>
              <a:t>http://slicer.cdash.org/index.php?project=Slicer4</a:t>
            </a:r>
            <a:endParaRPr lang="en-CA" dirty="0"/>
          </a:p>
          <a:p>
            <a:r>
              <a:rPr lang="en-CA" dirty="0"/>
              <a:t>Click on Calendar menu to select a specific date</a:t>
            </a:r>
          </a:p>
          <a:p>
            <a:r>
              <a:rPr lang="en-CA" dirty="0"/>
              <a:t>Click on yellow package to download the installer</a:t>
            </a:r>
          </a:p>
        </p:txBody>
      </p:sp>
      <p:sp>
        <p:nvSpPr>
          <p:cNvPr id="4" name="Slide Number Placeholder 3"/>
          <p:cNvSpPr>
            <a:spLocks noGrp="1"/>
          </p:cNvSpPr>
          <p:nvPr>
            <p:ph type="sldNum" sz="quarter" idx="12"/>
          </p:nvPr>
        </p:nvSpPr>
        <p:spPr/>
        <p:txBody>
          <a:bodyPr/>
          <a:lstStyle/>
          <a:p>
            <a:fld id="{7EB4E161-ED1F-470E-9199-7D8E989353A6}" type="slidenum">
              <a:rPr lang="en-US" smtClean="0"/>
              <a:t>9</a:t>
            </a:fld>
            <a:endParaRPr lang="en-US"/>
          </a:p>
        </p:txBody>
      </p:sp>
      <p:pic>
        <p:nvPicPr>
          <p:cNvPr id="8" name="Picture 7"/>
          <p:cNvPicPr>
            <a:picLocks noChangeAspect="1"/>
          </p:cNvPicPr>
          <p:nvPr/>
        </p:nvPicPr>
        <p:blipFill>
          <a:blip r:embed="rId3"/>
          <a:stretch>
            <a:fillRect/>
          </a:stretch>
        </p:blipFill>
        <p:spPr>
          <a:xfrm>
            <a:off x="1527204" y="4553762"/>
            <a:ext cx="6988146" cy="1623201"/>
          </a:xfrm>
          <a:prstGeom prst="rect">
            <a:avLst/>
          </a:prstGeom>
        </p:spPr>
      </p:pic>
      <p:sp>
        <p:nvSpPr>
          <p:cNvPr id="9" name="Right Arrow 10"/>
          <p:cNvSpPr/>
          <p:nvPr/>
        </p:nvSpPr>
        <p:spPr>
          <a:xfrm rot="10800000" flipH="1">
            <a:off x="1673158" y="5365362"/>
            <a:ext cx="456328" cy="2385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10"/>
          <p:cNvSpPr/>
          <p:nvPr/>
        </p:nvSpPr>
        <p:spPr>
          <a:xfrm rot="10800000" flipH="1">
            <a:off x="1673157" y="5938423"/>
            <a:ext cx="456328" cy="2385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8978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5AEEC3C-57F5-458C-A259-BEA2AFF0D77B}" vid="{F032F1CB-9777-488E-B287-8CA49E564C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SlicerIGT-TutorialTemplate</Template>
  <TotalTime>1666</TotalTime>
  <Words>483</Words>
  <Application>Microsoft Office PowerPoint</Application>
  <PresentationFormat>On-screen Show (4:3)</PresentationFormat>
  <Paragraphs>64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Installing software</vt:lpstr>
      <vt:lpstr>Two separate applications</vt:lpstr>
      <vt:lpstr>Software needs based on use case</vt:lpstr>
      <vt:lpstr>Prerequisites</vt:lpstr>
      <vt:lpstr>Install the 3D Slicer application</vt:lpstr>
      <vt:lpstr>Intall PLUS (optional)</vt:lpstr>
      <vt:lpstr>Install Slicer extensions</vt:lpstr>
      <vt:lpstr>Check successful installation</vt:lpstr>
      <vt:lpstr>How to access earlier Slicer builds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Tamas Ungi</dc:creator>
  <cp:lastModifiedBy>Tamas Ungi</cp:lastModifiedBy>
  <cp:revision>32</cp:revision>
  <dcterms:created xsi:type="dcterms:W3CDTF">2014-04-04T16:52:35Z</dcterms:created>
  <dcterms:modified xsi:type="dcterms:W3CDTF">2019-08-25T20:27:43Z</dcterms:modified>
</cp:coreProperties>
</file>