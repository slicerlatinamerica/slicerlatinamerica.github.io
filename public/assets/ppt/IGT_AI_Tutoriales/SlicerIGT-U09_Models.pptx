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77" autoAdjust="0"/>
    <p:restoredTop sz="94660"/>
  </p:normalViewPr>
  <p:slideViewPr>
    <p:cSldViewPr snapToGrid="0">
      <p:cViewPr varScale="1">
        <p:scale>
          <a:sx n="85" d="100"/>
          <a:sy n="85" d="100"/>
        </p:scale>
        <p:origin x="9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820B5-36C0-4794-9E01-220C2D3A21D1}" type="datetimeFigureOut">
              <a:rPr lang="en-US" smtClean="0"/>
              <a:t>12/30/2016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EFC5FD-8DBC-4524-99EA-FCD3D8A86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132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349910" y="3831150"/>
            <a:ext cx="5651090" cy="1426649"/>
          </a:xfrm>
        </p:spPr>
        <p:txBody>
          <a:bodyPr/>
          <a:lstStyle>
            <a:lvl1pPr marL="0" indent="0" algn="l">
              <a:buNone/>
              <a:defRPr sz="24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err="1"/>
              <a:t>SlicerIGT</a:t>
            </a:r>
            <a:r>
              <a:rPr lang="en-US" dirty="0"/>
              <a:t> Tutorial Series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1080626" y="3602038"/>
            <a:ext cx="1269284" cy="924063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2163096" y="3716594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820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67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7" name="Straight Connector 6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7702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6" name="Straight Connector 5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664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349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181100"/>
            <a:ext cx="7886700" cy="4995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33501" y="6356351"/>
            <a:ext cx="47815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 i="1">
                <a:solidFill>
                  <a:srgbClr val="0070C0"/>
                </a:solidFill>
              </a:defRPr>
            </a:lvl1pPr>
          </a:lstStyle>
          <a:p>
            <a:pPr algn="l"/>
            <a:r>
              <a:rPr lang="en-CA" dirty="0" err="1"/>
              <a:t>SlicerIGT</a:t>
            </a:r>
            <a:r>
              <a:rPr lang="en-CA" dirty="0"/>
              <a:t> Tutorial Series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8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7" r:id="rId4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70C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www.slicer.org/wiki/Modules:Models-Documentation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Tool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SlicerIGT </a:t>
            </a:r>
            <a:r>
              <a:rPr lang="en-US"/>
              <a:t>Tutorial Series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13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Create simple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0"/>
            <a:ext cx="4901817" cy="4995863"/>
          </a:xfrm>
        </p:spPr>
        <p:txBody>
          <a:bodyPr/>
          <a:lstStyle/>
          <a:p>
            <a:r>
              <a:rPr lang="en-US" dirty="0"/>
              <a:t>Select </a:t>
            </a:r>
            <a:r>
              <a:rPr lang="en-US" b="1" dirty="0"/>
              <a:t>IGT / </a:t>
            </a:r>
            <a:r>
              <a:rPr lang="en-US" b="1" dirty="0" err="1"/>
              <a:t>CreateModels</a:t>
            </a:r>
            <a:r>
              <a:rPr lang="en-US" dirty="0"/>
              <a:t> module</a:t>
            </a:r>
          </a:p>
          <a:p>
            <a:r>
              <a:rPr lang="en-US" dirty="0"/>
              <a:t>Use the module widget on the left to create simple models with size parameters</a:t>
            </a:r>
          </a:p>
          <a:p>
            <a:r>
              <a:rPr lang="en-US" dirty="0"/>
              <a:t>In the coordinate system model, X is marked with an arrow tip, Y and Z are defined if right-handedness is assumed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2333" y="1006810"/>
            <a:ext cx="3533333" cy="17809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10" y="3437261"/>
            <a:ext cx="2103011" cy="20506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7950" y="5310130"/>
            <a:ext cx="3818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0070C0"/>
                </a:solidFill>
              </a:rPr>
              <a:t>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3314" y="4318177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0070C0"/>
                </a:solidFill>
              </a:rPr>
              <a:t>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0462" y="3394619"/>
            <a:ext cx="3561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0070C0"/>
                </a:solidFill>
              </a:rPr>
              <a:t>Z</a:t>
            </a:r>
          </a:p>
        </p:txBody>
      </p:sp>
    </p:spTree>
    <p:extLst>
      <p:ext uri="{BB962C8B-B14F-4D97-AF65-F5344CB8AC3E}">
        <p14:creationId xmlns:p14="http://schemas.microsoft.com/office/powerpoint/2010/main" val="199115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Needle / stylus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0"/>
            <a:ext cx="4717745" cy="4995863"/>
          </a:xfrm>
        </p:spPr>
        <p:txBody>
          <a:bodyPr/>
          <a:lstStyle/>
          <a:p>
            <a:r>
              <a:rPr lang="en-CA" dirty="0"/>
              <a:t>Optional depth markers can be created for the needle model. Marks are 10 mm apart as in most medical needles.</a:t>
            </a:r>
          </a:p>
          <a:p>
            <a:r>
              <a:rPr lang="en-CA" dirty="0"/>
              <a:t>Needle models and stylus models conventionally point towards the Z axis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395" y="1181100"/>
            <a:ext cx="3695238" cy="1152381"/>
          </a:xfrm>
          <a:prstGeom prst="rect">
            <a:avLst/>
          </a:prstGeom>
        </p:spPr>
      </p:pic>
      <p:pic>
        <p:nvPicPr>
          <p:cNvPr id="1026" name="Picture 2" descr="C:\Users\ungi\AppData\Local\Temp\SNAGHTMLb587c85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9116" y="3254018"/>
            <a:ext cx="2789258" cy="1768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6110640" y="3732002"/>
            <a:ext cx="3818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0070C0"/>
                </a:solidFill>
              </a:rPr>
              <a:t>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041" y="4794524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0070C0"/>
                </a:solidFill>
              </a:rPr>
              <a:t>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0543" y="5195670"/>
            <a:ext cx="3561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0070C0"/>
                </a:solidFill>
              </a:rPr>
              <a:t>Z</a:t>
            </a:r>
          </a:p>
        </p:txBody>
      </p:sp>
      <p:cxnSp>
        <p:nvCxnSpPr>
          <p:cNvPr id="10" name="Straight Arrow Connector 9"/>
          <p:cNvCxnSpPr>
            <a:cxnSpLocks/>
          </p:cNvCxnSpPr>
          <p:nvPr/>
        </p:nvCxnSpPr>
        <p:spPr>
          <a:xfrm flipH="1">
            <a:off x="5655733" y="4836405"/>
            <a:ext cx="446030" cy="367773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cxnSpLocks/>
          </p:cNvCxnSpPr>
          <p:nvPr/>
        </p:nvCxnSpPr>
        <p:spPr>
          <a:xfrm flipH="1" flipV="1">
            <a:off x="6087944" y="4047067"/>
            <a:ext cx="22696" cy="78933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cxnSpLocks/>
          </p:cNvCxnSpPr>
          <p:nvPr/>
        </p:nvCxnSpPr>
        <p:spPr>
          <a:xfrm>
            <a:off x="6128859" y="4827662"/>
            <a:ext cx="557494" cy="91439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0427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Load models from PLUS catalog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Select IGT / Plus model catalog browser module</a:t>
            </a:r>
          </a:p>
          <a:p>
            <a:r>
              <a:rPr lang="en-CA" dirty="0"/>
              <a:t>Click Show/hide catalog to open the PLUS model catalog website</a:t>
            </a:r>
          </a:p>
          <a:p>
            <a:r>
              <a:rPr lang="en-CA" dirty="0"/>
              <a:t>Click on .</a:t>
            </a:r>
            <a:r>
              <a:rPr lang="en-CA" dirty="0" err="1"/>
              <a:t>stl</a:t>
            </a:r>
            <a:r>
              <a:rPr lang="en-CA" dirty="0"/>
              <a:t> files to download a model</a:t>
            </a:r>
          </a:p>
          <a:p>
            <a:r>
              <a:rPr lang="en-CA" dirty="0"/>
              <a:t>Additional files are also available, e.g. a CT volume of the spine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4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4302880"/>
            <a:ext cx="3123809" cy="7809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1211" y="4196503"/>
            <a:ext cx="4404139" cy="1980460"/>
          </a:xfrm>
          <a:prstGeom prst="rect">
            <a:avLst/>
          </a:prstGeom>
        </p:spPr>
      </p:pic>
      <p:sp>
        <p:nvSpPr>
          <p:cNvPr id="7" name="Arrow: Down 6"/>
          <p:cNvSpPr/>
          <p:nvPr/>
        </p:nvSpPr>
        <p:spPr>
          <a:xfrm>
            <a:off x="2280356" y="4018844"/>
            <a:ext cx="237066" cy="383823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Down 7"/>
          <p:cNvSpPr/>
          <p:nvPr/>
        </p:nvSpPr>
        <p:spPr>
          <a:xfrm>
            <a:off x="2643506" y="4196503"/>
            <a:ext cx="237066" cy="383823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35787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Create models in CAD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FreeCAD</a:t>
            </a:r>
            <a:r>
              <a:rPr lang="en-CA" dirty="0"/>
              <a:t>, SolidWorks, Blender, etc.</a:t>
            </a:r>
          </a:p>
          <a:p>
            <a:r>
              <a:rPr lang="en-CA" dirty="0"/>
              <a:t>Save in STL format, units should be millimeters</a:t>
            </a:r>
          </a:p>
          <a:p>
            <a:r>
              <a:rPr lang="en-CA" dirty="0"/>
              <a:t>When exporting model in STL, choose and document an intuitive coordinate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984" y="3295221"/>
            <a:ext cx="5078032" cy="2756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65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Models by image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Load </a:t>
            </a:r>
            <a:r>
              <a:rPr lang="en-CA" b="1" dirty="0"/>
              <a:t>SkullPhantom1mm.nrrd </a:t>
            </a:r>
            <a:r>
              <a:rPr lang="en-CA" dirty="0"/>
              <a:t>from the tutorial data folder</a:t>
            </a:r>
          </a:p>
          <a:p>
            <a:r>
              <a:rPr lang="en-CA" dirty="0"/>
              <a:t>Select Segment Editor module</a:t>
            </a:r>
          </a:p>
          <a:p>
            <a:r>
              <a:rPr lang="en-CA" dirty="0"/>
              <a:t>Click Add segment</a:t>
            </a:r>
          </a:p>
          <a:p>
            <a:r>
              <a:rPr lang="en-CA" dirty="0"/>
              <a:t>Use the segmentation tools ("</a:t>
            </a:r>
            <a:r>
              <a:rPr lang="en-CA" b="1" i="1" dirty="0"/>
              <a:t>Effects</a:t>
            </a:r>
            <a:r>
              <a:rPr lang="en-CA" dirty="0"/>
              <a:t>") to segment</a:t>
            </a:r>
          </a:p>
          <a:p>
            <a:r>
              <a:rPr lang="en-CA" dirty="0"/>
              <a:t>Hint: Such objects CT scanned in air can be </a:t>
            </a:r>
            <a:r>
              <a:rPr lang="en-CA" dirty="0" err="1"/>
              <a:t>quicly</a:t>
            </a:r>
            <a:r>
              <a:rPr lang="en-CA" dirty="0"/>
              <a:t> segmented using threshold followed by scissors</a:t>
            </a:r>
          </a:p>
          <a:p>
            <a:r>
              <a:rPr lang="en-CA" dirty="0"/>
              <a:t>Select </a:t>
            </a:r>
            <a:r>
              <a:rPr lang="en-CA" b="1" dirty="0"/>
              <a:t>Segmentations</a:t>
            </a:r>
            <a:r>
              <a:rPr lang="en-CA" dirty="0"/>
              <a:t> module</a:t>
            </a:r>
          </a:p>
          <a:p>
            <a:r>
              <a:rPr lang="en-CA" dirty="0"/>
              <a:t>Export a new model under the </a:t>
            </a:r>
            <a:r>
              <a:rPr lang="en-CA" b="1" dirty="0"/>
              <a:t>Export/import segments </a:t>
            </a:r>
            <a:r>
              <a:rPr lang="en-CA" dirty="0"/>
              <a:t>panel</a:t>
            </a:r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974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91" y="3286291"/>
            <a:ext cx="4085714" cy="26761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Skull model from segmentation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7</a:t>
            </a:fld>
            <a:endParaRPr lang="en-US"/>
          </a:p>
        </p:txBody>
      </p:sp>
      <p:sp>
        <p:nvSpPr>
          <p:cNvPr id="6" name="Arrow: Down 5"/>
          <p:cNvSpPr/>
          <p:nvPr/>
        </p:nvSpPr>
        <p:spPr>
          <a:xfrm>
            <a:off x="2600775" y="3071802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Down 6"/>
          <p:cNvSpPr/>
          <p:nvPr/>
        </p:nvSpPr>
        <p:spPr>
          <a:xfrm>
            <a:off x="890509" y="4802447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91" y="1408074"/>
            <a:ext cx="4247619" cy="1485714"/>
          </a:xfrm>
          <a:prstGeom prst="rect">
            <a:avLst/>
          </a:prstGeom>
        </p:spPr>
      </p:pic>
      <p:sp>
        <p:nvSpPr>
          <p:cNvPr id="9" name="Arrow: Down 8"/>
          <p:cNvSpPr/>
          <p:nvPr/>
        </p:nvSpPr>
        <p:spPr>
          <a:xfrm>
            <a:off x="3543397" y="1586088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Arrow: Down 9"/>
          <p:cNvSpPr/>
          <p:nvPr/>
        </p:nvSpPr>
        <p:spPr>
          <a:xfrm>
            <a:off x="376864" y="1646414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row: Down 11"/>
          <p:cNvSpPr/>
          <p:nvPr/>
        </p:nvSpPr>
        <p:spPr>
          <a:xfrm>
            <a:off x="1934731" y="5338669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251" y="1281157"/>
            <a:ext cx="4114286" cy="1904762"/>
          </a:xfrm>
          <a:prstGeom prst="rect">
            <a:avLst/>
          </a:prstGeom>
        </p:spPr>
      </p:pic>
      <p:sp>
        <p:nvSpPr>
          <p:cNvPr id="14" name="Arrow: Down 13"/>
          <p:cNvSpPr/>
          <p:nvPr/>
        </p:nvSpPr>
        <p:spPr>
          <a:xfrm>
            <a:off x="8154908" y="1066668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/>
          <p:cNvSpPr/>
          <p:nvPr/>
        </p:nvSpPr>
        <p:spPr>
          <a:xfrm>
            <a:off x="6339416" y="2636827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252" y="3400408"/>
            <a:ext cx="2088806" cy="1938261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4810" y="4083487"/>
            <a:ext cx="1960540" cy="21527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4554" y="1354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3397" y="1312415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0775" y="2762692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890" y="45406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02421" y="50467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8876" y="233756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54041" y="77130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6</a:t>
            </a:r>
          </a:p>
        </p:txBody>
      </p:sp>
      <p:sp>
        <p:nvSpPr>
          <p:cNvPr id="26" name="Arrow: Down 25"/>
          <p:cNvSpPr/>
          <p:nvPr/>
        </p:nvSpPr>
        <p:spPr>
          <a:xfrm rot="2622519">
            <a:off x="5951015" y="3389357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TextBox 24"/>
          <p:cNvSpPr txBox="1"/>
          <p:nvPr/>
        </p:nvSpPr>
        <p:spPr>
          <a:xfrm>
            <a:off x="6105821" y="3334860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75319" y="5771576"/>
            <a:ext cx="796244" cy="58477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sz="3200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3441692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Models and Slicer model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Models are thin/hollow surfaces, most common objects in computer graphics</a:t>
            </a:r>
          </a:p>
          <a:p>
            <a:r>
              <a:rPr lang="en-CA" dirty="0"/>
              <a:t>Slicer wraps a </a:t>
            </a:r>
            <a:r>
              <a:rPr lang="en-CA" b="1" dirty="0" err="1"/>
              <a:t>vtkMRMLModelNode</a:t>
            </a:r>
            <a:r>
              <a:rPr lang="en-CA" dirty="0"/>
              <a:t> object around models, and keeps visualization properties in </a:t>
            </a:r>
            <a:r>
              <a:rPr lang="en-CA" b="1" dirty="0" err="1"/>
              <a:t>vtkMRMLModelDisplayNode</a:t>
            </a:r>
            <a:endParaRPr lang="en-CA" dirty="0"/>
          </a:p>
          <a:p>
            <a:r>
              <a:rPr lang="en-CA" dirty="0">
                <a:hlinkClick r:id="rId2"/>
              </a:rPr>
              <a:t>https://www.slicer.org/wiki/Modules:Models-Documentation</a:t>
            </a:r>
            <a:endParaRPr lang="en-CA" dirty="0"/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t="1828"/>
          <a:stretch/>
        </p:blipFill>
        <p:spPr>
          <a:xfrm>
            <a:off x="1154708" y="4346411"/>
            <a:ext cx="1704943" cy="158539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/>
          <a:srcRect t="1828"/>
          <a:stretch/>
        </p:blipFill>
        <p:spPr>
          <a:xfrm>
            <a:off x="3608561" y="4346411"/>
            <a:ext cx="1704943" cy="158539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5"/>
          <a:srcRect t="1828"/>
          <a:stretch/>
        </p:blipFill>
        <p:spPr>
          <a:xfrm>
            <a:off x="6062414" y="4346409"/>
            <a:ext cx="1704943" cy="1585399"/>
          </a:xfrm>
          <a:prstGeom prst="rect">
            <a:avLst/>
          </a:prstGeom>
        </p:spPr>
      </p:pic>
      <p:sp>
        <p:nvSpPr>
          <p:cNvPr id="8" name="TextBox 6"/>
          <p:cNvSpPr txBox="1"/>
          <p:nvPr/>
        </p:nvSpPr>
        <p:spPr>
          <a:xfrm>
            <a:off x="1538530" y="5931810"/>
            <a:ext cx="9560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dirty="0"/>
              <a:t>surfaces</a:t>
            </a:r>
          </a:p>
        </p:txBody>
      </p:sp>
      <p:sp>
        <p:nvSpPr>
          <p:cNvPr id="9" name="TextBox 7"/>
          <p:cNvSpPr txBox="1"/>
          <p:nvPr/>
        </p:nvSpPr>
        <p:spPr>
          <a:xfrm>
            <a:off x="4161661" y="5931810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dirty="0"/>
              <a:t>lines</a:t>
            </a:r>
          </a:p>
        </p:txBody>
      </p:sp>
      <p:sp>
        <p:nvSpPr>
          <p:cNvPr id="10" name="TextBox 8"/>
          <p:cNvSpPr txBox="1"/>
          <p:nvPr/>
        </p:nvSpPr>
        <p:spPr>
          <a:xfrm>
            <a:off x="6540430" y="5931810"/>
            <a:ext cx="767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dirty="0"/>
              <a:t>points</a:t>
            </a:r>
          </a:p>
        </p:txBody>
      </p:sp>
    </p:spTree>
    <p:extLst>
      <p:ext uri="{BB962C8B-B14F-4D97-AF65-F5344CB8AC3E}">
        <p14:creationId xmlns:p14="http://schemas.microsoft.com/office/powerpoint/2010/main" val="23734960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B5AEEC3C-57F5-458C-A259-BEA2AFF0D77B}" vid="{F032F1CB-9777-488E-B287-8CA49E564C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SlicerIGT-TutorialTemplate</Template>
  <TotalTime>635</TotalTime>
  <Words>308</Words>
  <Application>Microsoft Office PowerPoint</Application>
  <PresentationFormat>On-screen Show (4:3)</PresentationFormat>
  <Paragraphs>56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Tool models</vt:lpstr>
      <vt:lpstr>Create simple models</vt:lpstr>
      <vt:lpstr>Needle / stylus models</vt:lpstr>
      <vt:lpstr>Load models from PLUS catalog</vt:lpstr>
      <vt:lpstr>Create models in CAD software</vt:lpstr>
      <vt:lpstr>Models by image segmentation</vt:lpstr>
      <vt:lpstr>Skull model from segmentation</vt:lpstr>
      <vt:lpstr>Models and Slicer model nodes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Tamas Ungi</dc:creator>
  <cp:lastModifiedBy>Tamas Ungi</cp:lastModifiedBy>
  <cp:revision>9</cp:revision>
  <dcterms:created xsi:type="dcterms:W3CDTF">2014-04-04T16:52:35Z</dcterms:created>
  <dcterms:modified xsi:type="dcterms:W3CDTF">2016-12-31T07:57:25Z</dcterms:modified>
</cp:coreProperties>
</file>