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16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1080720" y="3602160"/>
            <a:ext cx="1268640" cy="92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Straight Connector 7"/>
          <p:cNvCxnSpPr/>
          <p:nvPr/>
        </p:nvCxnSpPr>
        <p:spPr>
          <a:xfrm>
            <a:off x="2162880" y="371628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109DB5-E9B8-44E7-A3DE-BBA50063F5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440" cy="50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" name="Straight Connector 7"/>
          <p:cNvCxnSpPr/>
          <p:nvPr/>
        </p:nvCxnSpPr>
        <p:spPr>
          <a:xfrm>
            <a:off x="1278000" y="633420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1" name="TextBox 3"/>
          <p:cNvSpPr/>
          <p:nvPr/>
        </p:nvSpPr>
        <p:spPr>
          <a:xfrm>
            <a:off x="1333440" y="6381720"/>
            <a:ext cx="18799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B316A5-7E61-4224-8A26-894FFA8917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5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440" cy="50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" name="Straight Connector 6"/>
          <p:cNvCxnSpPr/>
          <p:nvPr/>
        </p:nvCxnSpPr>
        <p:spPr>
          <a:xfrm>
            <a:off x="1278000" y="633420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6" name="TextBox 7"/>
          <p:cNvSpPr/>
          <p:nvPr/>
        </p:nvSpPr>
        <p:spPr>
          <a:xfrm>
            <a:off x="1333440" y="6381720"/>
            <a:ext cx="18799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153072-73A8-4805-88E0-2DAE13E7D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Picture 4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440" cy="50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Straight Connector 5"/>
          <p:cNvCxnSpPr/>
          <p:nvPr/>
        </p:nvCxnSpPr>
        <p:spPr>
          <a:xfrm>
            <a:off x="1278000" y="633420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21" name="TextBox 6"/>
          <p:cNvSpPr/>
          <p:nvPr/>
        </p:nvSpPr>
        <p:spPr>
          <a:xfrm>
            <a:off x="1333440" y="6381720"/>
            <a:ext cx="18799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plustoolkit.org/" TargetMode="External"/><Relationship Id="rId2" Type="http://schemas.openxmlformats.org/officeDocument/2006/relationships/hyperlink" Target="http://www.slicer.org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16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Instalando software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2350080" y="3831120"/>
            <a:ext cx="5650200" cy="142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Série de tutoriais do SlicerIGT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Duas aplicações separadas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PLUS</a:t>
            </a: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Software que se comunica com hardware (scanners, rastreadores, etc.) e retransmite dados para outros aplicativos (por exemplo, 3D Slicer). PLUS também vem com algoritmos e pequenos aplicativos para processamento de dados.</a:t>
            </a:r>
            <a:br>
              <a:rPr sz="2800"/>
            </a:b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Leia mais sobre o PLUS: </a:t>
            </a:r>
            <a:r>
              <a:rPr lang="en-CA" sz="2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www.plustoolkit.org</a:t>
            </a: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3D Slicer (Slicer)</a:t>
            </a: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Aplicativo com diversos algoritmos de processamento de dados e recursos de visualização. Possui um mecanismo de extensão que permite o desenvolvimento de aplicações específicas de procedimentos.</a:t>
            </a:r>
            <a:br>
              <a:rPr sz="2800"/>
            </a:b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Leia mais sobre o Slicer: </a:t>
            </a:r>
            <a:r>
              <a:rPr lang="en-CA" sz="2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2"/>
              </a:rPr>
              <a:t>www.slicer.org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Picture 4"/>
          <p:cNvPicPr/>
          <p:nvPr/>
        </p:nvPicPr>
        <p:blipFill>
          <a:blip r:embed="rId3"/>
          <a:stretch/>
        </p:blipFill>
        <p:spPr>
          <a:xfrm>
            <a:off x="107640" y="25920"/>
            <a:ext cx="59112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4F05655-B441-4FE0-AE1B-C6F250CF695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25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Necessidades de software com base no caso de uso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ounded Rectangle 5"/>
          <p:cNvSpPr/>
          <p:nvPr/>
        </p:nvSpPr>
        <p:spPr>
          <a:xfrm>
            <a:off x="6127920" y="2290320"/>
            <a:ext cx="2085120" cy="54216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3D Slicer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Rounded Rectangle 6"/>
          <p:cNvSpPr/>
          <p:nvPr/>
        </p:nvSpPr>
        <p:spPr>
          <a:xfrm>
            <a:off x="3529080" y="2293200"/>
            <a:ext cx="2085120" cy="54216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PLUS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Rounded Rectangle 7"/>
          <p:cNvSpPr/>
          <p:nvPr/>
        </p:nvSpPr>
        <p:spPr>
          <a:xfrm>
            <a:off x="970200" y="2303280"/>
            <a:ext cx="2085120" cy="54216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Dispositivos de hardware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Straight Connector 8"/>
          <p:cNvCxnSpPr>
            <a:stCxn id="29" idx="3"/>
            <a:endCxn id="28" idx="1"/>
          </p:cNvCxnSpPr>
          <p:nvPr/>
        </p:nvCxnSpPr>
        <p:spPr>
          <a:xfrm flipV="1">
            <a:off x="5614200" y="2561400"/>
            <a:ext cx="514080" cy="32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2" name="Straight Connector 9"/>
          <p:cNvCxnSpPr>
            <a:stCxn id="30" idx="3"/>
            <a:endCxn id="29" idx="1"/>
          </p:cNvCxnSpPr>
          <p:nvPr/>
        </p:nvCxnSpPr>
        <p:spPr>
          <a:xfrm flipV="1">
            <a:off x="3055320" y="2564280"/>
            <a:ext cx="474120" cy="104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headEnd len="med" type="arrow" w="med"/>
            <a:tailEnd len="med" type="arrow" w="med"/>
          </a:ln>
        </p:spPr>
      </p:cxnSp>
      <p:sp>
        <p:nvSpPr>
          <p:cNvPr id="33" name="TextBox 10"/>
          <p:cNvSpPr/>
          <p:nvPr/>
        </p:nvSpPr>
        <p:spPr>
          <a:xfrm>
            <a:off x="628560" y="1701000"/>
            <a:ext cx="7886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Dispositivos reais (por exemplo, rastreadores, ultrassom, etc.)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6"/>
          <p:cNvSpPr/>
          <p:nvPr/>
        </p:nvSpPr>
        <p:spPr>
          <a:xfrm>
            <a:off x="628560" y="3164400"/>
            <a:ext cx="7886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Reproduza dados salvos para simular dispositivos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ounded Rectangle 17"/>
          <p:cNvSpPr/>
          <p:nvPr/>
        </p:nvSpPr>
        <p:spPr>
          <a:xfrm>
            <a:off x="6127920" y="3788280"/>
            <a:ext cx="2085120" cy="54216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3D Slicer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Rounded Rectangle 18"/>
          <p:cNvSpPr/>
          <p:nvPr/>
        </p:nvSpPr>
        <p:spPr>
          <a:xfrm>
            <a:off x="3527640" y="3788280"/>
            <a:ext cx="2085120" cy="54216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PLUS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9"/>
          <p:cNvSpPr/>
          <p:nvPr/>
        </p:nvSpPr>
        <p:spPr>
          <a:xfrm>
            <a:off x="970200" y="3764880"/>
            <a:ext cx="2085120" cy="5421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Arquivo de dados salvo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Straight Connector 20"/>
          <p:cNvCxnSpPr>
            <a:stCxn id="36" idx="1"/>
            <a:endCxn id="37" idx="3"/>
          </p:cNvCxnSpPr>
          <p:nvPr/>
        </p:nvCxnSpPr>
        <p:spPr>
          <a:xfrm flipH="1" flipV="1">
            <a:off x="3055320" y="4035960"/>
            <a:ext cx="472680" cy="237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9" name="Straight Connector 21"/>
          <p:cNvCxnSpPr>
            <a:stCxn id="35" idx="1"/>
            <a:endCxn id="36" idx="3"/>
          </p:cNvCxnSpPr>
          <p:nvPr/>
        </p:nvCxnSpPr>
        <p:spPr>
          <a:xfrm flipH="1">
            <a:off x="5612760" y="4059360"/>
            <a:ext cx="515520" cy="3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headEnd len="med" type="arrow" w="med"/>
            <a:tailEnd len="med" type="arrow" w="med"/>
          </a:ln>
        </p:spPr>
      </p:cxnSp>
      <p:sp>
        <p:nvSpPr>
          <p:cNvPr id="40" name="TextBox 22"/>
          <p:cNvSpPr/>
          <p:nvPr/>
        </p:nvSpPr>
        <p:spPr>
          <a:xfrm>
            <a:off x="628560" y="4634640"/>
            <a:ext cx="778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Carregue os dados salvos diretamente no Slicer (sem PLUS)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23"/>
          <p:cNvSpPr/>
          <p:nvPr/>
        </p:nvSpPr>
        <p:spPr>
          <a:xfrm>
            <a:off x="6127920" y="5231880"/>
            <a:ext cx="2085120" cy="54216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3D Slicer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Rounded Rectangle 25"/>
          <p:cNvSpPr/>
          <p:nvPr/>
        </p:nvSpPr>
        <p:spPr>
          <a:xfrm>
            <a:off x="970200" y="5231880"/>
            <a:ext cx="2085120" cy="5421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Arquivo de dados salvo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3" name="Straight Connector 27"/>
          <p:cNvCxnSpPr>
            <a:stCxn id="41" idx="1"/>
            <a:endCxn id="42" idx="3"/>
          </p:cNvCxnSpPr>
          <p:nvPr/>
        </p:nvCxnSpPr>
        <p:spPr>
          <a:xfrm flipH="1">
            <a:off x="3055320" y="5502960"/>
            <a:ext cx="3072960" cy="3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headEnd len="med" type="arrow" w="med"/>
            <a:tailEnd len="med" type="arrow" w="med"/>
          </a:ln>
        </p:spPr>
      </p:cxnSp>
      <p:sp>
        <p:nvSpPr>
          <p:cNvPr id="44" name="TextBox 11"/>
          <p:cNvSpPr/>
          <p:nvPr/>
        </p:nvSpPr>
        <p:spPr>
          <a:xfrm>
            <a:off x="1129680" y="1077480"/>
            <a:ext cx="18417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2800" b="1" u="none" spc="400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opcional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24"/>
          <p:cNvSpPr/>
          <p:nvPr/>
        </p:nvSpPr>
        <p:spPr>
          <a:xfrm>
            <a:off x="6181200" y="1113120"/>
            <a:ext cx="2331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CA" sz="2800" b="1" u="none" spc="400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obrigatório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26"/>
          <p:cNvPicPr/>
          <p:nvPr/>
        </p:nvPicPr>
        <p:blipFill>
          <a:blip r:embed="rId1"/>
          <a:stretch/>
        </p:blipFill>
        <p:spPr>
          <a:xfrm>
            <a:off x="107640" y="25920"/>
            <a:ext cx="591120" cy="5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02BEB2-4426-4CB5-8F05-1DAA0EDA00B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Pré-requisitos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28560" y="1367640"/>
            <a:ext cx="7886160" cy="23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Baixe a pasta SlicerIGT-Data do site de tutoriais do SlicerIGT: http://www.slicerigt.org/wp/user-tutorial/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Descompacte SlicerIGT-Data na sua pasta pessoal.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628560" y="4407480"/>
            <a:ext cx="7886160" cy="820800"/>
          </a:xfrm>
          <a:prstGeom prst="rect">
            <a:avLst/>
          </a:prstGeom>
          <a:noFill/>
          <a:ln w="2540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Observação:</a:t>
            </a: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Este tutorial foi testado apenas no Windows. É possível seguir todas as etapas nos sistemas operacionais Linux e Mac, mas capturas de tela específicas não são adicionadas, portanto, talvez você precise descobrir as diferenças sozinho.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D215E5C-027D-47DE-BCC2-D4B13A596D0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Instale o aplicativo 3D Slicer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Visite: http://download.slicer.org/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Baixe o 3D Slicer versão 4.11 ou posterior.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Nota: Algumas funções utilizadas neste tutorial não estão disponíveis em versões anteriores.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Execute o instalador e aceite todas as opções padrão quando solicitado pelo instalador.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E8B7255-32FB-461C-8ECC-B1BFA777E3F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Instalar PLUS (opcional)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Visite: http://plustoolkit.org/ e clique em Downloads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Baixe a última versão estável do PLUS: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PlusApp_2.6...-Win32.exe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– Típico para a maioria dos usuários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PlusApp_2.6...-Win64.exe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– Versão de 64 bits. Pode processar grandes dados. (Por exemplo, para reconstrução de grandes volumes de ultrassom.) Mas não é possível conectar-se a alguns dispositivos de hardware somente de 32 bits.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PlusApp_2.6... -Telemed...exe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– Suporta hardware específico, por ex. Telemed ultrassom e MicronTracker.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Instale o PLUS usando o instalador baixado, aceite todas as opções padrão.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C0A7BFD-9BAB-4052-86E4-B5D42246C54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5"/>
          <p:cNvPicPr/>
          <p:nvPr/>
        </p:nvPicPr>
        <p:blipFill>
          <a:blip r:embed="rId1"/>
          <a:stretch/>
        </p:blipFill>
        <p:spPr>
          <a:xfrm>
            <a:off x="6489720" y="3418560"/>
            <a:ext cx="1022040" cy="143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Picture 14"/>
          <p:cNvPicPr/>
          <p:nvPr/>
        </p:nvPicPr>
        <p:blipFill>
          <a:blip r:embed="rId2"/>
          <a:stretch/>
        </p:blipFill>
        <p:spPr>
          <a:xfrm>
            <a:off x="7664400" y="3427920"/>
            <a:ext cx="1037880" cy="14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Picture 22"/>
          <p:cNvPicPr/>
          <p:nvPr/>
        </p:nvPicPr>
        <p:blipFill>
          <a:blip r:embed="rId3"/>
          <a:srcRect l="0" t="86020" r="0" b="0"/>
          <a:stretch/>
        </p:blipFill>
        <p:spPr>
          <a:xfrm>
            <a:off x="7628760" y="4905360"/>
            <a:ext cx="1157760" cy="25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Instale extensões Slicer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Content Placeholder 2"/>
          <p:cNvSpPr/>
          <p:nvPr/>
        </p:nvSpPr>
        <p:spPr>
          <a:xfrm>
            <a:off x="628560" y="1375560"/>
            <a:ext cx="3942720" cy="42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Abra o gerenciador de extensões do Slicer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em “Install” para as seguintes extensões: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SlicerOpenIGTLink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SlicerIGSIO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SlicerJupyter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Reiniciar Slicer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8"/>
          <p:cNvPicPr/>
          <p:nvPr/>
        </p:nvPicPr>
        <p:blipFill>
          <a:blip r:embed="rId4"/>
          <a:stretch/>
        </p:blipFill>
        <p:spPr>
          <a:xfrm>
            <a:off x="5082840" y="3344400"/>
            <a:ext cx="1218600" cy="183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9"/>
          <p:cNvPicPr/>
          <p:nvPr/>
        </p:nvPicPr>
        <p:blipFill>
          <a:blip r:embed="rId5"/>
          <a:srcRect l="0" t="86020" r="0" b="0"/>
          <a:stretch/>
        </p:blipFill>
        <p:spPr>
          <a:xfrm>
            <a:off x="6391800" y="4907520"/>
            <a:ext cx="1157760" cy="25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Rectangle 10"/>
          <p:cNvSpPr/>
          <p:nvPr/>
        </p:nvSpPr>
        <p:spPr>
          <a:xfrm>
            <a:off x="5050800" y="4833720"/>
            <a:ext cx="1229040" cy="369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11"/>
          <p:cNvSpPr/>
          <p:nvPr/>
        </p:nvSpPr>
        <p:spPr>
          <a:xfrm>
            <a:off x="3405960" y="4811760"/>
            <a:ext cx="382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12"/>
          <p:cNvSpPr/>
          <p:nvPr/>
        </p:nvSpPr>
        <p:spPr>
          <a:xfrm>
            <a:off x="6372000" y="4833720"/>
            <a:ext cx="1177560" cy="369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17"/>
          <p:cNvSpPr/>
          <p:nvPr/>
        </p:nvSpPr>
        <p:spPr>
          <a:xfrm>
            <a:off x="7628760" y="4836960"/>
            <a:ext cx="1177560" cy="369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Picture 16"/>
          <p:cNvPicPr/>
          <p:nvPr/>
        </p:nvPicPr>
        <p:blipFill>
          <a:blip r:embed="rId6"/>
          <a:stretch/>
        </p:blipFill>
        <p:spPr>
          <a:xfrm>
            <a:off x="3884400" y="3403080"/>
            <a:ext cx="1042200" cy="146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Picture 23"/>
          <p:cNvPicPr/>
          <p:nvPr/>
        </p:nvPicPr>
        <p:blipFill>
          <a:blip r:embed="rId7"/>
          <a:srcRect l="0" t="86020" r="0" b="0"/>
          <a:stretch/>
        </p:blipFill>
        <p:spPr>
          <a:xfrm>
            <a:off x="3781440" y="4911480"/>
            <a:ext cx="1157760" cy="25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Rectangle 24"/>
          <p:cNvSpPr/>
          <p:nvPr/>
        </p:nvSpPr>
        <p:spPr>
          <a:xfrm>
            <a:off x="3781440" y="4843080"/>
            <a:ext cx="1177560" cy="369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6"/>
          <p:cNvSpPr/>
          <p:nvPr/>
        </p:nvSpPr>
        <p:spPr>
          <a:xfrm>
            <a:off x="537120" y="5385600"/>
            <a:ext cx="4923360" cy="912600"/>
          </a:xfrm>
          <a:prstGeom prst="rect">
            <a:avLst/>
          </a:prstGeom>
          <a:noFill/>
          <a:ln w="2540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Observação: Durante a instalação do SlicerIGSIO, você também precisará concordar em instalar Sequências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8"/>
          <a:stretch/>
        </p:blipFill>
        <p:spPr>
          <a:xfrm>
            <a:off x="5943600" y="5770440"/>
            <a:ext cx="2971800" cy="85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/>
          <p:cNvPicPr/>
          <p:nvPr/>
        </p:nvPicPr>
        <p:blipFill>
          <a:blip r:embed="rId9"/>
          <a:stretch/>
        </p:blipFill>
        <p:spPr>
          <a:xfrm>
            <a:off x="4800600" y="1341720"/>
            <a:ext cx="3846240" cy="163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Rectangle 6"/>
          <p:cNvSpPr/>
          <p:nvPr/>
        </p:nvSpPr>
        <p:spPr>
          <a:xfrm>
            <a:off x="6400800" y="1600200"/>
            <a:ext cx="613800" cy="8262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6018120" y="1341720"/>
            <a:ext cx="382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20"/>
          <p:cNvSpPr/>
          <p:nvPr/>
        </p:nvSpPr>
        <p:spPr>
          <a:xfrm>
            <a:off x="6554880" y="6172200"/>
            <a:ext cx="1217520" cy="4572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1"/>
          <p:cNvSpPr/>
          <p:nvPr/>
        </p:nvSpPr>
        <p:spPr>
          <a:xfrm>
            <a:off x="6172200" y="6001560"/>
            <a:ext cx="382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3.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F338F7-E5C5-473A-9D85-3986995D1E3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Verifique a instalação bem-sucedida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ontent Placeholder 2"/>
          <p:cNvSpPr/>
          <p:nvPr/>
        </p:nvSpPr>
        <p:spPr>
          <a:xfrm>
            <a:off x="628560" y="1375560"/>
            <a:ext cx="3942720" cy="46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as extensões foram instaladas com sucesso, você deverá ver novos módulos no navegador de módulos, na categoria IGT, uma nova categoria “Sequências”.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5029200" y="1371600"/>
            <a:ext cx="3826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5486400" y="1371600"/>
            <a:ext cx="2743200" cy="102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angle 8"/>
          <p:cNvSpPr/>
          <p:nvPr/>
        </p:nvSpPr>
        <p:spPr>
          <a:xfrm>
            <a:off x="5829480" y="1600200"/>
            <a:ext cx="2171520" cy="369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"/>
          <p:cNvPicPr/>
          <p:nvPr/>
        </p:nvPicPr>
        <p:blipFill>
          <a:blip r:embed="rId2"/>
          <a:stretch/>
        </p:blipFill>
        <p:spPr>
          <a:xfrm>
            <a:off x="5080680" y="2971800"/>
            <a:ext cx="3606120" cy="95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3"/>
          <a:stretch/>
        </p:blipFill>
        <p:spPr>
          <a:xfrm>
            <a:off x="5029200" y="4572000"/>
            <a:ext cx="3886200" cy="7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CD8496-5D6E-4AB9-952C-E78684C9F63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1669</TotalTime>
  <Application>LibreOffice/25.8.5.2$Windows_X86_64 LibreOffice_project/9c8b85f387cc00a89945a79c9e6239f32e450ac2</Application>
  <AppVersion>15.0000</AppVersion>
  <Words>483</Words>
  <Paragraphs>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2014-04-04T16:52:35Z</dcterms:created>
  <dc:creator>Tamas Ungi</dc:creator>
  <dc:description/>
  <dc:language>en-US</dc:language>
  <cp:lastModifiedBy/>
  <dcterms:modified xsi:type="dcterms:W3CDTF">2026-04-25T21:29:03Z</dcterms:modified>
  <cp:revision>34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9</vt:i4>
  </property>
</Properties>
</file>