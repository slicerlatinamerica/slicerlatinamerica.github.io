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09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1080720" y="3602160"/>
            <a:ext cx="1267920" cy="92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7"/>
          <p:cNvCxnSpPr/>
          <p:nvPr/>
        </p:nvCxnSpPr>
        <p:spPr>
          <a:xfrm>
            <a:off x="2162880" y="3716280"/>
            <a:ext cx="4091760" cy="144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28560" y="1181160"/>
            <a:ext cx="78854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0130CC-0EEB-4015-B971-6418B58E5B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3720" cy="504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" name="Straight Connector 7"/>
          <p:cNvCxnSpPr/>
          <p:nvPr/>
        </p:nvCxnSpPr>
        <p:spPr>
          <a:xfrm>
            <a:off x="1278000" y="6334200"/>
            <a:ext cx="4091760" cy="144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1" name="TextBox 3"/>
          <p:cNvSpPr/>
          <p:nvPr/>
        </p:nvSpPr>
        <p:spPr>
          <a:xfrm>
            <a:off x="1333440" y="6381720"/>
            <a:ext cx="1879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FC284B-70DB-4A8B-B4F1-F6B3F80613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5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3720" cy="504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Straight Connector 6"/>
          <p:cNvCxnSpPr/>
          <p:nvPr/>
        </p:nvCxnSpPr>
        <p:spPr>
          <a:xfrm>
            <a:off x="1278000" y="6334200"/>
            <a:ext cx="4091760" cy="144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6" name="TextBox 7"/>
          <p:cNvSpPr/>
          <p:nvPr/>
        </p:nvSpPr>
        <p:spPr>
          <a:xfrm>
            <a:off x="1333440" y="6381720"/>
            <a:ext cx="1879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1E866B-9549-476A-B2C0-5F769F136A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Picture 4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3720" cy="504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5"/>
          <p:cNvCxnSpPr/>
          <p:nvPr/>
        </p:nvCxnSpPr>
        <p:spPr>
          <a:xfrm>
            <a:off x="1278000" y="6334200"/>
            <a:ext cx="4091760" cy="144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21" name="TextBox 6"/>
          <p:cNvSpPr/>
          <p:nvPr/>
        </p:nvSpPr>
        <p:spPr>
          <a:xfrm>
            <a:off x="1333440" y="6381720"/>
            <a:ext cx="1879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1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09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de marco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2350080" y="3831120"/>
            <a:ext cx="5649480" cy="142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 Série de tutoriais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de marco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263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Calcula a transformação entre pares de pontos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 = marcos = fiduciais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computação é rápida, não iterativa e com resultado ideal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Sensível a valores discrepantes!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vtkLandmarkTransform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baseado em [Horn 1987]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val 4"/>
          <p:cNvSpPr/>
          <p:nvPr/>
        </p:nvSpPr>
        <p:spPr>
          <a:xfrm>
            <a:off x="3059280" y="4426560"/>
            <a:ext cx="179280" cy="15660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Oval 5"/>
          <p:cNvSpPr/>
          <p:nvPr/>
        </p:nvSpPr>
        <p:spPr>
          <a:xfrm>
            <a:off x="3835080" y="4840560"/>
            <a:ext cx="179280" cy="15660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Oval 6"/>
          <p:cNvSpPr/>
          <p:nvPr/>
        </p:nvSpPr>
        <p:spPr>
          <a:xfrm>
            <a:off x="3522240" y="3841560"/>
            <a:ext cx="179280" cy="15660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1" name="Group 7"/>
          <p:cNvGrpSpPr/>
          <p:nvPr/>
        </p:nvGrpSpPr>
        <p:grpSpPr>
          <a:xfrm>
            <a:off x="1471680" y="3987720"/>
            <a:ext cx="1724400" cy="1788840"/>
            <a:chOff x="1471680" y="3987720"/>
            <a:chExt cx="1724400" cy="1788840"/>
          </a:xfrm>
        </p:grpSpPr>
        <p:cxnSp>
          <p:nvCxnSpPr>
            <p:cNvPr id="32" name="Straight Arrow Connector 8"/>
            <p:cNvCxnSpPr/>
            <p:nvPr/>
          </p:nvCxnSpPr>
          <p:spPr>
            <a:xfrm flipV="1">
              <a:off x="1941120" y="4067640"/>
              <a:ext cx="1440" cy="108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33" name="Straight Arrow Connector 9"/>
            <p:cNvCxnSpPr/>
            <p:nvPr/>
          </p:nvCxnSpPr>
          <p:spPr>
            <a:xfrm>
              <a:off x="1941120" y="5147640"/>
              <a:ext cx="1171440" cy="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34" name="Straight Arrow Connector 10"/>
            <p:cNvCxnSpPr/>
            <p:nvPr/>
          </p:nvCxnSpPr>
          <p:spPr>
            <a:xfrm flipH="1">
              <a:off x="1471680" y="5147640"/>
              <a:ext cx="470880" cy="4708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35" name="TextBox 11"/>
            <p:cNvSpPr/>
            <p:nvPr/>
          </p:nvSpPr>
          <p:spPr>
            <a:xfrm>
              <a:off x="2886120" y="5183640"/>
              <a:ext cx="3099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TextBox 12"/>
            <p:cNvSpPr/>
            <p:nvPr/>
          </p:nvSpPr>
          <p:spPr>
            <a:xfrm>
              <a:off x="1996200" y="3987720"/>
              <a:ext cx="303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Box 13"/>
            <p:cNvSpPr/>
            <p:nvPr/>
          </p:nvSpPr>
          <p:spPr>
            <a:xfrm>
              <a:off x="1604160" y="5408640"/>
              <a:ext cx="2937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" name="Group 14"/>
          <p:cNvGrpSpPr/>
          <p:nvPr/>
        </p:nvGrpSpPr>
        <p:grpSpPr>
          <a:xfrm>
            <a:off x="5965560" y="3926880"/>
            <a:ext cx="1724760" cy="1788840"/>
            <a:chOff x="5965560" y="3926880"/>
            <a:chExt cx="1724760" cy="1788840"/>
          </a:xfrm>
        </p:grpSpPr>
        <p:cxnSp>
          <p:nvCxnSpPr>
            <p:cNvPr id="39" name="Straight Arrow Connector 15"/>
            <p:cNvCxnSpPr/>
            <p:nvPr/>
          </p:nvCxnSpPr>
          <p:spPr>
            <a:xfrm flipV="1">
              <a:off x="6435000" y="4006800"/>
              <a:ext cx="1440" cy="108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40" name="Straight Arrow Connector 16"/>
            <p:cNvCxnSpPr/>
            <p:nvPr/>
          </p:nvCxnSpPr>
          <p:spPr>
            <a:xfrm>
              <a:off x="6435000" y="5086800"/>
              <a:ext cx="1171800" cy="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41" name="Straight Arrow Connector 17"/>
            <p:cNvCxnSpPr/>
            <p:nvPr/>
          </p:nvCxnSpPr>
          <p:spPr>
            <a:xfrm flipH="1">
              <a:off x="5965560" y="5086800"/>
              <a:ext cx="470880" cy="4708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42" name="TextBox 18"/>
            <p:cNvSpPr/>
            <p:nvPr/>
          </p:nvSpPr>
          <p:spPr>
            <a:xfrm>
              <a:off x="7380360" y="5122800"/>
              <a:ext cx="3099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TextBox 19"/>
            <p:cNvSpPr/>
            <p:nvPr/>
          </p:nvSpPr>
          <p:spPr>
            <a:xfrm>
              <a:off x="6490440" y="3926880"/>
              <a:ext cx="303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TextBox 20"/>
            <p:cNvSpPr/>
            <p:nvPr/>
          </p:nvSpPr>
          <p:spPr>
            <a:xfrm>
              <a:off x="6098040" y="5347800"/>
              <a:ext cx="2937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Arc 21"/>
          <p:cNvSpPr/>
          <p:nvPr/>
        </p:nvSpPr>
        <p:spPr>
          <a:xfrm>
            <a:off x="2025000" y="4268160"/>
            <a:ext cx="4760280" cy="1940400"/>
          </a:xfrm>
          <a:prstGeom prst="arc">
            <a:avLst>
              <a:gd name="adj1" fmla="val 213687"/>
              <a:gd name="adj2" fmla="val 10332374"/>
            </a:avLst>
          </a:prstGeom>
          <a:noFill/>
          <a:ln w="25400">
            <a:solidFill>
              <a:srgbClr val="0070c0"/>
            </a:solidFill>
            <a:head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46" name="Straight Arrow Connector 23"/>
          <p:cNvCxnSpPr/>
          <p:nvPr/>
        </p:nvCxnSpPr>
        <p:spPr>
          <a:xfrm flipV="1">
            <a:off x="1941120" y="4546800"/>
            <a:ext cx="1101960" cy="602280"/>
          </a:xfrm>
          <a:prstGeom prst="straightConnector1">
            <a:avLst/>
          </a:prstGeom>
          <a:ln w="0">
            <a:solidFill>
              <a:srgbClr val="00b050"/>
            </a:solidFill>
            <a:tailEnd len="lg" type="triangle" w="lg"/>
          </a:ln>
        </p:spPr>
      </p:cxnSp>
      <p:cxnSp>
        <p:nvCxnSpPr>
          <p:cNvPr id="47" name="Straight Arrow Connector 24"/>
          <p:cNvCxnSpPr>
            <a:endCxn id="30" idx="3"/>
          </p:cNvCxnSpPr>
          <p:nvPr/>
        </p:nvCxnSpPr>
        <p:spPr>
          <a:xfrm flipV="1">
            <a:off x="1941120" y="3975480"/>
            <a:ext cx="1607760" cy="1173600"/>
          </a:xfrm>
          <a:prstGeom prst="straightConnector1">
            <a:avLst/>
          </a:prstGeom>
          <a:ln w="0">
            <a:solidFill>
              <a:srgbClr val="00b050"/>
            </a:solidFill>
            <a:tailEnd len="lg" type="triangle" w="lg"/>
          </a:ln>
        </p:spPr>
      </p:cxnSp>
      <p:cxnSp>
        <p:nvCxnSpPr>
          <p:cNvPr id="48" name="Straight Arrow Connector 27"/>
          <p:cNvCxnSpPr>
            <a:endCxn id="29" idx="2"/>
          </p:cNvCxnSpPr>
          <p:nvPr/>
        </p:nvCxnSpPr>
        <p:spPr>
          <a:xfrm flipV="1">
            <a:off x="1969920" y="4919040"/>
            <a:ext cx="1865520" cy="237600"/>
          </a:xfrm>
          <a:prstGeom prst="straightConnector1">
            <a:avLst/>
          </a:prstGeom>
          <a:ln w="0">
            <a:solidFill>
              <a:srgbClr val="00b050"/>
            </a:solidFill>
            <a:tailEnd len="lg" type="triangle" w="lg"/>
          </a:ln>
        </p:spPr>
      </p:cxnSp>
      <p:cxnSp>
        <p:nvCxnSpPr>
          <p:cNvPr id="49" name="Straight Arrow Connector 30"/>
          <p:cNvCxnSpPr>
            <a:endCxn id="29" idx="6"/>
          </p:cNvCxnSpPr>
          <p:nvPr/>
        </p:nvCxnSpPr>
        <p:spPr>
          <a:xfrm flipH="1" flipV="1">
            <a:off x="4014360" y="4919040"/>
            <a:ext cx="2422080" cy="169200"/>
          </a:xfrm>
          <a:prstGeom prst="straightConnector1">
            <a:avLst/>
          </a:prstGeom>
          <a:ln w="0">
            <a:solidFill>
              <a:srgbClr val="ff0000"/>
            </a:solidFill>
            <a:tailEnd len="lg" type="triangle" w="lg"/>
          </a:ln>
        </p:spPr>
      </p:cxnSp>
      <p:cxnSp>
        <p:nvCxnSpPr>
          <p:cNvPr id="50" name="Straight Arrow Connector 33"/>
          <p:cNvCxnSpPr>
            <a:endCxn id="28" idx="6"/>
          </p:cNvCxnSpPr>
          <p:nvPr/>
        </p:nvCxnSpPr>
        <p:spPr>
          <a:xfrm flipH="1" flipV="1">
            <a:off x="3238560" y="4505040"/>
            <a:ext cx="3197880" cy="581040"/>
          </a:xfrm>
          <a:prstGeom prst="straightConnector1">
            <a:avLst/>
          </a:prstGeom>
          <a:ln w="0">
            <a:solidFill>
              <a:srgbClr val="ff0000"/>
            </a:solidFill>
            <a:tailEnd len="lg" type="triangle" w="lg"/>
          </a:ln>
        </p:spPr>
      </p:cxnSp>
      <p:cxnSp>
        <p:nvCxnSpPr>
          <p:cNvPr id="51" name="Straight Arrow Connector 36"/>
          <p:cNvCxnSpPr>
            <a:endCxn id="30" idx="5"/>
          </p:cNvCxnSpPr>
          <p:nvPr/>
        </p:nvCxnSpPr>
        <p:spPr>
          <a:xfrm flipH="1" flipV="1">
            <a:off x="3675240" y="3975480"/>
            <a:ext cx="2761200" cy="1103400"/>
          </a:xfrm>
          <a:prstGeom prst="straightConnector1">
            <a:avLst/>
          </a:prstGeom>
          <a:ln w="0">
            <a:solidFill>
              <a:srgbClr val="ff0000"/>
            </a:solidFill>
            <a:tailEnd len="lg" type="triangle" w="lg"/>
          </a:ln>
        </p:spPr>
      </p:cxnSp>
      <p:sp>
        <p:nvSpPr>
          <p:cNvPr id="52" name="TextBox 39"/>
          <p:cNvSpPr/>
          <p:nvPr/>
        </p:nvSpPr>
        <p:spPr>
          <a:xfrm>
            <a:off x="1830600" y="5159520"/>
            <a:ext cx="1048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Referência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40"/>
          <p:cNvSpPr/>
          <p:nvPr/>
        </p:nvSpPr>
        <p:spPr>
          <a:xfrm>
            <a:off x="6359760" y="5051160"/>
            <a:ext cx="508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41"/>
          <p:cNvSpPr/>
          <p:nvPr/>
        </p:nvSpPr>
        <p:spPr>
          <a:xfrm>
            <a:off x="3390120" y="5717160"/>
            <a:ext cx="1664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ReferenceToRas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2910F77-C93E-445E-AA0B-ABAFAADD2B5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Tipo de transformação de resultado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Rígido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Tradução + Rotação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Comumente usado, porque os objetos não mudam de tamanho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Semelhança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Tradução + Rotação + Dimensionamento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Usado ao alterar unidades, por ex. pixels para milímetros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Deformação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Splines, etc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Usado para modelar deformações de tecidos moles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9EFA90-D3EA-4C46-8E5A-2BFBCDCBA94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8"/>
          <p:cNvSpPr/>
          <p:nvPr/>
        </p:nvSpPr>
        <p:spPr>
          <a:xfrm>
            <a:off x="889920" y="5820120"/>
            <a:ext cx="123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RMSE = 4,8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3661200" y="5820120"/>
            <a:ext cx="123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RMSE = 4,2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11"/>
          <p:cNvSpPr/>
          <p:nvPr/>
        </p:nvSpPr>
        <p:spPr>
          <a:xfrm>
            <a:off x="6365880" y="5820120"/>
            <a:ext cx="123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RMSE = 0,0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168920" y="3085560"/>
            <a:ext cx="691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Rígido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4"/>
          <p:cNvSpPr/>
          <p:nvPr/>
        </p:nvSpPr>
        <p:spPr>
          <a:xfrm>
            <a:off x="3692160" y="3085560"/>
            <a:ext cx="1174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Semelhança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5"/>
          <p:cNvSpPr/>
          <p:nvPr/>
        </p:nvSpPr>
        <p:spPr>
          <a:xfrm>
            <a:off x="6389640" y="3085560"/>
            <a:ext cx="1185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Deformação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2"/>
          <p:cNvPicPr/>
          <p:nvPr/>
        </p:nvPicPr>
        <p:blipFill>
          <a:blip r:embed="rId1"/>
          <a:stretch/>
        </p:blipFill>
        <p:spPr>
          <a:xfrm>
            <a:off x="3299040" y="540360"/>
            <a:ext cx="1960560" cy="185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4"/>
          <p:cNvPicPr/>
          <p:nvPr/>
        </p:nvPicPr>
        <p:blipFill>
          <a:blip r:embed="rId2"/>
          <a:stretch/>
        </p:blipFill>
        <p:spPr>
          <a:xfrm>
            <a:off x="5979240" y="3502080"/>
            <a:ext cx="2435040" cy="230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5"/>
          <p:cNvPicPr/>
          <p:nvPr/>
        </p:nvPicPr>
        <p:blipFill>
          <a:blip r:embed="rId3"/>
          <a:stretch/>
        </p:blipFill>
        <p:spPr>
          <a:xfrm>
            <a:off x="3023280" y="3502080"/>
            <a:ext cx="2455200" cy="230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6"/>
          <p:cNvPicPr/>
          <p:nvPr/>
        </p:nvPicPr>
        <p:blipFill>
          <a:blip r:embed="rId4"/>
          <a:stretch/>
        </p:blipFill>
        <p:spPr>
          <a:xfrm>
            <a:off x="312120" y="3502080"/>
            <a:ext cx="2459880" cy="231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7"/>
          <p:cNvSpPr/>
          <p:nvPr/>
        </p:nvSpPr>
        <p:spPr>
          <a:xfrm>
            <a:off x="776160" y="540360"/>
            <a:ext cx="2274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Deslocamento fiducial: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Straight Arrow Connector 12"/>
          <p:cNvCxnSpPr>
            <a:endCxn id="60" idx="0"/>
          </p:cNvCxnSpPr>
          <p:nvPr/>
        </p:nvCxnSpPr>
        <p:spPr>
          <a:xfrm flipH="1">
            <a:off x="1514880" y="2394000"/>
            <a:ext cx="1752120" cy="691920"/>
          </a:xfrm>
          <a:prstGeom prst="straightConnector1">
            <a:avLst/>
          </a:prstGeom>
          <a:ln w="57150">
            <a:solidFill>
              <a:srgbClr val="bdd7ee"/>
            </a:solidFill>
            <a:round/>
            <a:tailEnd len="med" type="triangle" w="med"/>
          </a:ln>
        </p:spPr>
      </p:cxnSp>
      <p:cxnSp>
        <p:nvCxnSpPr>
          <p:cNvPr id="69" name="Straight Arrow Connector 17"/>
          <p:cNvCxnSpPr>
            <a:endCxn id="61" idx="0"/>
          </p:cNvCxnSpPr>
          <p:nvPr/>
        </p:nvCxnSpPr>
        <p:spPr>
          <a:xfrm>
            <a:off x="4264920" y="2548440"/>
            <a:ext cx="14760" cy="537480"/>
          </a:xfrm>
          <a:prstGeom prst="straightConnector1">
            <a:avLst/>
          </a:prstGeom>
          <a:ln w="57150">
            <a:solidFill>
              <a:srgbClr val="bdd7ee"/>
            </a:solidFill>
            <a:round/>
            <a:tailEnd len="med" type="triangle" w="med"/>
          </a:ln>
        </p:spPr>
      </p:cxnSp>
      <p:cxnSp>
        <p:nvCxnSpPr>
          <p:cNvPr id="70" name="Straight Arrow Connector 20"/>
          <p:cNvCxnSpPr>
            <a:endCxn id="62" idx="0"/>
          </p:cNvCxnSpPr>
          <p:nvPr/>
        </p:nvCxnSpPr>
        <p:spPr>
          <a:xfrm>
            <a:off x="5395320" y="2394000"/>
            <a:ext cx="1587600" cy="691920"/>
          </a:xfrm>
          <a:prstGeom prst="straightConnector1">
            <a:avLst/>
          </a:prstGeom>
          <a:ln w="57150">
            <a:solidFill>
              <a:srgbClr val="bdd7ee"/>
            </a:solidFill>
            <a:round/>
            <a:tailEnd len="med" type="triangle" w="med"/>
          </a:ln>
        </p:spPr>
      </p:cxn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BA0DB-BD03-42A1-A843-3E657E55D6B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Carregar dados de exemplo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Carregue a cena: SlicerIGT-Data/Skull_GroundTruthLandmarks.mrb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Carregue transformação adicional: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SlicerIGT-Data/Skull_StylusTipToStylus.h5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um modelo de agulha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Configure a hierarquia de transformação da caneta no módulo Dados: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628560" y="3429000"/>
            <a:ext cx="8015760" cy="205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0C4438A-4E01-4D9F-92D5-3A0E56030E5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Crie nós de entrada e saída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41072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IGT / Assistente de registro fiducial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os fiduciais De e nomeie a lista "Fiduciais de Referência"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os fiduciais Para e nomeie a lista "RasFiducials"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a transformação de resultado como "ReferenceToRas"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4800600" y="1828800"/>
            <a:ext cx="426924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Arrow: Right 5"/>
          <p:cNvSpPr/>
          <p:nvPr/>
        </p:nvSpPr>
        <p:spPr>
          <a:xfrm>
            <a:off x="4427640" y="1951560"/>
            <a:ext cx="372960" cy="29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Arrow: Right 6"/>
          <p:cNvSpPr/>
          <p:nvPr/>
        </p:nvSpPr>
        <p:spPr>
          <a:xfrm rot="10800000">
            <a:off x="5715000" y="2358000"/>
            <a:ext cx="372960" cy="29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Arrow: Right 7"/>
          <p:cNvSpPr/>
          <p:nvPr/>
        </p:nvSpPr>
        <p:spPr>
          <a:xfrm rot="10800000">
            <a:off x="5486400" y="3623760"/>
            <a:ext cx="372960" cy="29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Arrow: Right 8"/>
          <p:cNvSpPr/>
          <p:nvPr/>
        </p:nvSpPr>
        <p:spPr>
          <a:xfrm rot="10800000">
            <a:off x="5715000" y="4995360"/>
            <a:ext cx="372960" cy="298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DB43454-30DA-4DFE-A3D6-FCB03CBF88A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Configure a caneta como entrada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147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Expanda o grupo Colocar fiduciais usando transformações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Skull_StylusTipToStylus para colocar os fiduciários 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ontent Placeholder 2"/>
          <p:cNvSpPr/>
          <p:nvPr/>
        </p:nvSpPr>
        <p:spPr>
          <a:xfrm>
            <a:off x="628560" y="4071600"/>
            <a:ext cx="7885440" cy="21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Ao pressionar os botões 'Colocar De' ou 'Colocar Para', os fiduciais são criados na origem (0,0,0) do primeiro sistema de coordenadas De da transformação selecionada, transformado pela hierarquia de transformação.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Veja a explicação no próximo slide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505080" y="2514600"/>
            <a:ext cx="8217720" cy="138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C212437-B00F-4E09-AE6A-6672AE4EC35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4"/>
          <p:cNvSpPr/>
          <p:nvPr/>
        </p:nvSpPr>
        <p:spPr>
          <a:xfrm rot="20707200">
            <a:off x="1997280" y="2251440"/>
            <a:ext cx="2462760" cy="98640"/>
          </a:xfrm>
          <a:custGeom>
            <a:avLst/>
            <a:gdLst>
              <a:gd name="textAreaLeft" fmla="*/ 0 w 2462760"/>
              <a:gd name="textAreaRight" fmla="*/ 2464200 w 2462760"/>
              <a:gd name="textAreaTop" fmla="*/ 0 h 98640"/>
              <a:gd name="textAreaBottom" fmla="*/ 100080 h 98640"/>
              <a:gd name="GluePoint1X" fmla="*/ 217715 w 3526972"/>
              <a:gd name="GluePoint1Y" fmla="*/ 119743 h 119743"/>
              <a:gd name="GluePoint2X" fmla="*/ 3526972 w 3526972"/>
              <a:gd name="GluePoint2Y" fmla="*/ 119743 h 119743"/>
              <a:gd name="GluePoint3X" fmla="*/ 3526972 w 3526972"/>
              <a:gd name="GluePoint3Y" fmla="*/ 0 h 119743"/>
              <a:gd name="GluePoint4X" fmla="*/ 0 w 3526972"/>
              <a:gd name="GluePoint4Y" fmla="*/ 0 h 119743"/>
              <a:gd name="GluePoint5X" fmla="*/ 217715 w 3526972"/>
              <a:gd name="GluePoint5Y" fmla="*/ 119743 h 1197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 rotWithShape="0">
            <a:gsLst>
              <a:gs pos="0">
                <a:srgbClr val="f7fafd"/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4506000"/>
          </a:gra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87" name="Group 5"/>
          <p:cNvGrpSpPr/>
          <p:nvPr/>
        </p:nvGrpSpPr>
        <p:grpSpPr>
          <a:xfrm>
            <a:off x="3695400" y="960840"/>
            <a:ext cx="1724760" cy="1788480"/>
            <a:chOff x="3695400" y="960840"/>
            <a:chExt cx="1724760" cy="1788480"/>
          </a:xfrm>
        </p:grpSpPr>
        <p:cxnSp>
          <p:nvCxnSpPr>
            <p:cNvPr id="88" name="Straight Arrow Connector 6"/>
            <p:cNvCxnSpPr/>
            <p:nvPr/>
          </p:nvCxnSpPr>
          <p:spPr>
            <a:xfrm flipV="1">
              <a:off x="4164840" y="1040400"/>
              <a:ext cx="1440" cy="10818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89" name="Straight Arrow Connector 7"/>
            <p:cNvCxnSpPr/>
            <p:nvPr/>
          </p:nvCxnSpPr>
          <p:spPr>
            <a:xfrm>
              <a:off x="4164840" y="2120760"/>
              <a:ext cx="1171800" cy="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90" name="Straight Arrow Connector 8"/>
            <p:cNvCxnSpPr/>
            <p:nvPr/>
          </p:nvCxnSpPr>
          <p:spPr>
            <a:xfrm flipH="1">
              <a:off x="3695400" y="2120760"/>
              <a:ext cx="470880" cy="4705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91" name="TextBox 9"/>
            <p:cNvSpPr/>
            <p:nvPr/>
          </p:nvSpPr>
          <p:spPr>
            <a:xfrm>
              <a:off x="5110200" y="2156400"/>
              <a:ext cx="3099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10"/>
            <p:cNvSpPr/>
            <p:nvPr/>
          </p:nvSpPr>
          <p:spPr>
            <a:xfrm>
              <a:off x="4220280" y="960840"/>
              <a:ext cx="303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Box 11"/>
            <p:cNvSpPr/>
            <p:nvPr/>
          </p:nvSpPr>
          <p:spPr>
            <a:xfrm>
              <a:off x="3827880" y="2381400"/>
              <a:ext cx="2937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TextBox 12"/>
          <p:cNvSpPr/>
          <p:nvPr/>
        </p:nvSpPr>
        <p:spPr>
          <a:xfrm>
            <a:off x="4288320" y="1746720"/>
            <a:ext cx="752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Caneta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Group 13"/>
          <p:cNvGrpSpPr/>
          <p:nvPr/>
        </p:nvGrpSpPr>
        <p:grpSpPr>
          <a:xfrm>
            <a:off x="1471680" y="1445760"/>
            <a:ext cx="1724760" cy="1788840"/>
            <a:chOff x="1471680" y="1445760"/>
            <a:chExt cx="1724760" cy="1788840"/>
          </a:xfrm>
        </p:grpSpPr>
        <p:cxnSp>
          <p:nvCxnSpPr>
            <p:cNvPr id="96" name="Straight Arrow Connector 14"/>
            <p:cNvCxnSpPr/>
            <p:nvPr/>
          </p:nvCxnSpPr>
          <p:spPr>
            <a:xfrm flipV="1">
              <a:off x="1941120" y="1525680"/>
              <a:ext cx="1440" cy="108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97" name="Straight Arrow Connector 15"/>
            <p:cNvCxnSpPr/>
            <p:nvPr/>
          </p:nvCxnSpPr>
          <p:spPr>
            <a:xfrm>
              <a:off x="1941120" y="2605680"/>
              <a:ext cx="1171440" cy="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98" name="Straight Arrow Connector 16"/>
            <p:cNvCxnSpPr/>
            <p:nvPr/>
          </p:nvCxnSpPr>
          <p:spPr>
            <a:xfrm flipH="1">
              <a:off x="1471680" y="2605680"/>
              <a:ext cx="470880" cy="4708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99" name="TextBox 17"/>
            <p:cNvSpPr/>
            <p:nvPr/>
          </p:nvSpPr>
          <p:spPr>
            <a:xfrm>
              <a:off x="2886480" y="2641680"/>
              <a:ext cx="3099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TextBox 18"/>
            <p:cNvSpPr/>
            <p:nvPr/>
          </p:nvSpPr>
          <p:spPr>
            <a:xfrm>
              <a:off x="1996200" y="1445760"/>
              <a:ext cx="303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9"/>
            <p:cNvSpPr/>
            <p:nvPr/>
          </p:nvSpPr>
          <p:spPr>
            <a:xfrm>
              <a:off x="1604160" y="2866680"/>
              <a:ext cx="2937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TextBox 20"/>
          <p:cNvSpPr/>
          <p:nvPr/>
        </p:nvSpPr>
        <p:spPr>
          <a:xfrm>
            <a:off x="2126160" y="2204280"/>
            <a:ext cx="104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Ponta da caneta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Arc 24"/>
          <p:cNvSpPr/>
          <p:nvPr/>
        </p:nvSpPr>
        <p:spPr>
          <a:xfrm>
            <a:off x="2198880" y="1120320"/>
            <a:ext cx="2359800" cy="1940400"/>
          </a:xfrm>
          <a:prstGeom prst="arc">
            <a:avLst>
              <a:gd name="adj1" fmla="val 163875"/>
              <a:gd name="adj2" fmla="val 8701781"/>
            </a:avLst>
          </a:prstGeom>
          <a:noFill/>
          <a:ln w="25400">
            <a:solidFill>
              <a:srgbClr val="0070c0"/>
            </a:solidFill>
            <a:head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5"/>
          <p:cNvSpPr/>
          <p:nvPr/>
        </p:nvSpPr>
        <p:spPr>
          <a:xfrm>
            <a:off x="2649600" y="3066840"/>
            <a:ext cx="183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StylusTipToStylus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" name="Group 27"/>
          <p:cNvGrpSpPr/>
          <p:nvPr/>
        </p:nvGrpSpPr>
        <p:grpSpPr>
          <a:xfrm>
            <a:off x="6583680" y="1977840"/>
            <a:ext cx="1724760" cy="1788840"/>
            <a:chOff x="6583680" y="1977840"/>
            <a:chExt cx="1724760" cy="1788840"/>
          </a:xfrm>
        </p:grpSpPr>
        <p:cxnSp>
          <p:nvCxnSpPr>
            <p:cNvPr id="106" name="Straight Arrow Connector 28"/>
            <p:cNvCxnSpPr/>
            <p:nvPr/>
          </p:nvCxnSpPr>
          <p:spPr>
            <a:xfrm flipV="1">
              <a:off x="7053120" y="2057760"/>
              <a:ext cx="1440" cy="108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107" name="Straight Arrow Connector 29"/>
            <p:cNvCxnSpPr/>
            <p:nvPr/>
          </p:nvCxnSpPr>
          <p:spPr>
            <a:xfrm>
              <a:off x="7053120" y="3137760"/>
              <a:ext cx="1171440" cy="14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108" name="Straight Arrow Connector 30"/>
            <p:cNvCxnSpPr/>
            <p:nvPr/>
          </p:nvCxnSpPr>
          <p:spPr>
            <a:xfrm flipH="1">
              <a:off x="6583680" y="3137760"/>
              <a:ext cx="470880" cy="4708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109" name="TextBox 31"/>
            <p:cNvSpPr/>
            <p:nvPr/>
          </p:nvSpPr>
          <p:spPr>
            <a:xfrm>
              <a:off x="7998480" y="3173760"/>
              <a:ext cx="3099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TextBox 32"/>
            <p:cNvSpPr/>
            <p:nvPr/>
          </p:nvSpPr>
          <p:spPr>
            <a:xfrm>
              <a:off x="7108200" y="1977840"/>
              <a:ext cx="3034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33"/>
            <p:cNvSpPr/>
            <p:nvPr/>
          </p:nvSpPr>
          <p:spPr>
            <a:xfrm>
              <a:off x="6716160" y="3398760"/>
              <a:ext cx="29376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TextBox 34"/>
          <p:cNvSpPr/>
          <p:nvPr/>
        </p:nvSpPr>
        <p:spPr>
          <a:xfrm>
            <a:off x="7083720" y="2750760"/>
            <a:ext cx="1138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Referência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Arc 35"/>
          <p:cNvSpPr/>
          <p:nvPr/>
        </p:nvSpPr>
        <p:spPr>
          <a:xfrm rot="16200000">
            <a:off x="5062680" y="665640"/>
            <a:ext cx="1847160" cy="3584520"/>
          </a:xfrm>
          <a:prstGeom prst="arc">
            <a:avLst>
              <a:gd name="adj1" fmla="val 18127325"/>
              <a:gd name="adj2" fmla="val 6174037"/>
            </a:avLst>
          </a:prstGeom>
          <a:noFill/>
          <a:ln w="25400">
            <a:solidFill>
              <a:srgbClr val="0070c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6"/>
          <p:cNvSpPr/>
          <p:nvPr/>
        </p:nvSpPr>
        <p:spPr>
          <a:xfrm>
            <a:off x="5218200" y="1614240"/>
            <a:ext cx="192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StylusToReference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Oval 37"/>
          <p:cNvSpPr/>
          <p:nvPr/>
        </p:nvSpPr>
        <p:spPr>
          <a:xfrm>
            <a:off x="1837440" y="2512800"/>
            <a:ext cx="213120" cy="21312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8"/>
          <p:cNvSpPr/>
          <p:nvPr/>
        </p:nvSpPr>
        <p:spPr>
          <a:xfrm>
            <a:off x="1969200" y="3817800"/>
            <a:ext cx="70178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adiciona este ponto deste sistema de coordenadas a esta lista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Straight Arrow Connector 40"/>
          <p:cNvCxnSpPr>
            <a:endCxn id="115" idx="5"/>
          </p:cNvCxnSpPr>
          <p:nvPr/>
        </p:nvCxnSpPr>
        <p:spPr>
          <a:xfrm flipH="1" flipV="1">
            <a:off x="2019600" y="2694960"/>
            <a:ext cx="774720" cy="1172520"/>
          </a:xfrm>
          <a:prstGeom prst="straightConnector1">
            <a:avLst/>
          </a:prstGeom>
          <a:ln w="38100">
            <a:solidFill>
              <a:srgbClr val="ffc000"/>
            </a:solidFill>
            <a:round/>
            <a:tailEnd len="lg" type="triangle" w="lg"/>
          </a:ln>
        </p:spPr>
      </p:cxnSp>
      <p:cxnSp>
        <p:nvCxnSpPr>
          <p:cNvPr id="118" name="Straight Arrow Connector 41"/>
          <p:cNvCxnSpPr/>
          <p:nvPr/>
        </p:nvCxnSpPr>
        <p:spPr>
          <a:xfrm flipV="1">
            <a:off x="4683240" y="2973960"/>
            <a:ext cx="2254320" cy="845280"/>
          </a:xfrm>
          <a:prstGeom prst="straightConnector1">
            <a:avLst/>
          </a:prstGeom>
          <a:ln w="38100">
            <a:solidFill>
              <a:srgbClr val="ffc000"/>
            </a:solidFill>
            <a:round/>
            <a:tailEnd len="lg" type="triangle" w="lg"/>
          </a:ln>
        </p:spPr>
      </p:cxnSp>
      <p:sp>
        <p:nvSpPr>
          <p:cNvPr id="119" name="TextBox 48"/>
          <p:cNvSpPr/>
          <p:nvPr/>
        </p:nvSpPr>
        <p:spPr>
          <a:xfrm>
            <a:off x="559440" y="4626360"/>
            <a:ext cx="6463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por causa dessa seleção e dessa hierarquia de transformação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Straight Arrow Connector 54"/>
          <p:cNvCxnSpPr/>
          <p:nvPr/>
        </p:nvCxnSpPr>
        <p:spPr>
          <a:xfrm>
            <a:off x="2242800" y="5029560"/>
            <a:ext cx="323280" cy="496800"/>
          </a:xfrm>
          <a:prstGeom prst="straightConnector1">
            <a:avLst/>
          </a:prstGeom>
          <a:ln w="38100">
            <a:solidFill>
              <a:srgbClr val="ffc000"/>
            </a:solidFill>
            <a:round/>
            <a:tailEnd len="lg" type="triangle" w="lg"/>
          </a:ln>
        </p:spPr>
      </p:cxnSp>
      <p:cxnSp>
        <p:nvCxnSpPr>
          <p:cNvPr id="121" name="Straight Arrow Connector 57"/>
          <p:cNvCxnSpPr/>
          <p:nvPr/>
        </p:nvCxnSpPr>
        <p:spPr>
          <a:xfrm>
            <a:off x="4719960" y="5067000"/>
            <a:ext cx="1091160" cy="317160"/>
          </a:xfrm>
          <a:prstGeom prst="straightConnector1">
            <a:avLst/>
          </a:prstGeom>
          <a:ln w="38100">
            <a:solidFill>
              <a:srgbClr val="ffc000"/>
            </a:solidFill>
            <a:round/>
            <a:tailEnd len="lg" type="triangle" w="lg"/>
          </a:ln>
        </p:spPr>
      </p:cxn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914400" y="3886200"/>
            <a:ext cx="998640" cy="35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Arc 46"/>
          <p:cNvSpPr/>
          <p:nvPr/>
        </p:nvSpPr>
        <p:spPr>
          <a:xfrm>
            <a:off x="1187640" y="3980520"/>
            <a:ext cx="6809400" cy="591840"/>
          </a:xfrm>
          <a:prstGeom prst="arc">
            <a:avLst>
              <a:gd name="adj1" fmla="val 21434729"/>
              <a:gd name="adj2" fmla="val 10917029"/>
            </a:avLst>
          </a:prstGeom>
          <a:noFill/>
          <a:ln w="25400">
            <a:solidFill>
              <a:srgbClr val="ffc0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"/>
          <p:cNvPicPr/>
          <p:nvPr/>
        </p:nvPicPr>
        <p:blipFill>
          <a:blip r:embed="rId2"/>
          <a:stretch/>
        </p:blipFill>
        <p:spPr>
          <a:xfrm>
            <a:off x="457200" y="5546160"/>
            <a:ext cx="49842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3"/>
          <a:stretch/>
        </p:blipFill>
        <p:spPr>
          <a:xfrm>
            <a:off x="5943600" y="5334480"/>
            <a:ext cx="317088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4B8559-E7EE-4B7F-B5AD-0D937645F3D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Preencha as listas 'De' e 'Para'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nó SequenceBrowser na barra de ferramentas Sequência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Arraste o controle deslizante de tempo para os pontos onde você vê a caneta colocada nos pontos de referência do crânio no vídeo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Gire a vista 3D para ver o mesmo ponto de referência no modelo de superfície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Pressione o botão 'Colocar De' para adicionar um fiduciário 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Pressione o botão seletor de fiduciário na lista Para e clique no modelo de superfície para colocar um fiduciário Para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Veja o próximo slide para ilustração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4"/>
          <p:cNvPicPr/>
          <p:nvPr/>
        </p:nvPicPr>
        <p:blipFill>
          <a:blip r:embed="rId1"/>
          <a:stretch/>
        </p:blipFill>
        <p:spPr>
          <a:xfrm>
            <a:off x="2286000" y="1600200"/>
            <a:ext cx="436320" cy="38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1CBD010-5E8F-4D0B-B4BF-207C8597279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36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Adicionando o primeiro par de pontos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/>
          <p:cNvPicPr/>
          <p:nvPr/>
        </p:nvPicPr>
        <p:blipFill>
          <a:blip r:embed="rId1"/>
          <a:stretch/>
        </p:blipFill>
        <p:spPr>
          <a:xfrm>
            <a:off x="159480" y="1143000"/>
            <a:ext cx="8791920" cy="45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10"/>
          <p:cNvSpPr/>
          <p:nvPr/>
        </p:nvSpPr>
        <p:spPr>
          <a:xfrm>
            <a:off x="1600200" y="2971800"/>
            <a:ext cx="4622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3.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1"/>
          <p:cNvSpPr/>
          <p:nvPr/>
        </p:nvSpPr>
        <p:spPr>
          <a:xfrm>
            <a:off x="2057400" y="3090240"/>
            <a:ext cx="40032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3"/>
          <p:cNvSpPr/>
          <p:nvPr/>
        </p:nvSpPr>
        <p:spPr>
          <a:xfrm>
            <a:off x="7086600" y="2861640"/>
            <a:ext cx="40032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6631200" y="268308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4.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8"/>
          <p:cNvSpPr/>
          <p:nvPr/>
        </p:nvSpPr>
        <p:spPr>
          <a:xfrm>
            <a:off x="2255400" y="3776040"/>
            <a:ext cx="71640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1828800" y="365760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2.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2286000" y="1371600"/>
            <a:ext cx="46224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1823760" y="1307160"/>
            <a:ext cx="46224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F291A7-1481-44EF-B144-62F4E4EBA3A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36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Adicionando o segundo par de pontos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1"/>
          <a:stretch/>
        </p:blipFill>
        <p:spPr>
          <a:xfrm>
            <a:off x="156600" y="1333080"/>
            <a:ext cx="8881920" cy="45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13"/>
          <p:cNvSpPr/>
          <p:nvPr/>
        </p:nvSpPr>
        <p:spPr>
          <a:xfrm>
            <a:off x="7543800" y="2404440"/>
            <a:ext cx="40032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7086600" y="228600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4.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1828800" y="137160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6"/>
          <p:cNvSpPr/>
          <p:nvPr/>
        </p:nvSpPr>
        <p:spPr>
          <a:xfrm>
            <a:off x="2280960" y="1490040"/>
            <a:ext cx="46224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1600200" y="320040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3.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1"/>
          <p:cNvSpPr/>
          <p:nvPr/>
        </p:nvSpPr>
        <p:spPr>
          <a:xfrm>
            <a:off x="2114280" y="3318840"/>
            <a:ext cx="40032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8"/>
          <p:cNvSpPr/>
          <p:nvPr/>
        </p:nvSpPr>
        <p:spPr>
          <a:xfrm flipH="1">
            <a:off x="2285640" y="4004640"/>
            <a:ext cx="685800" cy="33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1830600" y="3886200"/>
            <a:ext cx="455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2.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692B71-FFF2-4C43-A685-36DC386D54E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E assim por diante para muitos pares de pontos...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499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 mas quantos?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São necessários pelo menos 3 pares de pontos para registro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Mais pontos provavelmente aumentarão a precisão E aumentarão ligeiramente o RMSE (raiz quadrada média do erro)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precisão aumentará porque erros aleatórios se cancelam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RMSE aumentará devido a menos overfitting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RMSE é uma mistura desconhecida de precisão e exatidão!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BD79A51-42FC-4162-998B-BC3C7C6C226E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44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Quando todos os pares de pontos são adicionados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440" cy="256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É uma boa ideia mudar de Atualização automática para Atualização manual para evitar erros ao mover acidentalmente referências posteriormente na cena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Salve a transformação ReferenceToRas, ou salve a cena inteira, caso queira conferir o resultado mais tarde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1015200" y="3657600"/>
            <a:ext cx="7214400" cy="205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AFC1F89-7E3B-4832-B8CC-F5A923F7C66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1449</TotalTime>
  <Application>LibreOffice/25.8.5.2$Windows_X86_64 LibreOffice_project/9c8b85f387cc00a89945a79c9e6239f32e450ac2</Application>
  <AppVersion>15.0000</AppVersion>
  <Words>513</Words>
  <Paragraphs>106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2014-04-04T16:52:35Z</dcterms:created>
  <dc:creator>Tamas Ungi</dc:creator>
  <dc:description/>
  <dc:language>en-US</dc:language>
  <cp:lastModifiedBy/>
  <dcterms:modified xsi:type="dcterms:W3CDTF">2026-04-26T12:19:42Z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13</vt:i4>
  </property>
</Properties>
</file>