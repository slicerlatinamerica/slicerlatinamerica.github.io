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5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15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01775"/>
            <a:ext cx="7772400" cy="1470025"/>
          </a:xfrm>
        </p:spPr>
        <p:txBody>
          <a:bodyPr/>
          <a:lstStyle/>
          <a:p>
            <a:r>
              <a:rPr lang="en-US" dirty="0" err="1"/>
              <a:t>Weblate</a:t>
            </a:r>
            <a:r>
              <a:rPr lang="en-US" dirty="0"/>
              <a:t> Translation: Validation Workflow and Dataset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Brainstorming – Translation flow, validation and dataset creation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3B26C6-F375-4562-A222-8CE967FD1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OBJECTIVE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CA3F-7CE8-473A-9956-DCC799474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We’re proposing a workflow that ensures translation quality even when there isn’t a single person available to validate everything. The process is structured in layers to improve consistency, trust and scalability.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7120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The </a:t>
            </a:r>
            <a:r>
              <a:rPr lang="pt-BR" dirty="0" err="1"/>
              <a:t>Problem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dirty="0" err="1"/>
              <a:t>Weblate</a:t>
            </a:r>
            <a:r>
              <a:rPr lang="en-US" dirty="0"/>
              <a:t> translations without final approval</a:t>
            </a:r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Terminology and style can be inconsistent</a:t>
            </a:r>
          </a:p>
          <a:p>
            <a:pPr>
              <a:defRPr sz="2000"/>
            </a:pPr>
            <a:r>
              <a:rPr lang="en-US" dirty="0"/>
              <a:t>Lack of standardization and consistency</a:t>
            </a:r>
          </a:p>
          <a:p>
            <a:pPr>
              <a:defRPr sz="2000"/>
            </a:pPr>
            <a:r>
              <a:rPr lang="en-US" dirty="0"/>
              <a:t>Difficulty creating a reliable dataset</a:t>
            </a:r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So, without validation, users and systems cannot fully trust the translations</a:t>
            </a:r>
            <a:endParaRPr dirty="0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8A1D2FC1-9440-4312-8328-DB2643D23565}"/>
              </a:ext>
            </a:extLst>
          </p:cNvPr>
          <p:cNvCxnSpPr/>
          <p:nvPr/>
        </p:nvCxnSpPr>
        <p:spPr>
          <a:xfrm>
            <a:off x="3056467" y="1972733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F99FBCDD-219C-4934-9392-64DACD4B5645}"/>
              </a:ext>
            </a:extLst>
          </p:cNvPr>
          <p:cNvSpPr/>
          <p:nvPr/>
        </p:nvSpPr>
        <p:spPr>
          <a:xfrm rot="5400000">
            <a:off x="2607733" y="3797829"/>
            <a:ext cx="889000" cy="44026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Contributor</a:t>
            </a:r>
            <a:r>
              <a:rPr lang="pt-BR" dirty="0"/>
              <a:t> </a:t>
            </a:r>
            <a:r>
              <a:rPr dirty="0"/>
              <a:t>→ </a:t>
            </a:r>
            <a:r>
              <a:rPr lang="pt-BR" dirty="0" err="1"/>
              <a:t>suggests</a:t>
            </a:r>
            <a:r>
              <a:rPr lang="pt-BR" dirty="0"/>
              <a:t> </a:t>
            </a:r>
            <a:r>
              <a:rPr lang="pt-BR" dirty="0" err="1"/>
              <a:t>translation</a:t>
            </a:r>
            <a:r>
              <a:rPr lang="pt-BR" dirty="0"/>
              <a:t> </a:t>
            </a:r>
            <a:r>
              <a:rPr dirty="0"/>
              <a:t>(</a:t>
            </a:r>
            <a:r>
              <a:rPr lang="pt-BR" dirty="0" err="1"/>
              <a:t>human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AI</a:t>
            </a:r>
            <a:r>
              <a:rPr dirty="0"/>
              <a:t>)</a:t>
            </a:r>
          </a:p>
          <a:p>
            <a:pPr>
              <a:defRPr sz="2000"/>
            </a:pPr>
            <a:r>
              <a:rPr dirty="0"/>
              <a:t>Reviewer</a:t>
            </a:r>
            <a:r>
              <a:rPr lang="pt-BR" dirty="0"/>
              <a:t> </a:t>
            </a:r>
            <a:r>
              <a:rPr dirty="0"/>
              <a:t>→ </a:t>
            </a:r>
            <a:r>
              <a:rPr lang="pt-BR" dirty="0"/>
              <a:t>reviews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adjusts</a:t>
            </a:r>
            <a:endParaRPr lang="pt-BR" dirty="0"/>
          </a:p>
          <a:p>
            <a:pPr>
              <a:defRPr sz="2000"/>
            </a:pPr>
            <a:r>
              <a:rPr dirty="0"/>
              <a:t>Expert → </a:t>
            </a:r>
            <a:r>
              <a:rPr lang="en-US" dirty="0"/>
              <a:t>validates and gives “seal of quality”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Workflow </a:t>
            </a:r>
            <a:r>
              <a:rPr lang="pt-BR" dirty="0" err="1"/>
              <a:t>Steps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000"/>
            </a:pPr>
            <a:r>
              <a:rPr dirty="0"/>
              <a:t>1. </a:t>
            </a:r>
            <a:r>
              <a:rPr lang="pt-BR" dirty="0" err="1"/>
              <a:t>Initial</a:t>
            </a:r>
            <a:r>
              <a:rPr lang="pt-BR" dirty="0"/>
              <a:t> </a:t>
            </a:r>
            <a:r>
              <a:rPr lang="pt-BR" dirty="0" err="1"/>
              <a:t>contribution</a:t>
            </a:r>
            <a:r>
              <a:rPr lang="pt-BR" dirty="0"/>
              <a:t> (</a:t>
            </a:r>
            <a:r>
              <a:rPr lang="pt-BR" dirty="0" err="1"/>
              <a:t>community</a:t>
            </a:r>
            <a:r>
              <a:rPr lang="pt-BR" dirty="0"/>
              <a:t> / AI)</a:t>
            </a:r>
          </a:p>
          <a:p>
            <a:pPr marL="0" indent="0">
              <a:buNone/>
              <a:defRPr sz="2000"/>
            </a:pPr>
            <a:r>
              <a:rPr lang="pt-BR" dirty="0"/>
              <a:t>2. Community review (</a:t>
            </a:r>
            <a:r>
              <a:rPr lang="pt-BR" dirty="0" err="1"/>
              <a:t>peer</a:t>
            </a:r>
            <a:r>
              <a:rPr lang="pt-BR" dirty="0"/>
              <a:t> </a:t>
            </a:r>
            <a:r>
              <a:rPr lang="pt-BR" dirty="0" err="1"/>
              <a:t>check</a:t>
            </a:r>
            <a:r>
              <a:rPr lang="pt-BR" dirty="0"/>
              <a:t>)</a:t>
            </a:r>
          </a:p>
          <a:p>
            <a:pPr marL="0" indent="0">
              <a:buNone/>
              <a:defRPr sz="2000"/>
            </a:pPr>
            <a:r>
              <a:rPr lang="pt-BR" dirty="0"/>
              <a:t>3. Expert </a:t>
            </a:r>
            <a:r>
              <a:rPr lang="pt-BR" dirty="0" err="1"/>
              <a:t>validation</a:t>
            </a:r>
            <a:r>
              <a:rPr lang="pt-BR" dirty="0"/>
              <a:t> (final </a:t>
            </a:r>
            <a:r>
              <a:rPr lang="pt-BR" dirty="0" err="1"/>
              <a:t>approval</a:t>
            </a:r>
            <a:r>
              <a:rPr lang="pt-BR"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334" y="5177896"/>
            <a:ext cx="1828800" cy="914400"/>
          </a:xfrm>
          <a:prstGeom prst="rect">
            <a:avLst/>
          </a:prstGeom>
          <a:solidFill>
            <a:srgbClr val="C8C8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rPr lang="pt-BR" dirty="0" err="1">
                <a:solidFill>
                  <a:schemeClr val="tx1"/>
                </a:solidFill>
              </a:rPr>
              <a:t>Contribution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2692403" y="5452216"/>
            <a:ext cx="45720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83468" y="5196523"/>
            <a:ext cx="1828800" cy="914400"/>
          </a:xfrm>
          <a:prstGeom prst="rect">
            <a:avLst/>
          </a:prstGeom>
          <a:solidFill>
            <a:srgbClr val="C8FF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rPr lang="pt-BR" dirty="0">
                <a:solidFill>
                  <a:schemeClr val="tx1"/>
                </a:solidFill>
              </a:rPr>
              <a:t>Review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5105402" y="5470843"/>
            <a:ext cx="45720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89600" y="5196523"/>
            <a:ext cx="1828800" cy="914400"/>
          </a:xfrm>
          <a:prstGeom prst="rect">
            <a:avLst/>
          </a:prstGeom>
          <a:solidFill>
            <a:srgbClr val="FFC8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rPr lang="pt-BR" dirty="0" err="1">
                <a:solidFill>
                  <a:schemeClr val="tx1"/>
                </a:solidFill>
              </a:rPr>
              <a:t>Validation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933BA379-209A-4B77-8BD4-22443EB8258A}"/>
              </a:ext>
            </a:extLst>
          </p:cNvPr>
          <p:cNvSpPr/>
          <p:nvPr/>
        </p:nvSpPr>
        <p:spPr>
          <a:xfrm>
            <a:off x="4318000" y="2667000"/>
            <a:ext cx="2226733" cy="8466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3E6C3D8-07AA-41C3-966D-3510EEEF77B6}"/>
              </a:ext>
            </a:extLst>
          </p:cNvPr>
          <p:cNvSpPr/>
          <p:nvPr/>
        </p:nvSpPr>
        <p:spPr>
          <a:xfrm>
            <a:off x="6714067" y="2074333"/>
            <a:ext cx="355600" cy="330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8187352-F88D-4204-B7AE-EFE3D67A6A87}"/>
              </a:ext>
            </a:extLst>
          </p:cNvPr>
          <p:cNvSpPr/>
          <p:nvPr/>
        </p:nvSpPr>
        <p:spPr>
          <a:xfrm>
            <a:off x="6714067" y="2556933"/>
            <a:ext cx="355600" cy="330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6944EC1-D747-4F72-A4A4-EC6E3D083871}"/>
              </a:ext>
            </a:extLst>
          </p:cNvPr>
          <p:cNvSpPr txBox="1"/>
          <p:nvPr/>
        </p:nvSpPr>
        <p:spPr>
          <a:xfrm>
            <a:off x="7171266" y="2074333"/>
            <a:ext cx="1049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 Like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2678318-3AE5-4783-BC95-E6AB05E1269A}"/>
              </a:ext>
            </a:extLst>
          </p:cNvPr>
          <p:cNvSpPr txBox="1"/>
          <p:nvPr/>
        </p:nvSpPr>
        <p:spPr>
          <a:xfrm>
            <a:off x="7196667" y="2524667"/>
            <a:ext cx="1337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 </a:t>
            </a:r>
            <a:r>
              <a:rPr lang="pt-BR" dirty="0" err="1"/>
              <a:t>don’t</a:t>
            </a:r>
            <a:r>
              <a:rPr lang="pt-BR" dirty="0"/>
              <a:t> like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B15BF25-E792-4C4A-824C-D54A38C57064}"/>
              </a:ext>
            </a:extLst>
          </p:cNvPr>
          <p:cNvSpPr txBox="1"/>
          <p:nvPr/>
        </p:nvSpPr>
        <p:spPr>
          <a:xfrm>
            <a:off x="5165710" y="2323067"/>
            <a:ext cx="1320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Vote system</a:t>
            </a:r>
          </a:p>
        </p:txBody>
      </p:sp>
      <p:cxnSp>
        <p:nvCxnSpPr>
          <p:cNvPr id="16" name="Conector: Curvo 15">
            <a:extLst>
              <a:ext uri="{FF2B5EF4-FFF2-40B4-BE49-F238E27FC236}">
                <a16:creationId xmlns:a16="http://schemas.microsoft.com/office/drawing/2014/main" id="{45B0C7B2-E528-43FB-9F75-CF80CB74208F}"/>
              </a:ext>
            </a:extLst>
          </p:cNvPr>
          <p:cNvCxnSpPr/>
          <p:nvPr/>
        </p:nvCxnSpPr>
        <p:spPr>
          <a:xfrm>
            <a:off x="2506133" y="3429000"/>
            <a:ext cx="1430867" cy="728133"/>
          </a:xfrm>
          <a:prstGeom prst="curvedConnector3">
            <a:avLst>
              <a:gd name="adj1" fmla="val -4704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72FD087-1A57-4571-B0C8-754A6339FEFF}"/>
              </a:ext>
            </a:extLst>
          </p:cNvPr>
          <p:cNvSpPr txBox="1"/>
          <p:nvPr/>
        </p:nvSpPr>
        <p:spPr>
          <a:xfrm>
            <a:off x="3937000" y="3952148"/>
            <a:ext cx="1921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Give </a:t>
            </a:r>
            <a:r>
              <a:rPr lang="pt-BR" dirty="0" err="1"/>
              <a:t>back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AI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A65CC3D-84DB-426A-9780-07C5EFA6C250}"/>
              </a:ext>
            </a:extLst>
          </p:cNvPr>
          <p:cNvSpPr txBox="1"/>
          <p:nvPr/>
        </p:nvSpPr>
        <p:spPr>
          <a:xfrm>
            <a:off x="6385982" y="3165296"/>
            <a:ext cx="26204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 doesn’t replace expert validation — it prepares the content for it</a:t>
            </a:r>
            <a:endParaRPr lang="pt-BR" dirty="0"/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E7455E00-260E-4EA5-91DF-C34D4466F3DD}"/>
              </a:ext>
            </a:extLst>
          </p:cNvPr>
          <p:cNvCxnSpPr>
            <a:cxnSpLocks/>
            <a:stCxn id="19" idx="0"/>
            <a:endCxn id="13" idx="2"/>
          </p:cNvCxnSpPr>
          <p:nvPr/>
        </p:nvCxnSpPr>
        <p:spPr>
          <a:xfrm flipV="1">
            <a:off x="7696199" y="2893999"/>
            <a:ext cx="169335" cy="2712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92C4D-7377-41E2-9AD8-3961B9A11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 Community review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AC71A3-034E-47A2-B16A-A03298559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an intermediate validation layer. Before translations reach the expert, community members can review </a:t>
            </a:r>
            <a:r>
              <a:rPr lang="en-US" dirty="0" err="1"/>
              <a:t>them.It</a:t>
            </a:r>
            <a:r>
              <a:rPr lang="en-US" dirty="0"/>
              <a:t> helps fix terminology, improve consistency, and reduce the expert’s workload.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6867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Confidence</a:t>
            </a:r>
            <a:r>
              <a:rPr lang="pt-BR" dirty="0"/>
              <a:t> </a:t>
            </a:r>
            <a:r>
              <a:rPr lang="pt-BR" dirty="0" err="1"/>
              <a:t>Levels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lang="pt-BR" b="1" dirty="0"/>
              <a:t>Top</a:t>
            </a:r>
            <a:r>
              <a:rPr lang="pt-BR" dirty="0"/>
              <a:t>: Expert </a:t>
            </a:r>
            <a:r>
              <a:rPr lang="pt-BR" dirty="0" err="1"/>
              <a:t>validation</a:t>
            </a:r>
            <a:r>
              <a:rPr dirty="0"/>
              <a:t> → </a:t>
            </a:r>
            <a:r>
              <a:rPr lang="pt-BR" dirty="0"/>
              <a:t>HIGH</a:t>
            </a:r>
            <a:endParaRPr dirty="0"/>
          </a:p>
          <a:p>
            <a:pPr>
              <a:defRPr sz="2000"/>
            </a:pPr>
            <a:r>
              <a:rPr lang="pt-BR" b="1" dirty="0"/>
              <a:t>Middle</a:t>
            </a:r>
            <a:r>
              <a:rPr lang="pt-BR" dirty="0"/>
              <a:t>: Community review</a:t>
            </a:r>
            <a:r>
              <a:rPr dirty="0"/>
              <a:t>→ </a:t>
            </a:r>
            <a:r>
              <a:rPr lang="pt-BR" dirty="0" err="1"/>
              <a:t>MEDIUM</a:t>
            </a:r>
            <a:endParaRPr dirty="0"/>
          </a:p>
          <a:p>
            <a:pPr>
              <a:defRPr sz="2000"/>
            </a:pPr>
            <a:r>
              <a:rPr lang="pt-BR" b="1" dirty="0"/>
              <a:t>Base</a:t>
            </a:r>
            <a:r>
              <a:rPr lang="pt-BR" dirty="0"/>
              <a:t>: Community </a:t>
            </a:r>
            <a:r>
              <a:rPr lang="pt-BR" dirty="0" err="1"/>
              <a:t>translation</a:t>
            </a:r>
            <a:r>
              <a:rPr lang="pt-BR" dirty="0"/>
              <a:t>/</a:t>
            </a:r>
            <a:r>
              <a:rPr lang="pt-BR" dirty="0" err="1"/>
              <a:t>Automatic-AI</a:t>
            </a:r>
            <a:r>
              <a:rPr lang="pt-BR" dirty="0"/>
              <a:t> → </a:t>
            </a:r>
            <a:r>
              <a:rPr lang="pt-BR" dirty="0" err="1"/>
              <a:t>LOW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914400" y="5325534"/>
            <a:ext cx="4572000" cy="914400"/>
          </a:xfrm>
          <a:prstGeom prst="rect">
            <a:avLst/>
          </a:prstGeom>
          <a:solidFill>
            <a:srgbClr val="FF969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Automático / IA – Baixo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48163"/>
            <a:ext cx="3657600" cy="914400"/>
          </a:xfrm>
          <a:prstGeom prst="rect">
            <a:avLst/>
          </a:prstGeom>
          <a:solidFill>
            <a:srgbClr val="FFDC9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Revisão comunitária – Médio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402278"/>
            <a:ext cx="2743200" cy="914400"/>
          </a:xfrm>
          <a:prstGeom prst="rect">
            <a:avLst/>
          </a:prstGeom>
          <a:solidFill>
            <a:srgbClr val="96FF9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Validação expert – Alto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Structured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/ </a:t>
            </a:r>
            <a:r>
              <a:rPr lang="pt-BR" dirty="0" err="1"/>
              <a:t>Labels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lang="en-US" dirty="0"/>
              <a:t>Each entry: first translation / reviewed / validated </a:t>
            </a:r>
          </a:p>
          <a:p>
            <a:pPr>
              <a:defRPr sz="2000"/>
            </a:pPr>
            <a:r>
              <a:rPr lang="en-US" dirty="0"/>
              <a:t>Corpus labeled by confidence level</a:t>
            </a:r>
          </a:p>
          <a:p>
            <a:pPr>
              <a:defRPr sz="2000"/>
            </a:pPr>
            <a:r>
              <a:rPr lang="en-US" dirty="0"/>
              <a:t>Solid foundation for AI and linguistic standardization</a:t>
            </a:r>
            <a:endParaRPr lang="pt-BR" dirty="0"/>
          </a:p>
        </p:txBody>
      </p:sp>
      <p:sp>
        <p:nvSpPr>
          <p:cNvPr id="4" name="Oval 3"/>
          <p:cNvSpPr/>
          <p:nvPr/>
        </p:nvSpPr>
        <p:spPr>
          <a:xfrm>
            <a:off x="7203440" y="1955799"/>
            <a:ext cx="731520" cy="731520"/>
          </a:xfrm>
          <a:prstGeom prst="ellipse">
            <a:avLst/>
          </a:prstGeom>
          <a:solidFill>
            <a:srgbClr val="FF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203440" y="2771300"/>
            <a:ext cx="731520" cy="731520"/>
          </a:xfrm>
          <a:prstGeom prst="ellipse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03440" y="3586801"/>
            <a:ext cx="731520" cy="731520"/>
          </a:xfrm>
          <a:prstGeom prst="ellipse">
            <a:avLst/>
          </a:prstGeom>
          <a:solidFill>
            <a:srgbClr val="00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46A54A8-A2CB-44F2-B5F4-1975D5F06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10" y="4402302"/>
            <a:ext cx="7554379" cy="2295845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89771F8A-8B84-4187-86F3-3A44F3AFD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810" y="3300413"/>
            <a:ext cx="401904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Expert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validated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(verde)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🔴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Pending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review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(vermelho)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🟡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reviewed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(amarelo)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Alternatives to the Lack of a Single Validator or promoting translations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lang="en-US" dirty="0"/>
              <a:t>Rotation of reviewers</a:t>
            </a:r>
          </a:p>
          <a:p>
            <a:pPr>
              <a:defRPr sz="2000"/>
            </a:pPr>
            <a:r>
              <a:rPr lang="en-US" dirty="0"/>
              <a:t>Network of external experts</a:t>
            </a:r>
          </a:p>
          <a:p>
            <a:pPr>
              <a:defRPr sz="2000"/>
            </a:pPr>
            <a:r>
              <a:rPr lang="en-US" dirty="0"/>
              <a:t>Community engagement (gamification)</a:t>
            </a:r>
          </a:p>
          <a:p>
            <a:pPr>
              <a:defRPr sz="2000"/>
            </a:pPr>
            <a:r>
              <a:rPr lang="en-US" dirty="0"/>
              <a:t>AI as support, never a human substitute</a:t>
            </a:r>
          </a:p>
          <a:p>
            <a:pPr>
              <a:defRPr sz="2000"/>
            </a:pPr>
            <a:endParaRPr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2C69047-24EF-4B15-8D19-751890FCB1C6}"/>
              </a:ext>
            </a:extLst>
          </p:cNvPr>
          <p:cNvSpPr txBox="1"/>
          <p:nvPr/>
        </p:nvSpPr>
        <p:spPr>
          <a:xfrm>
            <a:off x="3323167" y="4371837"/>
            <a:ext cx="5029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Badges</a:t>
            </a:r>
            <a:r>
              <a:rPr lang="pt-BR" dirty="0"/>
              <a:t>: Top </a:t>
            </a:r>
            <a:r>
              <a:rPr lang="pt-BR" dirty="0" err="1"/>
              <a:t>reviewer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week</a:t>
            </a:r>
            <a:r>
              <a:rPr lang="pt-BR" dirty="0"/>
              <a:t>; </a:t>
            </a:r>
            <a:r>
              <a:rPr lang="pt-BR" dirty="0" err="1"/>
              <a:t>Glossary</a:t>
            </a:r>
            <a:r>
              <a:rPr lang="pt-BR" dirty="0"/>
              <a:t> </a:t>
            </a:r>
            <a:r>
              <a:rPr lang="pt-BR" dirty="0" err="1"/>
              <a:t>guardian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Rankings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Levels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recognition</a:t>
            </a:r>
            <a:r>
              <a:rPr lang="pt-BR" dirty="0"/>
              <a:t> (GitHub, site, newsletter)</a:t>
            </a:r>
          </a:p>
        </p:txBody>
      </p:sp>
      <p:cxnSp>
        <p:nvCxnSpPr>
          <p:cNvPr id="19" name="Conector: Curvo 18">
            <a:extLst>
              <a:ext uri="{FF2B5EF4-FFF2-40B4-BE49-F238E27FC236}">
                <a16:creationId xmlns:a16="http://schemas.microsoft.com/office/drawing/2014/main" id="{46C9606B-81C0-4E83-B4DA-47A2FC9EA7C9}"/>
              </a:ext>
            </a:extLst>
          </p:cNvPr>
          <p:cNvCxnSpPr>
            <a:cxnSpLocks/>
          </p:cNvCxnSpPr>
          <p:nvPr/>
        </p:nvCxnSpPr>
        <p:spPr>
          <a:xfrm>
            <a:off x="4961470" y="2988736"/>
            <a:ext cx="1545164" cy="138310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lang="en-US" dirty="0"/>
              <a:t>Main challenge = final validation</a:t>
            </a:r>
          </a:p>
          <a:p>
            <a:pPr>
              <a:defRPr sz="2000"/>
            </a:pPr>
            <a:r>
              <a:rPr lang="en-US" dirty="0"/>
              <a:t>Layered workflow = scalability + quality</a:t>
            </a:r>
          </a:p>
          <a:p>
            <a:pPr>
              <a:defRPr sz="2000"/>
            </a:pPr>
            <a:r>
              <a:rPr lang="en-US" dirty="0"/>
              <a:t>Validated dataset = investment for AI and consistency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352</Words>
  <Application>Microsoft Office PowerPoint</Application>
  <PresentationFormat>Apresentação na tela (4:3)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Weblate Translation: Validation Workflow and Dataset</vt:lpstr>
      <vt:lpstr>OBJECTIVE</vt:lpstr>
      <vt:lpstr>The Problem</vt:lpstr>
      <vt:lpstr>Roles</vt:lpstr>
      <vt:lpstr>Workflow Steps</vt:lpstr>
      <vt:lpstr>2 Community review</vt:lpstr>
      <vt:lpstr>Confidence Levels</vt:lpstr>
      <vt:lpstr>Structured Dataset / Labels</vt:lpstr>
      <vt:lpstr>Alternatives to the Lack of a Single Validator or promoting translations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Weblate Translation: Validation Workflow and Dataset</dc:title>
  <dc:subject/>
  <dc:creator>Paulo Veiga</dc:creator>
  <cp:keywords/>
  <dc:description>generated using python-pptx</dc:description>
  <cp:lastModifiedBy>Autor</cp:lastModifiedBy>
  <cp:revision>10</cp:revision>
  <dcterms:created xsi:type="dcterms:W3CDTF">2013-01-27T09:14:16Z</dcterms:created>
  <dcterms:modified xsi:type="dcterms:W3CDTF">2025-10-02T18:12:15Z</dcterms:modified>
  <cp:category/>
</cp:coreProperties>
</file>