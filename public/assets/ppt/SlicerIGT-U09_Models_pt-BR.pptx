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16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6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1080720" y="3602160"/>
            <a:ext cx="1268640" cy="923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" name="Straight Connector 7"/>
          <p:cNvCxnSpPr/>
          <p:nvPr/>
        </p:nvCxnSpPr>
        <p:spPr>
          <a:xfrm>
            <a:off x="2162880" y="3716280"/>
            <a:ext cx="4091040" cy="72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28560" y="1181160"/>
            <a:ext cx="788616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1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8AD138-AB53-4ED5-885E-BD6BB13670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Picture 6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4440" cy="505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" name="Straight Connector 7"/>
          <p:cNvCxnSpPr/>
          <p:nvPr/>
        </p:nvCxnSpPr>
        <p:spPr>
          <a:xfrm>
            <a:off x="1278000" y="6334200"/>
            <a:ext cx="4091040" cy="72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11" name="TextBox 3"/>
          <p:cNvSpPr/>
          <p:nvPr/>
        </p:nvSpPr>
        <p:spPr>
          <a:xfrm>
            <a:off x="1333440" y="6381720"/>
            <a:ext cx="18799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27E014-4343-4353-91B9-232776EDA7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Picture 5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4440" cy="505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" name="Straight Connector 6"/>
          <p:cNvCxnSpPr/>
          <p:nvPr/>
        </p:nvCxnSpPr>
        <p:spPr>
          <a:xfrm>
            <a:off x="1278000" y="6334200"/>
            <a:ext cx="4091040" cy="72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16" name="TextBox 7"/>
          <p:cNvSpPr/>
          <p:nvPr/>
        </p:nvSpPr>
        <p:spPr>
          <a:xfrm>
            <a:off x="1333440" y="6381720"/>
            <a:ext cx="18799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1D3094-92C3-497A-989D-D530A69B7A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" name="Picture 4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4440" cy="505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" name="Straight Connector 5"/>
          <p:cNvCxnSpPr/>
          <p:nvPr/>
        </p:nvCxnSpPr>
        <p:spPr>
          <a:xfrm>
            <a:off x="1278000" y="6334200"/>
            <a:ext cx="4091040" cy="72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21" name="TextBox 6"/>
          <p:cNvSpPr/>
          <p:nvPr/>
        </p:nvSpPr>
        <p:spPr>
          <a:xfrm>
            <a:off x="1333440" y="6381720"/>
            <a:ext cx="18799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slicer.org/wiki/Modules:Models-Documentation" TargetMode="Externa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16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Modelos de ferramentas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2350080" y="3831120"/>
            <a:ext cx="5650200" cy="142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SlicerIGT Série de tutoriais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Crie modelos simples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490104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Selecione o módulo IGT / Criar modelos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o widget do módulo à esquerda para criar modelos simples com parâmetros de tamanho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modelo do sistema de coordenadas, X é marcado com uma ponta de seta, Y e Z são definidos se for assumido que é destro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Picture 5"/>
          <p:cNvPicPr/>
          <p:nvPr/>
        </p:nvPicPr>
        <p:blipFill>
          <a:blip r:embed="rId1"/>
          <a:stretch/>
        </p:blipFill>
        <p:spPr>
          <a:xfrm>
            <a:off x="6135480" y="3437280"/>
            <a:ext cx="2102400" cy="204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Box 6"/>
          <p:cNvSpPr/>
          <p:nvPr/>
        </p:nvSpPr>
        <p:spPr>
          <a:xfrm>
            <a:off x="6458040" y="5310000"/>
            <a:ext cx="38124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Box 7"/>
          <p:cNvSpPr/>
          <p:nvPr/>
        </p:nvSpPr>
        <p:spPr>
          <a:xfrm>
            <a:off x="8053200" y="4318200"/>
            <a:ext cx="3697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8"/>
          <p:cNvSpPr/>
          <p:nvPr/>
        </p:nvSpPr>
        <p:spPr>
          <a:xfrm>
            <a:off x="7130520" y="3394440"/>
            <a:ext cx="3553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"/>
          <p:cNvPicPr/>
          <p:nvPr/>
        </p:nvPicPr>
        <p:blipFill>
          <a:blip r:embed="rId2"/>
          <a:stretch/>
        </p:blipFill>
        <p:spPr>
          <a:xfrm>
            <a:off x="4944600" y="1674000"/>
            <a:ext cx="4122000" cy="11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C49CEEE-04AF-4FE5-91A3-BF44F77B2FB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Modelos de agulha/caneta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471708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Marcadores de profundidade opcionais podem ser criados para o modelo de agulha. As marcas estão separadas por 10 mm, como na maioria das agulhas médicas.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Modelos de agulha e modelos de caneta apontam convencionalmente para o eixo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Picture 2" descr="C:\Users\ungi\AppData\Local\Temp\SNAGHTMLb587c85.PNG"/>
          <p:cNvPicPr/>
          <p:nvPr/>
        </p:nvPicPr>
        <p:blipFill>
          <a:blip r:embed="rId1"/>
          <a:stretch/>
        </p:blipFill>
        <p:spPr>
          <a:xfrm>
            <a:off x="5919120" y="3254040"/>
            <a:ext cx="2788560" cy="17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Box 6"/>
          <p:cNvSpPr/>
          <p:nvPr/>
        </p:nvSpPr>
        <p:spPr>
          <a:xfrm>
            <a:off x="6110640" y="3732120"/>
            <a:ext cx="38124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7"/>
          <p:cNvSpPr/>
          <p:nvPr/>
        </p:nvSpPr>
        <p:spPr>
          <a:xfrm>
            <a:off x="6667200" y="4794480"/>
            <a:ext cx="3697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8"/>
          <p:cNvSpPr/>
          <p:nvPr/>
        </p:nvSpPr>
        <p:spPr>
          <a:xfrm>
            <a:off x="5450400" y="5195520"/>
            <a:ext cx="3553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" name="Straight Arrow Connector 9"/>
          <p:cNvCxnSpPr/>
          <p:nvPr/>
        </p:nvCxnSpPr>
        <p:spPr>
          <a:xfrm flipH="1">
            <a:off x="5655600" y="4836240"/>
            <a:ext cx="446760" cy="36864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lg" type="triangle" w="lg"/>
          </a:ln>
        </p:spPr>
      </p:cxnSp>
      <p:cxnSp>
        <p:nvCxnSpPr>
          <p:cNvPr id="38" name="Straight Arrow Connector 11"/>
          <p:cNvCxnSpPr/>
          <p:nvPr/>
        </p:nvCxnSpPr>
        <p:spPr>
          <a:xfrm flipH="1" flipV="1">
            <a:off x="6087600" y="4046760"/>
            <a:ext cx="23760" cy="79020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lg" type="triangle" w="lg"/>
          </a:ln>
        </p:spPr>
      </p:cxnSp>
      <p:cxnSp>
        <p:nvCxnSpPr>
          <p:cNvPr id="39" name="Straight Arrow Connector 13"/>
          <p:cNvCxnSpPr/>
          <p:nvPr/>
        </p:nvCxnSpPr>
        <p:spPr>
          <a:xfrm>
            <a:off x="6128640" y="4827600"/>
            <a:ext cx="558360" cy="9216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lg" type="triangle" w="lg"/>
          </a:ln>
        </p:spPr>
      </p:cxnSp>
      <p:pic>
        <p:nvPicPr>
          <p:cNvPr id="40" name=""/>
          <p:cNvPicPr/>
          <p:nvPr/>
        </p:nvPicPr>
        <p:blipFill>
          <a:blip r:embed="rId2"/>
          <a:stretch/>
        </p:blipFill>
        <p:spPr>
          <a:xfrm>
            <a:off x="5485680" y="1371600"/>
            <a:ext cx="3429720" cy="114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9C164EC-E7AC-4B2A-9064-36E58CDA154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Carregar modelos do catálogo PLUS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616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Selecione o módulo IGT / Navegador de Catálogo de Modelos PLUS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em Mostrar/ocultar catálogo para abrir o site do catálogo de modelos PLUS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nos arquivos .stl para baixar um modelo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Arquivos adicionais também estão disponíveis, por ex. um volume de tomografia computadorizada do modelo da coluna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4"/>
          <p:cNvPicPr/>
          <p:nvPr/>
        </p:nvPicPr>
        <p:blipFill>
          <a:blip r:embed="rId1"/>
          <a:stretch/>
        </p:blipFill>
        <p:spPr>
          <a:xfrm>
            <a:off x="628560" y="4302720"/>
            <a:ext cx="3123000" cy="78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Picture 5"/>
          <p:cNvPicPr/>
          <p:nvPr/>
        </p:nvPicPr>
        <p:blipFill>
          <a:blip r:embed="rId2"/>
          <a:stretch/>
        </p:blipFill>
        <p:spPr>
          <a:xfrm>
            <a:off x="4111200" y="4196520"/>
            <a:ext cx="4403520" cy="19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Arrow: Down 6"/>
          <p:cNvSpPr/>
          <p:nvPr/>
        </p:nvSpPr>
        <p:spPr>
          <a:xfrm>
            <a:off x="2280240" y="4018680"/>
            <a:ext cx="236520" cy="383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" name="Arrow: Down 7"/>
          <p:cNvSpPr/>
          <p:nvPr/>
        </p:nvSpPr>
        <p:spPr>
          <a:xfrm>
            <a:off x="2643480" y="4196520"/>
            <a:ext cx="236520" cy="383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126594C-8314-4E1E-B702-194D9F0477F3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Crie modelos em software CAD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616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FreeCAD, SolidWorks, Blender, etc.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Salve no formato STL, as unidades devem ser milímetros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Ao exportar o modelo em STL, escolha e documente um sistema de coordenadas intuitivo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Picture 4"/>
          <p:cNvPicPr/>
          <p:nvPr/>
        </p:nvPicPr>
        <p:blipFill>
          <a:blip r:embed="rId1"/>
          <a:stretch/>
        </p:blipFill>
        <p:spPr>
          <a:xfrm>
            <a:off x="2032920" y="3295080"/>
            <a:ext cx="5077440" cy="275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1CC2BD9-15E9-4110-A545-799ACB9CBB77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36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Modelos por segmentação de imagens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616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Carregue SkullPhantom1mm.nrrd da pasta de dados do tutorial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Selecione o módulo Editor de Segmento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em Adicionar segmento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Utilize as ferramentas de segmentação ("</a:t>
            </a:r>
            <a:r>
              <a:rPr lang="en-CA" sz="2400" b="1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Efeitos</a:t>
            </a: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") para segmentar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Dica: Tais objetos escaneados por TC no ar podem ser rapidamente segmentados usando limiar seguido de tesoura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Selecione o módulo Segmentações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Exporte um novo modelo no painel Exportar/importar segmentos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7AD1191-EBB2-4ACA-942F-EFC84A63069A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000" b="1" u="none" strike="noStrike">
                <a:solidFill>
                  <a:srgbClr val="0070c0"/>
                </a:solidFill>
                <a:effectLst/>
                <a:uFillTx/>
                <a:latin typeface="Calibri Light"/>
                <a:ea typeface="Microsoft YaHei"/>
              </a:rPr>
              <a:t>Modelo de segmentação de crânio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Picture 15"/>
          <p:cNvPicPr/>
          <p:nvPr/>
        </p:nvPicPr>
        <p:blipFill>
          <a:blip r:embed="rId1"/>
          <a:stretch/>
        </p:blipFill>
        <p:spPr>
          <a:xfrm>
            <a:off x="4791240" y="3400560"/>
            <a:ext cx="2088000" cy="193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Picture 16"/>
          <p:cNvPicPr/>
          <p:nvPr/>
        </p:nvPicPr>
        <p:blipFill>
          <a:blip r:embed="rId2"/>
          <a:stretch/>
        </p:blipFill>
        <p:spPr>
          <a:xfrm>
            <a:off x="6554880" y="4083480"/>
            <a:ext cx="1959840" cy="21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Arrow: Down 25"/>
          <p:cNvSpPr/>
          <p:nvPr/>
        </p:nvSpPr>
        <p:spPr>
          <a:xfrm rot="2622600">
            <a:off x="5951160" y="3389040"/>
            <a:ext cx="236520" cy="428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" name="TextBox 24"/>
          <p:cNvSpPr/>
          <p:nvPr/>
        </p:nvSpPr>
        <p:spPr>
          <a:xfrm>
            <a:off x="6105960" y="3335040"/>
            <a:ext cx="300960" cy="36864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Box 26"/>
          <p:cNvSpPr/>
          <p:nvPr/>
        </p:nvSpPr>
        <p:spPr>
          <a:xfrm>
            <a:off x="7875360" y="5771520"/>
            <a:ext cx="795600" cy="58392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etc.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Arrow: Down 9"/>
          <p:cNvSpPr/>
          <p:nvPr/>
        </p:nvSpPr>
        <p:spPr>
          <a:xfrm>
            <a:off x="685800" y="2057400"/>
            <a:ext cx="236520" cy="428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Box 1"/>
          <p:cNvSpPr/>
          <p:nvPr/>
        </p:nvSpPr>
        <p:spPr>
          <a:xfrm>
            <a:off x="2057400" y="1692720"/>
            <a:ext cx="296640" cy="36468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"/>
          <p:cNvPicPr/>
          <p:nvPr/>
        </p:nvPicPr>
        <p:blipFill>
          <a:blip r:embed="rId3"/>
          <a:stretch/>
        </p:blipFill>
        <p:spPr>
          <a:xfrm>
            <a:off x="228600" y="2057400"/>
            <a:ext cx="4114800" cy="96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Arrow: Down 2"/>
          <p:cNvSpPr/>
          <p:nvPr/>
        </p:nvSpPr>
        <p:spPr>
          <a:xfrm>
            <a:off x="2057400" y="2057400"/>
            <a:ext cx="236520" cy="428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Arrow: Down 8"/>
          <p:cNvSpPr/>
          <p:nvPr/>
        </p:nvSpPr>
        <p:spPr>
          <a:xfrm>
            <a:off x="3192480" y="2286000"/>
            <a:ext cx="236520" cy="428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Arrow: Down 1"/>
          <p:cNvSpPr/>
          <p:nvPr/>
        </p:nvSpPr>
        <p:spPr>
          <a:xfrm>
            <a:off x="677880" y="2286000"/>
            <a:ext cx="236520" cy="428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17"/>
          <p:cNvSpPr/>
          <p:nvPr/>
        </p:nvSpPr>
        <p:spPr>
          <a:xfrm>
            <a:off x="677880" y="1921320"/>
            <a:ext cx="296640" cy="36468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8"/>
          <p:cNvSpPr/>
          <p:nvPr/>
        </p:nvSpPr>
        <p:spPr>
          <a:xfrm>
            <a:off x="3192480" y="1917360"/>
            <a:ext cx="300960" cy="36864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9"/>
          <p:cNvSpPr/>
          <p:nvPr/>
        </p:nvSpPr>
        <p:spPr>
          <a:xfrm>
            <a:off x="842040" y="2514600"/>
            <a:ext cx="300960" cy="36864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4"/>
          <a:stretch/>
        </p:blipFill>
        <p:spPr>
          <a:xfrm>
            <a:off x="527400" y="3200400"/>
            <a:ext cx="3358800" cy="30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Arrow: Down 6"/>
          <p:cNvSpPr/>
          <p:nvPr/>
        </p:nvSpPr>
        <p:spPr>
          <a:xfrm>
            <a:off x="1666080" y="4829400"/>
            <a:ext cx="236520" cy="428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Arrow: Down 11"/>
          <p:cNvSpPr/>
          <p:nvPr/>
        </p:nvSpPr>
        <p:spPr>
          <a:xfrm>
            <a:off x="2286000" y="5715000"/>
            <a:ext cx="236520" cy="428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1"/>
          <p:cNvSpPr/>
          <p:nvPr/>
        </p:nvSpPr>
        <p:spPr>
          <a:xfrm>
            <a:off x="2286000" y="5346360"/>
            <a:ext cx="300960" cy="36864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0"/>
          <p:cNvSpPr/>
          <p:nvPr/>
        </p:nvSpPr>
        <p:spPr>
          <a:xfrm>
            <a:off x="1601640" y="4460760"/>
            <a:ext cx="300960" cy="36864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Arrow: Down 5"/>
          <p:cNvSpPr/>
          <p:nvPr/>
        </p:nvSpPr>
        <p:spPr>
          <a:xfrm>
            <a:off x="834120" y="2883240"/>
            <a:ext cx="236520" cy="428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"/>
          <p:cNvPicPr/>
          <p:nvPr/>
        </p:nvPicPr>
        <p:blipFill>
          <a:blip r:embed="rId5"/>
          <a:stretch/>
        </p:blipFill>
        <p:spPr>
          <a:xfrm>
            <a:off x="6400800" y="914400"/>
            <a:ext cx="2749320" cy="237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23"/>
          <p:cNvSpPr/>
          <p:nvPr/>
        </p:nvSpPr>
        <p:spPr>
          <a:xfrm>
            <a:off x="7307280" y="1717560"/>
            <a:ext cx="300960" cy="36864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Arrow: Down 13"/>
          <p:cNvSpPr/>
          <p:nvPr/>
        </p:nvSpPr>
        <p:spPr>
          <a:xfrm>
            <a:off x="7307280" y="2086200"/>
            <a:ext cx="236520" cy="428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2"/>
          <p:cNvSpPr/>
          <p:nvPr/>
        </p:nvSpPr>
        <p:spPr>
          <a:xfrm>
            <a:off x="6557040" y="1031760"/>
            <a:ext cx="300960" cy="36864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Arrow: Down 14"/>
          <p:cNvSpPr/>
          <p:nvPr/>
        </p:nvSpPr>
        <p:spPr>
          <a:xfrm>
            <a:off x="6621480" y="1400400"/>
            <a:ext cx="236520" cy="428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8943D1-D777-488F-9964-29BEBCBDE5C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Modelos e nós de modelo Slicer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6160" cy="499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Modelos são superfícies finas/ocas, objetos mais comuns em computação gráfica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Slicer envolve um objeto vtkMRMLModelNode em torno dos modelos e mantém as propriedades de visualização em vtkMRMLModelDisplayNode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https://www.slicer.org/wiki/Modules:Models-Documentation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4"/>
          <p:cNvPicPr/>
          <p:nvPr/>
        </p:nvPicPr>
        <p:blipFill>
          <a:blip r:embed="rId2"/>
          <a:srcRect l="0" t="1828" r="0" b="0"/>
          <a:stretch/>
        </p:blipFill>
        <p:spPr>
          <a:xfrm>
            <a:off x="1154880" y="4346280"/>
            <a:ext cx="1704240" cy="158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5"/>
          <p:cNvPicPr/>
          <p:nvPr/>
        </p:nvPicPr>
        <p:blipFill>
          <a:blip r:embed="rId3"/>
          <a:srcRect l="0" t="1828" r="0" b="0"/>
          <a:stretch/>
        </p:blipFill>
        <p:spPr>
          <a:xfrm>
            <a:off x="3608640" y="4346280"/>
            <a:ext cx="1704240" cy="158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6"/>
          <p:cNvPicPr/>
          <p:nvPr/>
        </p:nvPicPr>
        <p:blipFill>
          <a:blip r:embed="rId4"/>
          <a:srcRect l="0" t="1828" r="0" b="0"/>
          <a:stretch/>
        </p:blipFill>
        <p:spPr>
          <a:xfrm>
            <a:off x="6062400" y="4346280"/>
            <a:ext cx="1704240" cy="158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6"/>
          <p:cNvSpPr/>
          <p:nvPr/>
        </p:nvSpPr>
        <p:spPr>
          <a:xfrm>
            <a:off x="1537200" y="5931720"/>
            <a:ext cx="957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superfícies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4167360" y="5931720"/>
            <a:ext cx="605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linhas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582600" y="5931720"/>
            <a:ext cx="682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pontos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31591BD-FB04-407F-B6FF-B1CB696414CB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673</TotalTime>
  <Application>LibreOffice/25.8.5.2$Windows_X86_64 LibreOffice_project/9c8b85f387cc00a89945a79c9e6239f32e450ac2</Application>
  <AppVersion>15.0000</AppVersion>
  <Words>308</Words>
  <Paragraphs>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2014-04-04T16:52:35Z</dcterms:created>
  <dc:creator>Tamas Ungi</dc:creator>
  <dc:description/>
  <dc:language>en-US</dc:language>
  <cp:lastModifiedBy/>
  <dcterms:modified xsi:type="dcterms:W3CDTF">2026-04-25T22:04:55Z</dcterms:modified>
  <cp:revision>12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8</vt:i4>
  </property>
</Properties>
</file>